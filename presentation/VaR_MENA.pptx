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A3D"/>
        </a:solidFill>
        <a:effectLst/>
      </p:bgPr>
    </p:bg>
    <p:spTree>
      <p:nvGrpSpPr>
        <p:cNvPr id="1" name=""/>
        <p:cNvGrpSpPr/>
        <p:nvPr/>
      </p:nvGrpSpPr>
      <p:grpSpPr/>
      <p:sp>
        <p:nvSpPr>
          <p:cNvPr id="2" name="Rectangle 1"/>
          <p:cNvSpPr/>
          <p:nvPr/>
        </p:nvSpPr>
        <p:spPr>
          <a:xfrm>
            <a:off x="0" y="6035040"/>
            <a:ext cx="12191695" cy="822960"/>
          </a:xfrm>
          <a:prstGeom prst="rect">
            <a:avLst/>
          </a:prstGeom>
          <a:solidFill>
            <a:srgbClr val="081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965960"/>
            <a:ext cx="10332720" cy="365760"/>
          </a:xfrm>
          <a:prstGeom prst="rect">
            <a:avLst/>
          </a:prstGeom>
          <a:noFill/>
        </p:spPr>
        <p:txBody>
          <a:bodyPr wrap="square" anchor="t" lIns="0" rIns="0" tIns="0" bIns="0">
            <a:spAutoFit/>
          </a:bodyPr>
          <a:lstStyle/>
          <a:p>
            <a:pPr algn="l">
              <a:lnSpc>
                <a:spcPct val="100000"/>
              </a:lnSpc>
            </a:pPr>
            <a:r>
              <a:rPr sz="1400" b="1" i="0">
                <a:solidFill>
                  <a:srgbClr val="E7C97E"/>
                </a:solidFill>
                <a:latin typeface="Calibri"/>
              </a:rPr>
              <a:t>PROJET DE SÉRIES TEMPORELLES</a:t>
            </a:r>
          </a:p>
        </p:txBody>
      </p:sp>
      <p:sp>
        <p:nvSpPr>
          <p:cNvPr id="4" name="TextBox 3"/>
          <p:cNvSpPr txBox="1"/>
          <p:nvPr/>
        </p:nvSpPr>
        <p:spPr>
          <a:xfrm>
            <a:off x="914400" y="2331720"/>
            <a:ext cx="10332720" cy="1554480"/>
          </a:xfrm>
          <a:prstGeom prst="rect">
            <a:avLst/>
          </a:prstGeom>
          <a:noFill/>
        </p:spPr>
        <p:txBody>
          <a:bodyPr wrap="square" anchor="t" lIns="0" rIns="0" tIns="0" bIns="0">
            <a:spAutoFit/>
          </a:bodyPr>
          <a:lstStyle/>
          <a:p>
            <a:pPr algn="l">
              <a:lnSpc>
                <a:spcPct val="105000"/>
              </a:lnSpc>
            </a:pPr>
            <a:r>
              <a:rPr sz="4200" b="1" i="0">
                <a:solidFill>
                  <a:srgbClr val="FFFFFF"/>
                </a:solidFill>
                <a:latin typeface="Cambria"/>
              </a:rPr>
              <a:t>La Value-at-Risk sur les marchés</a:t>
            </a:r>
          </a:p>
          <a:p>
            <a:pPr algn="l">
              <a:lnSpc>
                <a:spcPct val="105000"/>
              </a:lnSpc>
            </a:pPr>
            <a:r>
              <a:rPr sz="4200" b="1" i="0">
                <a:solidFill>
                  <a:srgbClr val="FFFFFF"/>
                </a:solidFill>
                <a:latin typeface="Cambria"/>
              </a:rPr>
              <a:t>boursiers MENA</a:t>
            </a:r>
          </a:p>
        </p:txBody>
      </p:sp>
      <p:sp>
        <p:nvSpPr>
          <p:cNvPr id="5" name="TextBox 4"/>
          <p:cNvSpPr txBox="1"/>
          <p:nvPr/>
        </p:nvSpPr>
        <p:spPr>
          <a:xfrm>
            <a:off x="914400" y="3886200"/>
            <a:ext cx="10058400" cy="548640"/>
          </a:xfrm>
          <a:prstGeom prst="rect">
            <a:avLst/>
          </a:prstGeom>
          <a:noFill/>
        </p:spPr>
        <p:txBody>
          <a:bodyPr wrap="square" anchor="t" lIns="0" rIns="0" tIns="0" bIns="0">
            <a:spAutoFit/>
          </a:bodyPr>
          <a:lstStyle/>
          <a:p>
            <a:pPr algn="l">
              <a:lnSpc>
                <a:spcPct val="100000"/>
              </a:lnSpc>
            </a:pPr>
            <a:r>
              <a:rPr sz="1600" b="0" i="0">
                <a:solidFill>
                  <a:srgbClr val="F3ECDD"/>
                </a:solidFill>
                <a:latin typeface="Calibri"/>
              </a:rPr>
              <a:t>Deep Learning vs modèles statistiques -- ARIMA/SARIMA, GARCH, Random Forest / XGBoost, ANN / LSTM</a:t>
            </a:r>
          </a:p>
        </p:txBody>
      </p:sp>
      <p:sp>
        <p:nvSpPr>
          <p:cNvPr id="6" name="Oval 5"/>
          <p:cNvSpPr/>
          <p:nvPr/>
        </p:nvSpPr>
        <p:spPr>
          <a:xfrm>
            <a:off x="9692640" y="640080"/>
            <a:ext cx="1737360" cy="173736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800" b="1">
                <a:solidFill>
                  <a:srgbClr val="081B28"/>
                </a:solidFill>
                <a:latin typeface="Cambria"/>
              </a:rPr>
              <a:t>VaR</a:t>
            </a:r>
          </a:p>
        </p:txBody>
      </p:sp>
      <p:sp>
        <p:nvSpPr>
          <p:cNvPr id="7" name="TextBox 6"/>
          <p:cNvSpPr txBox="1"/>
          <p:nvPr/>
        </p:nvSpPr>
        <p:spPr>
          <a:xfrm>
            <a:off x="914400" y="6172200"/>
            <a:ext cx="7315200" cy="457200"/>
          </a:xfrm>
          <a:prstGeom prst="rect">
            <a:avLst/>
          </a:prstGeom>
          <a:noFill/>
        </p:spPr>
        <p:txBody>
          <a:bodyPr wrap="square" anchor="t" lIns="0" rIns="0" tIns="0" bIns="0">
            <a:spAutoFit/>
          </a:bodyPr>
          <a:lstStyle/>
          <a:p>
            <a:pPr algn="l">
              <a:lnSpc>
                <a:spcPct val="100000"/>
              </a:lnSpc>
            </a:pPr>
            <a:r>
              <a:rPr sz="1200" b="0" i="0">
                <a:solidFill>
                  <a:srgbClr val="F3ECDD"/>
                </a:solidFill>
                <a:latin typeface="Calibri"/>
              </a:rPr>
              <a:t>Tunindex - ADI - MASI - TASI  |  repères : CAC40, S&amp;P 500</a:t>
            </a:r>
          </a:p>
        </p:txBody>
      </p:sp>
      <p:sp>
        <p:nvSpPr>
          <p:cNvPr id="8" name="TextBox 7"/>
          <p:cNvSpPr txBox="1"/>
          <p:nvPr/>
        </p:nvSpPr>
        <p:spPr>
          <a:xfrm>
            <a:off x="9326880" y="6172200"/>
            <a:ext cx="2286000" cy="457200"/>
          </a:xfrm>
          <a:prstGeom prst="rect">
            <a:avLst/>
          </a:prstGeom>
          <a:noFill/>
        </p:spPr>
        <p:txBody>
          <a:bodyPr wrap="square" anchor="t" lIns="0" rIns="0" tIns="0" bIns="0">
            <a:spAutoFit/>
          </a:bodyPr>
          <a:lstStyle/>
          <a:p>
            <a:pPr algn="r">
              <a:lnSpc>
                <a:spcPct val="100000"/>
              </a:lnSpc>
            </a:pPr>
            <a:r>
              <a:rPr sz="1100" b="0" i="0">
                <a:solidFill>
                  <a:srgbClr val="E7C97E"/>
                </a:solidFill>
                <a:latin typeface="Calibri"/>
              </a:rPr>
              <a:t>ahmedbenarfa.1992@gmail.com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01</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CONTEXTE</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Contexte et problématique</a:t>
            </a:r>
          </a:p>
        </p:txBody>
      </p:sp>
      <p:sp>
        <p:nvSpPr>
          <p:cNvPr id="5" name="TextBox 4"/>
          <p:cNvSpPr txBox="1"/>
          <p:nvPr/>
        </p:nvSpPr>
        <p:spPr>
          <a:xfrm>
            <a:off x="548640" y="1554480"/>
            <a:ext cx="6126480" cy="4389120"/>
          </a:xfrm>
          <a:prstGeom prst="rect">
            <a:avLst/>
          </a:prstGeom>
          <a:noFill/>
        </p:spPr>
        <p:txBody>
          <a:bodyPr wrap="square" anchor="t" lIns="0" rIns="0" tIns="0" bIns="0">
            <a:spAutoFit/>
          </a:bodyPr>
          <a:lstStyle/>
          <a:p>
            <a:pPr>
              <a:lnSpc>
                <a:spcPct val="108000"/>
              </a:lnSpc>
              <a:spcAft>
                <a:spcPts val="800"/>
              </a:spcAft>
            </a:pPr>
            <a:r>
              <a:rPr sz="1550">
                <a:solidFill>
                  <a:srgbClr val="1B2430"/>
                </a:solidFill>
                <a:latin typeface="Calibri"/>
              </a:rPr>
              <a:t>—  La Value-at-Risk (VaR) mesure la perte potentielle maximale d'un actif à un horizon et un niveau de confiance donnés (95% ou 99%).</a:t>
            </a:r>
          </a:p>
          <a:p>
            <a:pPr>
              <a:lnSpc>
                <a:spcPct val="108000"/>
              </a:lnSpc>
              <a:spcAft>
                <a:spcPts val="800"/>
              </a:spcAft>
            </a:pPr>
            <a:r>
              <a:rPr sz="1550">
                <a:solidFill>
                  <a:srgbClr val="1B2430"/>
                </a:solidFill>
                <a:latin typeface="Calibri"/>
              </a:rPr>
              <a:t>—  Les indices boursiers MENA (Tunisie, Émirats, Maroc, Arabie Saoudite) présentent des dynamiques propres : liquidité plus faible, chocs politiques régionaux, calendriers de cotation spécifiques.</a:t>
            </a:r>
          </a:p>
          <a:p>
            <a:pPr>
              <a:lnSpc>
                <a:spcPct val="108000"/>
              </a:lnSpc>
              <a:spcAft>
                <a:spcPts val="800"/>
              </a:spcAft>
            </a:pPr>
            <a:r>
              <a:rPr sz="1550">
                <a:solidFill>
                  <a:srgbClr val="1B2430"/>
                </a:solidFill>
                <a:latin typeface="Calibri"/>
              </a:rPr>
              <a:t>—  Question de recherche : les modèles de Deep Learning (ANN, LSTM) surpassent-ils les approches statistiques classiques (ARIMA, GARCH) et le Machine Learning (RF, XGBoost) pour l'estimation de la VaR sur ces marchés ?</a:t>
            </a:r>
          </a:p>
          <a:p>
            <a:pPr>
              <a:lnSpc>
                <a:spcPct val="108000"/>
              </a:lnSpc>
              <a:spcAft>
                <a:spcPts val="800"/>
              </a:spcAft>
            </a:pPr>
            <a:r>
              <a:rPr sz="1550">
                <a:solidFill>
                  <a:srgbClr val="1B2430"/>
                </a:solidFill>
                <a:latin typeface="Calibri"/>
              </a:rPr>
              <a:t>—  Hypothèse testée : le LSTM surpasse les modèles classiques sur l'indice ADI (Abu Dhabi).</a:t>
            </a:r>
          </a:p>
        </p:txBody>
      </p:sp>
      <p:sp>
        <p:nvSpPr>
          <p:cNvPr id="6" name="Rectangle 5"/>
          <p:cNvSpPr/>
          <p:nvPr/>
        </p:nvSpPr>
        <p:spPr>
          <a:xfrm>
            <a:off x="7406640" y="1554480"/>
            <a:ext cx="4206240" cy="2834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0" y="1737360"/>
            <a:ext cx="3657600" cy="36576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POURQUOI LA VaR ?</a:t>
            </a:r>
          </a:p>
        </p:txBody>
      </p:sp>
      <p:sp>
        <p:nvSpPr>
          <p:cNvPr id="8" name="TextBox 7"/>
          <p:cNvSpPr txBox="1"/>
          <p:nvPr/>
        </p:nvSpPr>
        <p:spPr>
          <a:xfrm>
            <a:off x="7680960" y="2148840"/>
            <a:ext cx="3657600" cy="2103120"/>
          </a:xfrm>
          <a:prstGeom prst="rect">
            <a:avLst/>
          </a:prstGeom>
          <a:noFill/>
        </p:spPr>
        <p:txBody>
          <a:bodyPr wrap="square" anchor="ctr" lIns="0" rIns="0" tIns="0" bIns="0">
            <a:spAutoFit/>
          </a:bodyPr>
          <a:lstStyle/>
          <a:p>
            <a:pPr>
              <a:lnSpc>
                <a:spcPct val="108000"/>
              </a:lnSpc>
              <a:spcAft>
                <a:spcPts val="800"/>
              </a:spcAft>
            </a:pPr>
            <a:r>
              <a:rPr sz="1350">
                <a:solidFill>
                  <a:srgbClr val="1B2430"/>
                </a:solidFill>
                <a:latin typeface="Calibri"/>
              </a:rPr>
              <a:t>›  Exigence réglementaire (Bâle II/III) pour les banques et gestionnaires d'actifs.</a:t>
            </a:r>
          </a:p>
          <a:p>
            <a:pPr>
              <a:lnSpc>
                <a:spcPct val="108000"/>
              </a:lnSpc>
              <a:spcAft>
                <a:spcPts val="800"/>
              </a:spcAft>
            </a:pPr>
            <a:r>
              <a:rPr sz="1350">
                <a:solidFill>
                  <a:srgbClr val="1B2430"/>
                </a:solidFill>
                <a:latin typeface="Calibri"/>
              </a:rPr>
              <a:t>›  Outil de pilotage du risque de marché au quotidien.</a:t>
            </a:r>
          </a:p>
          <a:p>
            <a:pPr>
              <a:lnSpc>
                <a:spcPct val="108000"/>
              </a:lnSpc>
              <a:spcAft>
                <a:spcPts val="800"/>
              </a:spcAft>
            </a:pPr>
            <a:r>
              <a:rPr sz="1350">
                <a:solidFill>
                  <a:srgbClr val="1B2430"/>
                </a:solidFill>
                <a:latin typeface="Calibri"/>
              </a:rPr>
              <a:t>›  Le backtesting (Kupiec, Christoffersen, zones de Bâle) valide -- ou invalide -- un modèle de VaR a posteriori.</a:t>
            </a:r>
          </a:p>
        </p:txBody>
      </p:sp>
      <p:sp>
        <p:nvSpPr>
          <p:cNvPr id="9" name="TextBox 8"/>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10" name="TextBox 9"/>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2/31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02</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DÉMARCHE</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Objectifs et démarche du projet</a:t>
            </a:r>
          </a:p>
        </p:txBody>
      </p:sp>
      <p:sp>
        <p:nvSpPr>
          <p:cNvPr id="5" name="TextBox 4"/>
          <p:cNvSpPr txBox="1"/>
          <p:nvPr/>
        </p:nvSpPr>
        <p:spPr>
          <a:xfrm>
            <a:off x="548640" y="1600200"/>
            <a:ext cx="6583680" cy="4480560"/>
          </a:xfrm>
          <a:prstGeom prst="rect">
            <a:avLst/>
          </a:prstGeom>
          <a:noFill/>
        </p:spPr>
        <p:txBody>
          <a:bodyPr wrap="square" anchor="t" lIns="0" rIns="0" tIns="0" bIns="0">
            <a:spAutoFit/>
          </a:bodyPr>
          <a:lstStyle/>
          <a:p>
            <a:pPr>
              <a:lnSpc>
                <a:spcPct val="108000"/>
              </a:lnSpc>
              <a:spcAft>
                <a:spcPts val="800"/>
              </a:spcAft>
            </a:pPr>
            <a:r>
              <a:rPr sz="1450">
                <a:solidFill>
                  <a:srgbClr val="1B2430"/>
                </a:solidFill>
                <a:latin typeface="Calibri"/>
              </a:rPr>
              <a:t>—  1. Nettoyer les données brutes (prix, volumes) et construire des rendements log stationnaires.</a:t>
            </a:r>
          </a:p>
          <a:p>
            <a:pPr>
              <a:lnSpc>
                <a:spcPct val="108000"/>
              </a:lnSpc>
              <a:spcAft>
                <a:spcPts val="800"/>
              </a:spcAft>
            </a:pPr>
            <a:r>
              <a:rPr sz="1450">
                <a:solidFill>
                  <a:srgbClr val="1B2430"/>
                </a:solidFill>
                <a:latin typeface="Calibri"/>
              </a:rPr>
              <a:t>—  2. Analyser la structure temporelle des séries : décomposition, stationnarité (ADF/KPSS), autocorrélations (ACF/PACF).</a:t>
            </a:r>
          </a:p>
          <a:p>
            <a:pPr>
              <a:lnSpc>
                <a:spcPct val="108000"/>
              </a:lnSpc>
              <a:spcAft>
                <a:spcPts val="800"/>
              </a:spcAft>
            </a:pPr>
            <a:r>
              <a:rPr sz="1450">
                <a:solidFill>
                  <a:srgbClr val="1B2430"/>
                </a:solidFill>
                <a:latin typeface="Calibri"/>
              </a:rPr>
              <a:t>—  3. Modéliser la moyenne conditionnelle (ARIMA/SARIMA) et la variance conditionnelle (GARCH).</a:t>
            </a:r>
          </a:p>
          <a:p>
            <a:pPr>
              <a:lnSpc>
                <a:spcPct val="108000"/>
              </a:lnSpc>
              <a:spcAft>
                <a:spcPts val="800"/>
              </a:spcAft>
            </a:pPr>
            <a:r>
              <a:rPr sz="1450">
                <a:solidFill>
                  <a:srgbClr val="1B2430"/>
                </a:solidFill>
                <a:latin typeface="Calibri"/>
              </a:rPr>
              <a:t>—  4. Comparer à des approches Machine Learning (Random Forest, XGBoost) et Deep Learning (ANN, LSTM) sur le même problème de prévision.</a:t>
            </a:r>
          </a:p>
          <a:p>
            <a:pPr>
              <a:lnSpc>
                <a:spcPct val="108000"/>
              </a:lnSpc>
              <a:spcAft>
                <a:spcPts val="800"/>
              </a:spcAft>
            </a:pPr>
            <a:r>
              <a:rPr sz="1450">
                <a:solidFill>
                  <a:srgbClr val="1B2430"/>
                </a:solidFill>
                <a:latin typeface="Calibri"/>
              </a:rPr>
              <a:t>—  5. Calculer la VaR (Bootstrap Historical Simulation) pour les 7 modèles, à 95% et 99%, en walk-forward strict.</a:t>
            </a:r>
          </a:p>
          <a:p>
            <a:pPr>
              <a:lnSpc>
                <a:spcPct val="108000"/>
              </a:lnSpc>
              <a:spcAft>
                <a:spcPts val="800"/>
              </a:spcAft>
            </a:pPr>
            <a:r>
              <a:rPr sz="1450">
                <a:solidFill>
                  <a:srgbClr val="1B2430"/>
                </a:solidFill>
                <a:latin typeface="Calibri"/>
              </a:rPr>
              <a:t>—  6. Valider chaque modèle a posteriori par backtesting (Kupiec, Christoffersen, zones de Bâle).</a:t>
            </a:r>
          </a:p>
        </p:txBody>
      </p:sp>
      <p:sp>
        <p:nvSpPr>
          <p:cNvPr id="6" name="Rectangle 5"/>
          <p:cNvSpPr/>
          <p:nvPr/>
        </p:nvSpPr>
        <p:spPr>
          <a:xfrm>
            <a:off x="7772400" y="1600200"/>
            <a:ext cx="3840480" cy="4206240"/>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1783080"/>
            <a:ext cx="3383280" cy="365760"/>
          </a:xfrm>
          <a:prstGeom prst="rect">
            <a:avLst/>
          </a:prstGeom>
          <a:noFill/>
        </p:spPr>
        <p:txBody>
          <a:bodyPr wrap="square" anchor="t" lIns="0" rIns="0" tIns="0" bIns="0">
            <a:spAutoFit/>
          </a:bodyPr>
          <a:lstStyle/>
          <a:p>
            <a:pPr algn="l">
              <a:lnSpc>
                <a:spcPct val="100000"/>
              </a:lnSpc>
            </a:pPr>
            <a:r>
              <a:rPr sz="1200" b="1" i="0">
                <a:solidFill>
                  <a:srgbClr val="E7C97E"/>
                </a:solidFill>
                <a:latin typeface="Calibri"/>
              </a:rPr>
              <a:t>3 FAMILLES DE MODÈLES</a:t>
            </a:r>
          </a:p>
        </p:txBody>
      </p:sp>
      <p:sp>
        <p:nvSpPr>
          <p:cNvPr id="8" name="TextBox 7"/>
          <p:cNvSpPr txBox="1"/>
          <p:nvPr/>
        </p:nvSpPr>
        <p:spPr>
          <a:xfrm>
            <a:off x="8001000" y="2240280"/>
            <a:ext cx="3383280" cy="3383280"/>
          </a:xfrm>
          <a:prstGeom prst="rect">
            <a:avLst/>
          </a:prstGeom>
          <a:noFill/>
        </p:spPr>
        <p:txBody>
          <a:bodyPr wrap="square" anchor="t" lIns="0" rIns="0" tIns="0" bIns="0">
            <a:spAutoFit/>
          </a:bodyPr>
          <a:lstStyle/>
          <a:p>
            <a:pPr>
              <a:lnSpc>
                <a:spcPct val="108000"/>
              </a:lnSpc>
              <a:spcAft>
                <a:spcPts val="800"/>
              </a:spcAft>
            </a:pPr>
            <a:r>
              <a:rPr sz="1300">
                <a:solidFill>
                  <a:srgbClr val="F3ECDD"/>
                </a:solidFill>
                <a:latin typeface="Calibri"/>
              </a:rPr>
              <a:t>›  Statistique : ARIMA, SARIMA, GARCH -- fondés sur la théorie des séries temporelles.</a:t>
            </a:r>
          </a:p>
          <a:p>
            <a:pPr>
              <a:lnSpc>
                <a:spcPct val="108000"/>
              </a:lnSpc>
              <a:spcAft>
                <a:spcPts val="800"/>
              </a:spcAft>
            </a:pPr>
            <a:r>
              <a:rPr sz="1300">
                <a:solidFill>
                  <a:srgbClr val="F3ECDD"/>
                </a:solidFill>
                <a:latin typeface="Calibri"/>
              </a:rPr>
              <a:t>›  Machine Learning : Random Forest, XGBoost -- apprentissage supervisé sur des rendements retardés (lags).</a:t>
            </a:r>
          </a:p>
          <a:p>
            <a:pPr>
              <a:lnSpc>
                <a:spcPct val="108000"/>
              </a:lnSpc>
              <a:spcAft>
                <a:spcPts val="800"/>
              </a:spcAft>
            </a:pPr>
            <a:r>
              <a:rPr sz="1300">
                <a:solidFill>
                  <a:srgbClr val="F3ECDD"/>
                </a:solidFill>
                <a:latin typeface="Calibri"/>
              </a:rPr>
              <a:t>›  Deep Learning : ANN (perceptron multicouche), LSTM (réseau récurrent à mémoire) -- séquences de rendements.</a:t>
            </a:r>
          </a:p>
        </p:txBody>
      </p:sp>
      <p:sp>
        <p:nvSpPr>
          <p:cNvPr id="9" name="TextBox 8"/>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10" name="TextBox 9"/>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3/31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03</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DONNÉES</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Données et indices</a:t>
            </a:r>
          </a:p>
        </p:txBody>
      </p:sp>
      <p:graphicFrame>
        <p:nvGraphicFramePr>
          <p:cNvPr id="5" name="Table 4"/>
          <p:cNvGraphicFramePr>
            <a:graphicFrameLocks noGrp="1"/>
          </p:cNvGraphicFramePr>
          <p:nvPr/>
        </p:nvGraphicFramePr>
        <p:xfrm>
          <a:off x="548640" y="1600200"/>
          <a:ext cx="7863840" cy="2103120"/>
        </p:xfrm>
        <a:graphic>
          <a:graphicData uri="http://schemas.openxmlformats.org/drawingml/2006/table">
            <a:tbl>
              <a:tblPr firstRow="1" bandRow="1">
                <a:tableStyleId>{5C22544A-7EE6-4342-B048-85BDC9FD1C3A}</a:tableStyleId>
              </a:tblPr>
              <a:tblGrid>
                <a:gridCol w="1463040"/>
                <a:gridCol w="2011680"/>
                <a:gridCol w="2194560"/>
                <a:gridCol w="2194560"/>
              </a:tblGrid>
              <a:tr h="420624">
                <a:tc>
                  <a:txBody>
                    <a:bodyPr wrap="square"/>
                    <a:lstStyle/>
                    <a:p>
                      <a:pPr algn="ctr"/>
                      <a:r>
                        <a:rPr sz="1100" b="1">
                          <a:solidFill>
                            <a:srgbClr val="FFFFFF"/>
                          </a:solidFill>
                          <a:latin typeface="Calibri"/>
                        </a:rPr>
                        <a:t>Indice</a:t>
                      </a:r>
                    </a:p>
                  </a:txBody>
                  <a:tcPr marL="54864" marR="54864" marT="27432" marB="27432" anchor="ctr">
                    <a:solidFill>
                      <a:srgbClr val="0E2A3D"/>
                    </a:solidFill>
                  </a:tcPr>
                </a:tc>
                <a:tc>
                  <a:txBody>
                    <a:bodyPr wrap="square"/>
                    <a:lstStyle/>
                    <a:p>
                      <a:pPr algn="ctr"/>
                      <a:r>
                        <a:rPr sz="1100" b="1">
                          <a:solidFill>
                            <a:srgbClr val="FFFFFF"/>
                          </a:solidFill>
                          <a:latin typeface="Calibri"/>
                        </a:rPr>
                        <a:t>Pays / place</a:t>
                      </a:r>
                    </a:p>
                  </a:txBody>
                  <a:tcPr marL="54864" marR="54864" marT="27432" marB="27432" anchor="ctr">
                    <a:solidFill>
                      <a:srgbClr val="0E2A3D"/>
                    </a:solidFill>
                  </a:tcPr>
                </a:tc>
                <a:tc>
                  <a:txBody>
                    <a:bodyPr wrap="square"/>
                    <a:lstStyle/>
                    <a:p>
                      <a:pPr algn="ctr"/>
                      <a:r>
                        <a:rPr sz="1100" b="1">
                          <a:solidFill>
                            <a:srgbClr val="FFFFFF"/>
                          </a:solidFill>
                          <a:latin typeface="Calibri"/>
                        </a:rPr>
                        <a:t>Période (train)</a:t>
                      </a:r>
                    </a:p>
                  </a:txBody>
                  <a:tcPr marL="54864" marR="54864" marT="27432" marB="27432" anchor="ctr">
                    <a:solidFill>
                      <a:srgbClr val="0E2A3D"/>
                    </a:solidFill>
                  </a:tcPr>
                </a:tc>
                <a:tc>
                  <a:txBody>
                    <a:bodyPr wrap="square"/>
                    <a:lstStyle/>
                    <a:p>
                      <a:pPr algn="ctr"/>
                      <a:r>
                        <a:rPr sz="1100" b="1">
                          <a:solidFill>
                            <a:srgbClr val="FFFFFF"/>
                          </a:solidFill>
                          <a:latin typeface="Calibri"/>
                        </a:rPr>
                        <a:t>Période (test)</a:t>
                      </a:r>
                    </a:p>
                  </a:txBody>
                  <a:tcPr marL="54864" marR="54864" marT="27432" marB="27432" anchor="ctr">
                    <a:solidFill>
                      <a:srgbClr val="0E2A3D"/>
                    </a:solidFill>
                  </a:tcPr>
                </a:tc>
              </a:tr>
              <a:tr h="420624">
                <a:tc>
                  <a:txBody>
                    <a:bodyPr wrap="square"/>
                    <a:lstStyle/>
                    <a:p>
                      <a:pPr algn="ctr"/>
                      <a:r>
                        <a:rPr sz="1100" b="0">
                          <a:solidFill>
                            <a:srgbClr val="1B2430"/>
                          </a:solidFill>
                          <a:latin typeface="Calibri"/>
                        </a:rPr>
                        <a:t>Tunindex</a:t>
                      </a:r>
                    </a:p>
                  </a:txBody>
                  <a:tcPr marL="54864" marR="54864" marT="27432" marB="27432" anchor="ctr">
                    <a:solidFill>
                      <a:srgbClr val="F3ECDD"/>
                    </a:solidFill>
                  </a:tcPr>
                </a:tc>
                <a:tc>
                  <a:txBody>
                    <a:bodyPr wrap="square"/>
                    <a:lstStyle/>
                    <a:p>
                      <a:pPr algn="ctr"/>
                      <a:r>
                        <a:rPr sz="1100" b="0">
                          <a:solidFill>
                            <a:srgbClr val="1B2430"/>
                          </a:solidFill>
                          <a:latin typeface="Calibri"/>
                        </a:rPr>
                        <a:t>Tunisie</a:t>
                      </a:r>
                    </a:p>
                  </a:txBody>
                  <a:tcPr marL="54864" marR="54864" marT="27432" marB="27432" anchor="ctr">
                    <a:solidFill>
                      <a:srgbClr val="F3ECDD"/>
                    </a:solidFill>
                  </a:tcPr>
                </a:tc>
                <a:tc>
                  <a:txBody>
                    <a:bodyPr wrap="square"/>
                    <a:lstStyle/>
                    <a:p>
                      <a:pPr algn="ctr"/>
                      <a:r>
                        <a:rPr sz="1100" b="0">
                          <a:solidFill>
                            <a:srgbClr val="1B2430"/>
                          </a:solidFill>
                          <a:latin typeface="Calibri"/>
                        </a:rPr>
                        <a:t>2005-01-03 -&gt; 2014-12-31</a:t>
                      </a:r>
                    </a:p>
                  </a:txBody>
                  <a:tcPr marL="54864" marR="54864" marT="27432" marB="27432" anchor="ctr">
                    <a:solidFill>
                      <a:srgbClr val="F3ECDD"/>
                    </a:solidFill>
                  </a:tcPr>
                </a:tc>
                <a:tc>
                  <a:txBody>
                    <a:bodyPr wrap="square"/>
                    <a:lstStyle/>
                    <a:p>
                      <a:pPr algn="ctr"/>
                      <a:r>
                        <a:rPr sz="1100" b="0">
                          <a:solidFill>
                            <a:srgbClr val="1B2430"/>
                          </a:solidFill>
                          <a:latin typeface="Calibri"/>
                        </a:rPr>
                        <a:t>2014-12-31 -&gt; 2015-08-20</a:t>
                      </a:r>
                    </a:p>
                  </a:txBody>
                  <a:tcPr marL="54864" marR="54864" marT="27432" marB="27432" anchor="ctr">
                    <a:solidFill>
                      <a:srgbClr val="F3ECDD"/>
                    </a:solidFill>
                  </a:tcPr>
                </a:tc>
              </a:tr>
              <a:tr h="420624">
                <a:tc>
                  <a:txBody>
                    <a:bodyPr wrap="square"/>
                    <a:lstStyle/>
                    <a:p>
                      <a:pPr algn="ctr"/>
                      <a:r>
                        <a:rPr sz="1100" b="0">
                          <a:solidFill>
                            <a:srgbClr val="1B2430"/>
                          </a:solidFill>
                          <a:latin typeface="Calibri"/>
                        </a:rPr>
                        <a:t>ADI</a:t>
                      </a:r>
                    </a:p>
                  </a:txBody>
                  <a:tcPr marL="54864" marR="54864" marT="27432" marB="27432" anchor="ctr">
                    <a:solidFill>
                      <a:srgbClr val="FBF8F1"/>
                    </a:solidFill>
                  </a:tcPr>
                </a:tc>
                <a:tc>
                  <a:txBody>
                    <a:bodyPr wrap="square"/>
                    <a:lstStyle/>
                    <a:p>
                      <a:pPr algn="ctr"/>
                      <a:r>
                        <a:rPr sz="1100" b="0">
                          <a:solidFill>
                            <a:srgbClr val="1B2430"/>
                          </a:solidFill>
                          <a:latin typeface="Calibri"/>
                        </a:rPr>
                        <a:t>Abu Dhabi (EAU)</a:t>
                      </a:r>
                    </a:p>
                  </a:txBody>
                  <a:tcPr marL="54864" marR="54864" marT="27432" marB="27432" anchor="ctr">
                    <a:solidFill>
                      <a:srgbClr val="FBF8F1"/>
                    </a:solidFill>
                  </a:tcPr>
                </a:tc>
                <a:tc>
                  <a:txBody>
                    <a:bodyPr wrap="square"/>
                    <a:lstStyle/>
                    <a:p>
                      <a:pPr algn="ctr"/>
                      <a:r>
                        <a:rPr sz="1100" b="0">
                          <a:solidFill>
                            <a:srgbClr val="1B2430"/>
                          </a:solidFill>
                          <a:latin typeface="Calibri"/>
                        </a:rPr>
                        <a:t>2005-01-03 -&gt; 2014-12-31</a:t>
                      </a:r>
                    </a:p>
                  </a:txBody>
                  <a:tcPr marL="54864" marR="54864" marT="27432" marB="27432" anchor="ctr">
                    <a:solidFill>
                      <a:srgbClr val="FBF8F1"/>
                    </a:solidFill>
                  </a:tcPr>
                </a:tc>
                <a:tc>
                  <a:txBody>
                    <a:bodyPr wrap="square"/>
                    <a:lstStyle/>
                    <a:p>
                      <a:pPr algn="ctr"/>
                      <a:r>
                        <a:rPr sz="1100" b="0">
                          <a:solidFill>
                            <a:srgbClr val="1B2430"/>
                          </a:solidFill>
                          <a:latin typeface="Calibri"/>
                        </a:rPr>
                        <a:t>2014-12-31 -&gt; 2015-08-31</a:t>
                      </a:r>
                    </a:p>
                  </a:txBody>
                  <a:tcPr marL="54864" marR="54864" marT="27432" marB="27432" anchor="ctr">
                    <a:solidFill>
                      <a:srgbClr val="FBF8F1"/>
                    </a:solidFill>
                  </a:tcPr>
                </a:tc>
              </a:tr>
              <a:tr h="420624">
                <a:tc>
                  <a:txBody>
                    <a:bodyPr wrap="square"/>
                    <a:lstStyle/>
                    <a:p>
                      <a:pPr algn="ctr"/>
                      <a:r>
                        <a:rPr sz="1100" b="0">
                          <a:solidFill>
                            <a:srgbClr val="1B2430"/>
                          </a:solidFill>
                          <a:latin typeface="Calibri"/>
                        </a:rPr>
                        <a:t>MASI</a:t>
                      </a:r>
                    </a:p>
                  </a:txBody>
                  <a:tcPr marL="54864" marR="54864" marT="27432" marB="27432" anchor="ctr">
                    <a:solidFill>
                      <a:srgbClr val="F3ECDD"/>
                    </a:solidFill>
                  </a:tcPr>
                </a:tc>
                <a:tc>
                  <a:txBody>
                    <a:bodyPr wrap="square"/>
                    <a:lstStyle/>
                    <a:p>
                      <a:pPr algn="ctr"/>
                      <a:r>
                        <a:rPr sz="1100" b="0">
                          <a:solidFill>
                            <a:srgbClr val="1B2430"/>
                          </a:solidFill>
                          <a:latin typeface="Calibri"/>
                        </a:rPr>
                        <a:t>Maroc</a:t>
                      </a:r>
                    </a:p>
                  </a:txBody>
                  <a:tcPr marL="54864" marR="54864" marT="27432" marB="27432" anchor="ctr">
                    <a:solidFill>
                      <a:srgbClr val="F3ECDD"/>
                    </a:solidFill>
                  </a:tcPr>
                </a:tc>
                <a:tc>
                  <a:txBody>
                    <a:bodyPr wrap="square"/>
                    <a:lstStyle/>
                    <a:p>
                      <a:pPr algn="ctr"/>
                      <a:r>
                        <a:rPr sz="1100" b="0">
                          <a:solidFill>
                            <a:srgbClr val="1B2430"/>
                          </a:solidFill>
                          <a:latin typeface="Calibri"/>
                        </a:rPr>
                        <a:t>2005-01-03 -&gt; 2014-12-31</a:t>
                      </a:r>
                    </a:p>
                  </a:txBody>
                  <a:tcPr marL="54864" marR="54864" marT="27432" marB="27432" anchor="ctr">
                    <a:solidFill>
                      <a:srgbClr val="F3ECDD"/>
                    </a:solidFill>
                  </a:tcPr>
                </a:tc>
                <a:tc>
                  <a:txBody>
                    <a:bodyPr wrap="square"/>
                    <a:lstStyle/>
                    <a:p>
                      <a:pPr algn="ctr"/>
                      <a:r>
                        <a:rPr sz="1100" b="0">
                          <a:solidFill>
                            <a:srgbClr val="1B2430"/>
                          </a:solidFill>
                          <a:latin typeface="Calibri"/>
                        </a:rPr>
                        <a:t>2014-12-31 -&gt; 2015-08-19</a:t>
                      </a:r>
                    </a:p>
                  </a:txBody>
                  <a:tcPr marL="54864" marR="54864" marT="27432" marB="27432" anchor="ctr">
                    <a:solidFill>
                      <a:srgbClr val="F3ECDD"/>
                    </a:solidFill>
                  </a:tcPr>
                </a:tc>
              </a:tr>
              <a:tr h="420624">
                <a:tc>
                  <a:txBody>
                    <a:bodyPr wrap="square"/>
                    <a:lstStyle/>
                    <a:p>
                      <a:pPr algn="ctr"/>
                      <a:r>
                        <a:rPr sz="1100" b="0">
                          <a:solidFill>
                            <a:srgbClr val="1B2430"/>
                          </a:solidFill>
                          <a:latin typeface="Calibri"/>
                        </a:rPr>
                        <a:t>TASI</a:t>
                      </a:r>
                    </a:p>
                  </a:txBody>
                  <a:tcPr marL="54864" marR="54864" marT="27432" marB="27432" anchor="ctr">
                    <a:solidFill>
                      <a:srgbClr val="FBF8F1"/>
                    </a:solidFill>
                  </a:tcPr>
                </a:tc>
                <a:tc>
                  <a:txBody>
                    <a:bodyPr wrap="square"/>
                    <a:lstStyle/>
                    <a:p>
                      <a:pPr algn="ctr"/>
                      <a:r>
                        <a:rPr sz="1100" b="0">
                          <a:solidFill>
                            <a:srgbClr val="1B2430"/>
                          </a:solidFill>
                          <a:latin typeface="Calibri"/>
                        </a:rPr>
                        <a:t>Arabie Saoudite</a:t>
                      </a:r>
                    </a:p>
                  </a:txBody>
                  <a:tcPr marL="54864" marR="54864" marT="27432" marB="27432" anchor="ctr">
                    <a:solidFill>
                      <a:srgbClr val="FBF8F1"/>
                    </a:solidFill>
                  </a:tcPr>
                </a:tc>
                <a:tc>
                  <a:txBody>
                    <a:bodyPr wrap="square"/>
                    <a:lstStyle/>
                    <a:p>
                      <a:pPr algn="ctr"/>
                      <a:r>
                        <a:rPr sz="1100" b="0">
                          <a:solidFill>
                            <a:srgbClr val="1B2430"/>
                          </a:solidFill>
                          <a:latin typeface="Calibri"/>
                        </a:rPr>
                        <a:t>2005-01-03 -&gt; 2014-12-31</a:t>
                      </a:r>
                    </a:p>
                  </a:txBody>
                  <a:tcPr marL="54864" marR="54864" marT="27432" marB="27432" anchor="ctr">
                    <a:solidFill>
                      <a:srgbClr val="FBF8F1"/>
                    </a:solidFill>
                  </a:tcPr>
                </a:tc>
                <a:tc>
                  <a:txBody>
                    <a:bodyPr wrap="square"/>
                    <a:lstStyle/>
                    <a:p>
                      <a:pPr algn="ctr"/>
                      <a:r>
                        <a:rPr sz="1100" b="0">
                          <a:solidFill>
                            <a:srgbClr val="1B2430"/>
                          </a:solidFill>
                          <a:latin typeface="Calibri"/>
                        </a:rPr>
                        <a:t>2014-12-31 -&gt; 2015-08-30</a:t>
                      </a:r>
                    </a:p>
                  </a:txBody>
                  <a:tcPr marL="54864" marR="54864" marT="27432" marB="27432" anchor="ctr">
                    <a:solidFill>
                      <a:srgbClr val="FBF8F1"/>
                    </a:solidFill>
                  </a:tcPr>
                </a:tc>
              </a:tr>
            </a:tbl>
          </a:graphicData>
        </a:graphic>
      </p:graphicFrame>
      <p:sp>
        <p:nvSpPr>
          <p:cNvPr id="6" name="TextBox 5"/>
          <p:cNvSpPr txBox="1"/>
          <p:nvPr/>
        </p:nvSpPr>
        <p:spPr>
          <a:xfrm>
            <a:off x="548640" y="3977639"/>
            <a:ext cx="7863840" cy="320040"/>
          </a:xfrm>
          <a:prstGeom prst="rect">
            <a:avLst/>
          </a:prstGeom>
          <a:noFill/>
        </p:spPr>
        <p:txBody>
          <a:bodyPr wrap="square" anchor="t" lIns="0" rIns="0" tIns="0" bIns="0">
            <a:spAutoFit/>
          </a:bodyPr>
          <a:lstStyle/>
          <a:p>
            <a:pPr algn="l">
              <a:lnSpc>
                <a:spcPct val="100000"/>
              </a:lnSpc>
            </a:pPr>
            <a:r>
              <a:rPr sz="1300" b="1" i="0">
                <a:solidFill>
                  <a:srgbClr val="0E2A3D"/>
                </a:solidFill>
                <a:latin typeface="Calibri"/>
              </a:rPr>
              <a:t>Repères marchés développés (comparaison, hors entraînement des modèles MENA) :</a:t>
            </a:r>
          </a:p>
        </p:txBody>
      </p:sp>
      <p:sp>
        <p:nvSpPr>
          <p:cNvPr id="7" name="TextBox 6"/>
          <p:cNvSpPr txBox="1"/>
          <p:nvPr/>
        </p:nvSpPr>
        <p:spPr>
          <a:xfrm>
            <a:off x="548640" y="4343400"/>
            <a:ext cx="7863840" cy="1463040"/>
          </a:xfrm>
          <a:prstGeom prst="rect">
            <a:avLst/>
          </a:prstGeom>
          <a:noFill/>
        </p:spPr>
        <p:txBody>
          <a:bodyPr wrap="square" anchor="t" lIns="0" rIns="0" tIns="0" bIns="0">
            <a:spAutoFit/>
          </a:bodyPr>
          <a:lstStyle/>
          <a:p>
            <a:pPr>
              <a:lnSpc>
                <a:spcPct val="108000"/>
              </a:lnSpc>
              <a:spcAft>
                <a:spcPts val="800"/>
              </a:spcAft>
            </a:pPr>
            <a:r>
              <a:rPr sz="1350">
                <a:solidFill>
                  <a:srgbClr val="1B2430"/>
                </a:solidFill>
                <a:latin typeface="Calibri"/>
              </a:rPr>
              <a:t>—  CAC40 (France) -- 2560 séances, 2005-2014.</a:t>
            </a:r>
          </a:p>
          <a:p>
            <a:pPr>
              <a:lnSpc>
                <a:spcPct val="108000"/>
              </a:lnSpc>
              <a:spcAft>
                <a:spcPts val="800"/>
              </a:spcAft>
            </a:pPr>
            <a:r>
              <a:rPr sz="1350">
                <a:solidFill>
                  <a:srgbClr val="1B2430"/>
                </a:solidFill>
                <a:latin typeface="Calibri"/>
              </a:rPr>
              <a:t>—  S&amp;P 500 (États-Unis) -- 2536 séances, 2005-2014.</a:t>
            </a:r>
          </a:p>
          <a:p>
            <a:pPr>
              <a:lnSpc>
                <a:spcPct val="108000"/>
              </a:lnSpc>
              <a:spcAft>
                <a:spcPts val="800"/>
              </a:spcAft>
            </a:pPr>
            <a:r>
              <a:rPr sz="1350">
                <a:solidFill>
                  <a:srgbClr val="1B2430"/>
                </a:solidFill>
                <a:latin typeface="Calibri"/>
              </a:rPr>
              <a:t>—  Rendements calculés en log-rendements journaliers (%), base commune pour toutes les places.</a:t>
            </a:r>
          </a:p>
        </p:txBody>
      </p:sp>
      <p:sp>
        <p:nvSpPr>
          <p:cNvPr id="8" name="Rectangle 7"/>
          <p:cNvSpPr/>
          <p:nvPr/>
        </p:nvSpPr>
        <p:spPr>
          <a:xfrm>
            <a:off x="9052560" y="1600200"/>
            <a:ext cx="2560320"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0" y="1783080"/>
            <a:ext cx="2194560" cy="457200"/>
          </a:xfrm>
          <a:prstGeom prst="rect">
            <a:avLst/>
          </a:prstGeom>
          <a:noFill/>
        </p:spPr>
        <p:txBody>
          <a:bodyPr wrap="square" anchor="t" lIns="0" rIns="0" tIns="0" bIns="0">
            <a:spAutoFit/>
          </a:bodyPr>
          <a:lstStyle/>
          <a:p>
            <a:pPr algn="l">
              <a:lnSpc>
                <a:spcPct val="100000"/>
              </a:lnSpc>
            </a:pPr>
            <a:r>
              <a:rPr sz="1100" b="1" i="0">
                <a:solidFill>
                  <a:srgbClr val="C9982D"/>
                </a:solidFill>
                <a:latin typeface="Calibri"/>
              </a:rPr>
              <a:t>TAILLE DES SÉRIES</a:t>
            </a:r>
          </a:p>
        </p:txBody>
      </p:sp>
      <p:sp>
        <p:nvSpPr>
          <p:cNvPr id="10" name="TextBox 9"/>
          <p:cNvSpPr txBox="1"/>
          <p:nvPr/>
        </p:nvSpPr>
        <p:spPr>
          <a:xfrm>
            <a:off x="9235440" y="2194560"/>
            <a:ext cx="2194560" cy="2011680"/>
          </a:xfrm>
          <a:prstGeom prst="rect">
            <a:avLst/>
          </a:prstGeom>
          <a:noFill/>
        </p:spPr>
        <p:txBody>
          <a:bodyPr wrap="square" anchor="ctr" lIns="0" rIns="0" tIns="0" bIns="0">
            <a:spAutoFit/>
          </a:bodyPr>
          <a:lstStyle/>
          <a:p>
            <a:pPr algn="l">
              <a:lnSpc>
                <a:spcPct val="120000"/>
              </a:lnSpc>
            </a:pPr>
            <a:r>
              <a:rPr sz="1450" b="1" i="0">
                <a:solidFill>
                  <a:srgbClr val="0E2A3D"/>
                </a:solidFill>
                <a:latin typeface="Calibri"/>
              </a:rPr>
              <a:t>~2 470 à 2 585</a:t>
            </a:r>
          </a:p>
          <a:p>
            <a:pPr algn="l">
              <a:lnSpc>
                <a:spcPct val="120000"/>
              </a:lnSpc>
            </a:pPr>
            <a:r>
              <a:rPr sz="1450" b="1" i="0">
                <a:solidFill>
                  <a:srgbClr val="0E2A3D"/>
                </a:solidFill>
                <a:latin typeface="Calibri"/>
              </a:rPr>
              <a:t>séances d'entraînement</a:t>
            </a:r>
          </a:p>
          <a:p>
            <a:pPr algn="l">
              <a:lnSpc>
                <a:spcPct val="120000"/>
              </a:lnSpc>
            </a:pPr>
            <a:r>
              <a:rPr sz="1450" b="1" i="0">
                <a:solidFill>
                  <a:srgbClr val="0E2A3D"/>
                </a:solidFill>
                <a:latin typeface="Calibri"/>
              </a:rPr>
              <a:t>par indice MENA</a:t>
            </a:r>
          </a:p>
          <a:p>
            <a:pPr algn="l">
              <a:lnSpc>
                <a:spcPct val="120000"/>
              </a:lnSpc>
            </a:pPr>
            <a:r>
              <a:rPr sz="1450" b="1" i="0">
                <a:solidFill>
                  <a:srgbClr val="0E2A3D"/>
                </a:solidFill>
                <a:latin typeface="Calibri"/>
              </a:rPr>
              <a:t/>
            </a:r>
          </a:p>
          <a:p>
            <a:pPr algn="l">
              <a:lnSpc>
                <a:spcPct val="120000"/>
              </a:lnSpc>
            </a:pPr>
            <a:r>
              <a:rPr sz="1450" b="1" i="0">
                <a:solidFill>
                  <a:srgbClr val="0E2A3D"/>
                </a:solidFill>
                <a:latin typeface="Calibri"/>
              </a:rPr>
              <a:t>+ 160 à 171</a:t>
            </a:r>
          </a:p>
          <a:p>
            <a:pPr algn="l">
              <a:lnSpc>
                <a:spcPct val="120000"/>
              </a:lnSpc>
            </a:pPr>
            <a:r>
              <a:rPr sz="1450" b="1" i="0">
                <a:solidFill>
                  <a:srgbClr val="0E2A3D"/>
                </a:solidFill>
                <a:latin typeface="Calibri"/>
              </a:rPr>
              <a:t>séances de test</a:t>
            </a:r>
          </a:p>
          <a:p>
            <a:pPr algn="l">
              <a:lnSpc>
                <a:spcPct val="120000"/>
              </a:lnSpc>
            </a:pPr>
            <a:r>
              <a:rPr sz="1450" b="1" i="0">
                <a:solidFill>
                  <a:srgbClr val="0E2A3D"/>
                </a:solidFill>
                <a:latin typeface="Calibri"/>
              </a:rPr>
              <a:t>(walk-forward)</a:t>
            </a:r>
          </a:p>
        </p:txBody>
      </p:sp>
      <p:sp>
        <p:nvSpPr>
          <p:cNvPr id="11" name="TextBox 10"/>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12" name="TextBox 11"/>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4/31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04</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PRÉTRAITEMENT</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Prétraitement et rendements logarithmiques</a:t>
            </a:r>
          </a:p>
        </p:txBody>
      </p:sp>
      <p:sp>
        <p:nvSpPr>
          <p:cNvPr id="5" name="TextBox 4"/>
          <p:cNvSpPr txBox="1"/>
          <p:nvPr/>
        </p:nvSpPr>
        <p:spPr>
          <a:xfrm>
            <a:off x="548640" y="1600200"/>
            <a:ext cx="6309360" cy="2743200"/>
          </a:xfrm>
          <a:prstGeom prst="rect">
            <a:avLst/>
          </a:prstGeom>
          <a:noFill/>
        </p:spPr>
        <p:txBody>
          <a:bodyPr wrap="square" anchor="t" lIns="0" rIns="0" tIns="0" bIns="0">
            <a:spAutoFit/>
          </a:bodyPr>
          <a:lstStyle/>
          <a:p>
            <a:pPr>
              <a:lnSpc>
                <a:spcPct val="108000"/>
              </a:lnSpc>
              <a:spcAft>
                <a:spcPts val="800"/>
              </a:spcAft>
            </a:pPr>
            <a:r>
              <a:rPr sz="1400">
                <a:solidFill>
                  <a:srgbClr val="1B2430"/>
                </a:solidFill>
                <a:latin typeface="Calibri"/>
              </a:rPr>
              <a:t>—  Prix nettoyés (virgules, unités M/K du volume) : conversion en série numérique exploitable Y_t = P_t (prix de clôture).</a:t>
            </a:r>
          </a:p>
          <a:p>
            <a:pPr>
              <a:lnSpc>
                <a:spcPct val="108000"/>
              </a:lnSpc>
              <a:spcAft>
                <a:spcPts val="800"/>
              </a:spcAft>
            </a:pPr>
            <a:r>
              <a:rPr sz="1400">
                <a:solidFill>
                  <a:srgbClr val="1B2430"/>
                </a:solidFill>
                <a:latin typeface="Calibri"/>
              </a:rPr>
              <a:t>—  On travaille en rendements log plutôt qu'en prix : r_t = 100 x ln(P_t / P_{t-1}).</a:t>
            </a:r>
          </a:p>
          <a:p>
            <a:pPr>
              <a:lnSpc>
                <a:spcPct val="108000"/>
              </a:lnSpc>
              <a:spcAft>
                <a:spcPts val="800"/>
              </a:spcAft>
            </a:pPr>
            <a:r>
              <a:rPr sz="1400">
                <a:solidFill>
                  <a:srgbClr val="1B2430"/>
                </a:solidFill>
                <a:latin typeface="Calibri"/>
              </a:rPr>
              <a:t>—  Pourquoi le log ? additivité dans le temps (somme de rendements = rendement cumulé), stabilisation de la variance, symétrie perte/gain, et rapprochement d'une distribution proche de la normale pour de petites variations.</a:t>
            </a:r>
          </a:p>
          <a:p>
            <a:pPr>
              <a:lnSpc>
                <a:spcPct val="108000"/>
              </a:lnSpc>
              <a:spcAft>
                <a:spcPts val="800"/>
              </a:spcAft>
            </a:pPr>
            <a:r>
              <a:rPr sz="1400">
                <a:solidFill>
                  <a:srgbClr val="1B2430"/>
                </a:solidFill>
                <a:latin typeface="Calibri"/>
              </a:rPr>
              <a:t>—  Les rendements log sont approximativement stationnaires en moyenne -- condition nécessaire pour ARIMA/GARCH (voir slide suivante).</a:t>
            </a:r>
          </a:p>
        </p:txBody>
      </p:sp>
      <p:sp>
        <p:nvSpPr>
          <p:cNvPr id="6" name="Rectangle 5"/>
          <p:cNvSpPr/>
          <p:nvPr/>
        </p:nvSpPr>
        <p:spPr>
          <a:xfrm>
            <a:off x="7315200" y="1600200"/>
            <a:ext cx="4297680" cy="2103120"/>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43800" y="1783080"/>
            <a:ext cx="3840480" cy="320040"/>
          </a:xfrm>
          <a:prstGeom prst="rect">
            <a:avLst/>
          </a:prstGeom>
          <a:noFill/>
        </p:spPr>
        <p:txBody>
          <a:bodyPr wrap="square" anchor="t" lIns="0" rIns="0" tIns="0" bIns="0">
            <a:spAutoFit/>
          </a:bodyPr>
          <a:lstStyle/>
          <a:p>
            <a:pPr algn="l">
              <a:lnSpc>
                <a:spcPct val="100000"/>
              </a:lnSpc>
            </a:pPr>
            <a:r>
              <a:rPr sz="1100" b="1" i="0">
                <a:solidFill>
                  <a:srgbClr val="E7C97E"/>
                </a:solidFill>
                <a:latin typeface="Calibri"/>
              </a:rPr>
              <a:t>FORMULE</a:t>
            </a:r>
          </a:p>
        </p:txBody>
      </p:sp>
      <p:sp>
        <p:nvSpPr>
          <p:cNvPr id="8" name="TextBox 7"/>
          <p:cNvSpPr txBox="1"/>
          <p:nvPr/>
        </p:nvSpPr>
        <p:spPr>
          <a:xfrm>
            <a:off x="7543800" y="2148840"/>
            <a:ext cx="3840480" cy="1371600"/>
          </a:xfrm>
          <a:prstGeom prst="rect">
            <a:avLst/>
          </a:prstGeom>
          <a:noFill/>
        </p:spPr>
        <p:txBody>
          <a:bodyPr wrap="square" anchor="ctr" lIns="0" rIns="0" tIns="0" bIns="0">
            <a:spAutoFit/>
          </a:bodyPr>
          <a:lstStyle/>
          <a:p>
            <a:pPr algn="ctr">
              <a:lnSpc>
                <a:spcPct val="100000"/>
              </a:lnSpc>
            </a:pPr>
            <a:r>
              <a:rPr sz="1900" b="1" i="0">
                <a:solidFill>
                  <a:srgbClr val="FFFFFF"/>
                </a:solidFill>
                <a:latin typeface="Cambria"/>
              </a:rPr>
              <a:t>r_t = 100 . ln(P_t / P_{t-1})</a:t>
            </a:r>
          </a:p>
        </p:txBody>
      </p:sp>
      <p:sp>
        <p:nvSpPr>
          <p:cNvPr id="9" name="TextBox 8"/>
          <p:cNvSpPr txBox="1"/>
          <p:nvPr/>
        </p:nvSpPr>
        <p:spPr>
          <a:xfrm>
            <a:off x="7315200" y="3886200"/>
            <a:ext cx="4297680" cy="1097280"/>
          </a:xfrm>
          <a:prstGeom prst="rect">
            <a:avLst/>
          </a:prstGeom>
          <a:noFill/>
        </p:spPr>
        <p:txBody>
          <a:bodyPr wrap="square" anchor="t" lIns="0" rIns="0" tIns="0" bIns="0">
            <a:spAutoFit/>
          </a:bodyPr>
          <a:lstStyle/>
          <a:p>
            <a:pPr algn="l">
              <a:lnSpc>
                <a:spcPct val="100000"/>
              </a:lnSpc>
            </a:pPr>
            <a:r>
              <a:rPr sz="1200" b="0" i="1">
                <a:solidFill>
                  <a:srgbClr val="0E2A3D"/>
                </a:solidFill>
                <a:latin typeface="Calibri"/>
              </a:rPr>
              <a:t>r_t en %, P_t = prix de clôture au jour t.</a:t>
            </a:r>
          </a:p>
          <a:p>
            <a:pPr algn="l">
              <a:lnSpc>
                <a:spcPct val="100000"/>
              </a:lnSpc>
            </a:pPr>
            <a:r>
              <a:rPr sz="1200" b="0" i="1">
                <a:solidFill>
                  <a:srgbClr val="0E2A3D"/>
                </a:solidFill>
                <a:latin typeface="Calibri"/>
              </a:rPr>
              <a:t>Toutes les places (MENA + repères) sont comparées sur cette même échelle.</a:t>
            </a:r>
          </a:p>
        </p:txBody>
      </p:sp>
      <p:sp>
        <p:nvSpPr>
          <p:cNvPr id="10" name="TextBox 9"/>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11" name="TextBox 10"/>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5/31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05</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ANALYSE EXPLORATOIRE</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Regroupement de volatilité (volatility clustering)</a:t>
            </a:r>
          </a:p>
        </p:txBody>
      </p:sp>
      <p:sp>
        <p:nvSpPr>
          <p:cNvPr id="5" name="TextBox 4"/>
          <p:cNvSpPr txBox="1"/>
          <p:nvPr/>
        </p:nvSpPr>
        <p:spPr>
          <a:xfrm>
            <a:off x="548640" y="1600200"/>
            <a:ext cx="5394960" cy="4206240"/>
          </a:xfrm>
          <a:prstGeom prst="rect">
            <a:avLst/>
          </a:prstGeom>
          <a:noFill/>
        </p:spPr>
        <p:txBody>
          <a:bodyPr wrap="square" anchor="t" lIns="0" rIns="0" tIns="0" bIns="0">
            <a:spAutoFit/>
          </a:bodyPr>
          <a:lstStyle/>
          <a:p>
            <a:pPr>
              <a:lnSpc>
                <a:spcPct val="108000"/>
              </a:lnSpc>
              <a:spcAft>
                <a:spcPts val="800"/>
              </a:spcAft>
            </a:pPr>
            <a:r>
              <a:rPr sz="1400">
                <a:solidFill>
                  <a:srgbClr val="1B2430"/>
                </a:solidFill>
                <a:latin typeface="Calibri"/>
              </a:rPr>
              <a:t>—  En traçant les rendements log dans le temps, on observe des périodes calmes (petites variations) suivies de périodes agitées (grandes variations) qui s'enchaînent -- le regroupement de volatilité.</a:t>
            </a:r>
          </a:p>
          <a:p>
            <a:pPr>
              <a:lnSpc>
                <a:spcPct val="108000"/>
              </a:lnSpc>
              <a:spcAft>
                <a:spcPts val="800"/>
              </a:spcAft>
            </a:pPr>
            <a:r>
              <a:rPr sz="1400">
                <a:solidFill>
                  <a:srgbClr val="1B2430"/>
                </a:solidFill>
                <a:latin typeface="Calibri"/>
              </a:rPr>
              <a:t>—  Ce phénomène signale une hétéroscédasticité conditionnelle : la variance de r_t dépend du passé récent, même si la moyenne, elle, reste globalement stable.</a:t>
            </a:r>
          </a:p>
          <a:p>
            <a:pPr>
              <a:lnSpc>
                <a:spcPct val="108000"/>
              </a:lnSpc>
              <a:spcAft>
                <a:spcPts val="800"/>
              </a:spcAft>
            </a:pPr>
            <a:r>
              <a:rPr sz="1400">
                <a:solidFill>
                  <a:srgbClr val="1B2430"/>
                </a:solidFill>
                <a:latin typeface="Calibri"/>
              </a:rPr>
              <a:t>—  Une hypothèse i.i.d. ou un modèle à variance constante (OLS, ARMA classique) ne peut pas capter ce comportement -- c'est la motivation directe des modèles ARCH/GARCH (slides suivantes).</a:t>
            </a:r>
          </a:p>
          <a:p>
            <a:pPr>
              <a:lnSpc>
                <a:spcPct val="108000"/>
              </a:lnSpc>
              <a:spcAft>
                <a:spcPts val="800"/>
              </a:spcAft>
            </a:pPr>
            <a:r>
              <a:rPr sz="1400">
                <a:solidFill>
                  <a:srgbClr val="1B2430"/>
                </a:solidFill>
                <a:latin typeface="Calibri"/>
              </a:rPr>
              <a:t>—  La ligne verticale marque la séparation train/test (walk-forward) : le clustering apparaît sur les deux périodes.</a:t>
            </a:r>
          </a:p>
        </p:txBody>
      </p:sp>
      <p:pic>
        <p:nvPicPr>
          <p:cNvPr id="6" name="Picture 5" descr="deck_returns_clustering.png"/>
          <p:cNvPicPr>
            <a:picLocks noChangeAspect="1"/>
          </p:cNvPicPr>
          <p:nvPr/>
        </p:nvPicPr>
        <p:blipFill>
          <a:blip r:embed="rId2"/>
          <a:stretch>
            <a:fillRect/>
          </a:stretch>
        </p:blipFill>
        <p:spPr>
          <a:xfrm>
            <a:off x="6217920" y="1737360"/>
            <a:ext cx="5394960" cy="1942186"/>
          </a:xfrm>
          <a:prstGeom prst="rect">
            <a:avLst/>
          </a:prstGeom>
          <a:ln w="12700">
            <a:solidFill>
              <a:srgbClr val="E7DCC3"/>
            </a:solidFill>
          </a:ln>
        </p:spPr>
      </p:pic>
      <p:sp>
        <p:nvSpPr>
          <p:cNvPr id="7" name="TextBox 6"/>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8" name="TextBox 7"/>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6/31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06</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DÉCOMPOSITION</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Décomposition d'une série temporelle</a:t>
            </a:r>
          </a:p>
        </p:txBody>
      </p:sp>
      <p:sp>
        <p:nvSpPr>
          <p:cNvPr id="5" name="TextBox 4"/>
          <p:cNvSpPr txBox="1"/>
          <p:nvPr/>
        </p:nvSpPr>
        <p:spPr>
          <a:xfrm>
            <a:off x="548640" y="1600200"/>
            <a:ext cx="5577840" cy="4480560"/>
          </a:xfrm>
          <a:prstGeom prst="rect">
            <a:avLst/>
          </a:prstGeom>
          <a:noFill/>
        </p:spPr>
        <p:txBody>
          <a:bodyPr wrap="square" anchor="t" lIns="0" rIns="0" tIns="0" bIns="0">
            <a:spAutoFit/>
          </a:bodyPr>
          <a:lstStyle/>
          <a:p>
            <a:pPr>
              <a:lnSpc>
                <a:spcPct val="108000"/>
              </a:lnSpc>
              <a:spcAft>
                <a:spcPts val="800"/>
              </a:spcAft>
            </a:pPr>
            <a:r>
              <a:rPr sz="1300">
                <a:solidFill>
                  <a:srgbClr val="1B2430"/>
                </a:solidFill>
                <a:latin typeface="Calibri"/>
              </a:rPr>
              <a:t>—  Modèle additif du cours : Y_t = T_t + S_t + e_t (tendance + saisonnalité + résidu).</a:t>
            </a:r>
          </a:p>
          <a:p>
            <a:pPr>
              <a:lnSpc>
                <a:spcPct val="108000"/>
              </a:lnSpc>
              <a:spcAft>
                <a:spcPts val="800"/>
              </a:spcAft>
            </a:pPr>
            <a:r>
              <a:rPr sz="1300">
                <a:solidFill>
                  <a:srgbClr val="1B2430"/>
                </a:solidFill>
                <a:latin typeface="Calibri"/>
              </a:rPr>
              <a:t>—  Tendance T_t : estimée par moyenne mobile (lissage sur une fenêtre) ou par régression paramétrique (linéaire, polynomiale).</a:t>
            </a:r>
          </a:p>
          <a:p>
            <a:pPr>
              <a:lnSpc>
                <a:spcPct val="108000"/>
              </a:lnSpc>
              <a:spcAft>
                <a:spcPts val="800"/>
              </a:spcAft>
            </a:pPr>
            <a:r>
              <a:rPr sz="1300">
                <a:solidFill>
                  <a:srgbClr val="1B2430"/>
                </a:solidFill>
                <a:latin typeface="Calibri"/>
              </a:rPr>
              <a:t>—  Saisonnalité S_t : estimée par moyennes saisonnières (moyenne par sous-période du cycle) ou par un modèle cosinus-sinus (régression harmonique).</a:t>
            </a:r>
          </a:p>
          <a:p>
            <a:pPr>
              <a:lnSpc>
                <a:spcPct val="108000"/>
              </a:lnSpc>
              <a:spcAft>
                <a:spcPts val="800"/>
              </a:spcAft>
            </a:pPr>
            <a:r>
              <a:rPr sz="1300">
                <a:solidFill>
                  <a:srgbClr val="1B2430"/>
                </a:solidFill>
                <a:latin typeface="Calibri"/>
              </a:rPr>
              <a:t>—  On retire T_t et S_t du signal pour obtenir un résidu plus proche d'un processus stationnaire, modélisable par ARMA.</a:t>
            </a:r>
          </a:p>
          <a:p>
            <a:pPr>
              <a:lnSpc>
                <a:spcPct val="108000"/>
              </a:lnSpc>
              <a:spcAft>
                <a:spcPts val="800"/>
              </a:spcAft>
            </a:pPr>
            <a:r>
              <a:rPr sz="1300">
                <a:solidFill>
                  <a:srgbClr val="1B2430"/>
                </a:solidFill>
                <a:latin typeface="Calibri"/>
              </a:rPr>
              <a:t>—  Ici (illustratif) : décomposition du PRIX d'ADI, période=21 séances (~1 mois). Les rendements log, eux, n'ont pas de tendance/saisonnalité forte -- c'est pourquoi on modélise directement les rendements plutôt que les prix décomposés.</a:t>
            </a:r>
          </a:p>
        </p:txBody>
      </p:sp>
      <p:pic>
        <p:nvPicPr>
          <p:cNvPr id="6" name="Picture 5" descr="deck_decompose.png"/>
          <p:cNvPicPr>
            <a:picLocks noChangeAspect="1"/>
          </p:cNvPicPr>
          <p:nvPr/>
        </p:nvPicPr>
        <p:blipFill>
          <a:blip r:embed="rId2"/>
          <a:stretch>
            <a:fillRect/>
          </a:stretch>
        </p:blipFill>
        <p:spPr>
          <a:xfrm>
            <a:off x="6537960" y="1417320"/>
            <a:ext cx="5074920" cy="4140066"/>
          </a:xfrm>
          <a:prstGeom prst="rect">
            <a:avLst/>
          </a:prstGeom>
          <a:ln w="12700">
            <a:solidFill>
              <a:srgbClr val="E7DCC3"/>
            </a:solidFill>
          </a:ln>
        </p:spPr>
      </p:pic>
      <p:sp>
        <p:nvSpPr>
          <p:cNvPr id="7" name="TextBox 6"/>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8" name="TextBox 7"/>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7/31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2A3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07</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E7C97E"/>
                </a:solidFill>
                <a:latin typeface="Calibri"/>
              </a:rPr>
              <a:t>STATIONNARITÉ</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FFFFFF"/>
                </a:solidFill>
                <a:latin typeface="Cambria"/>
              </a:rPr>
              <a:t>Stationnarité : définition et importance</a:t>
            </a:r>
          </a:p>
        </p:txBody>
      </p:sp>
      <p:sp>
        <p:nvSpPr>
          <p:cNvPr id="5" name="TextBox 4"/>
          <p:cNvSpPr txBox="1"/>
          <p:nvPr/>
        </p:nvSpPr>
        <p:spPr>
          <a:xfrm>
            <a:off x="914400" y="1737360"/>
            <a:ext cx="5120640" cy="4206240"/>
          </a:xfrm>
          <a:prstGeom prst="rect">
            <a:avLst/>
          </a:prstGeom>
          <a:noFill/>
        </p:spPr>
        <p:txBody>
          <a:bodyPr wrap="square" anchor="t" lIns="0" rIns="0" tIns="0" bIns="0">
            <a:spAutoFit/>
          </a:bodyPr>
          <a:lstStyle/>
          <a:p>
            <a:pPr>
              <a:lnSpc>
                <a:spcPct val="108000"/>
              </a:lnSpc>
              <a:spcAft>
                <a:spcPts val="800"/>
              </a:spcAft>
            </a:pPr>
            <a:r>
              <a:rPr sz="1500">
                <a:solidFill>
                  <a:srgbClr val="F3ECDD"/>
                </a:solidFill>
                <a:latin typeface="Calibri"/>
              </a:rPr>
              <a:t>—  Stationnarité stricte : la distribution jointe de (Y_t1,...,Y_tk) est invariante par translation dans le temps.</a:t>
            </a:r>
          </a:p>
          <a:p>
            <a:pPr>
              <a:lnSpc>
                <a:spcPct val="108000"/>
              </a:lnSpc>
              <a:spcAft>
                <a:spcPts val="800"/>
              </a:spcAft>
            </a:pPr>
            <a:r>
              <a:rPr sz="1500">
                <a:solidFill>
                  <a:srgbClr val="F3ECDD"/>
                </a:solidFill>
                <a:latin typeface="Calibri"/>
              </a:rPr>
              <a:t>—  Stationnarité faible (du second ordre) : moyenne E[Y_t] constante, variance Var(Y_t) constante, et autocovariance Cov(Y_t, Y_t-h) qui ne dépend que du décalage h -- pas de t.</a:t>
            </a:r>
          </a:p>
          <a:p>
            <a:pPr>
              <a:lnSpc>
                <a:spcPct val="108000"/>
              </a:lnSpc>
              <a:spcAft>
                <a:spcPts val="800"/>
              </a:spcAft>
            </a:pPr>
            <a:r>
              <a:rPr sz="1500">
                <a:solidFill>
                  <a:srgbClr val="F3ECDD"/>
                </a:solidFill>
                <a:latin typeface="Calibri"/>
              </a:rPr>
              <a:t>—  C'est la condition faible qui est utilisée en pratique pour les modèles AR / MA / ARMA.</a:t>
            </a:r>
          </a:p>
          <a:p>
            <a:pPr>
              <a:lnSpc>
                <a:spcPct val="108000"/>
              </a:lnSpc>
              <a:spcAft>
                <a:spcPts val="800"/>
              </a:spcAft>
            </a:pPr>
            <a:r>
              <a:rPr sz="1500">
                <a:solidFill>
                  <a:srgbClr val="F3ECDD"/>
                </a:solidFill>
                <a:latin typeface="Calibri"/>
              </a:rPr>
              <a:t>—  Pourquoi c'est indispensable : sans stationnarité, les estimateurs (moyenne, variance, autocorrélations) ne convergent pas vers des quantités stables -- les prévisions et les tests d'hypothèses perdent leur sens.</a:t>
            </a:r>
          </a:p>
        </p:txBody>
      </p:sp>
      <p:sp>
        <p:nvSpPr>
          <p:cNvPr id="6" name="Rectangle 5"/>
          <p:cNvSpPr/>
          <p:nvPr/>
        </p:nvSpPr>
        <p:spPr>
          <a:xfrm>
            <a:off x="6492240" y="1737360"/>
            <a:ext cx="5120640" cy="4206240"/>
          </a:xfrm>
          <a:prstGeom prst="rect">
            <a:avLst/>
          </a:prstGeom>
          <a:solidFill>
            <a:srgbClr val="081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20840" y="1920240"/>
            <a:ext cx="4663440" cy="365760"/>
          </a:xfrm>
          <a:prstGeom prst="rect">
            <a:avLst/>
          </a:prstGeom>
          <a:noFill/>
        </p:spPr>
        <p:txBody>
          <a:bodyPr wrap="square" anchor="t" lIns="0" rIns="0" tIns="0" bIns="0">
            <a:spAutoFit/>
          </a:bodyPr>
          <a:lstStyle/>
          <a:p>
            <a:pPr algn="l">
              <a:lnSpc>
                <a:spcPct val="100000"/>
              </a:lnSpc>
            </a:pPr>
            <a:r>
              <a:rPr sz="1200" b="1" i="0">
                <a:solidFill>
                  <a:srgbClr val="E7C97E"/>
                </a:solidFill>
                <a:latin typeface="Calibri"/>
              </a:rPr>
              <a:t>3 CONDITIONS (FAIBLE)</a:t>
            </a:r>
          </a:p>
        </p:txBody>
      </p:sp>
      <p:sp>
        <p:nvSpPr>
          <p:cNvPr id="8" name="TextBox 7"/>
          <p:cNvSpPr txBox="1"/>
          <p:nvPr/>
        </p:nvSpPr>
        <p:spPr>
          <a:xfrm>
            <a:off x="6720840" y="2377440"/>
            <a:ext cx="4663440" cy="3383280"/>
          </a:xfrm>
          <a:prstGeom prst="rect">
            <a:avLst/>
          </a:prstGeom>
          <a:noFill/>
        </p:spPr>
        <p:txBody>
          <a:bodyPr wrap="square" anchor="t" lIns="0" rIns="0" tIns="0" bIns="0">
            <a:spAutoFit/>
          </a:bodyPr>
          <a:lstStyle/>
          <a:p>
            <a:pPr>
              <a:lnSpc>
                <a:spcPct val="108000"/>
              </a:lnSpc>
              <a:spcAft>
                <a:spcPts val="800"/>
              </a:spcAft>
            </a:pPr>
            <a:r>
              <a:rPr sz="1400">
                <a:solidFill>
                  <a:srgbClr val="F3ECDD"/>
                </a:solidFill>
                <a:latin typeface="Calibri"/>
              </a:rPr>
              <a:t>›  E[Y_t] = mu, constante dans le temps.</a:t>
            </a:r>
          </a:p>
          <a:p>
            <a:pPr>
              <a:lnSpc>
                <a:spcPct val="108000"/>
              </a:lnSpc>
              <a:spcAft>
                <a:spcPts val="800"/>
              </a:spcAft>
            </a:pPr>
            <a:r>
              <a:rPr sz="1400">
                <a:solidFill>
                  <a:srgbClr val="F3ECDD"/>
                </a:solidFill>
                <a:latin typeface="Calibri"/>
              </a:rPr>
              <a:t>›  Var(Y_t) = sigma^2, constante dans le temps.</a:t>
            </a:r>
          </a:p>
          <a:p>
            <a:pPr>
              <a:lnSpc>
                <a:spcPct val="108000"/>
              </a:lnSpc>
              <a:spcAft>
                <a:spcPts val="800"/>
              </a:spcAft>
            </a:pPr>
            <a:r>
              <a:rPr sz="1400">
                <a:solidFill>
                  <a:srgbClr val="F3ECDD"/>
                </a:solidFill>
                <a:latin typeface="Calibri"/>
              </a:rPr>
              <a:t>›  Cov(Y_t, Y_t-h) = gamma(h), fonction de h uniquement.</a:t>
            </a:r>
          </a:p>
          <a:p>
            <a:pPr>
              <a:lnSpc>
                <a:spcPct val="108000"/>
              </a:lnSpc>
              <a:spcAft>
                <a:spcPts val="800"/>
              </a:spcAft>
            </a:pPr>
            <a:r>
              <a:rPr sz="1400">
                <a:solidFill>
                  <a:srgbClr val="F3ECDD"/>
                </a:solidFill>
                <a:latin typeface="Calibri"/>
              </a:rPr>
              <a:t>›  -&gt; Une série de prix (marche aléatoire) viole typiquement les 3 conditions ; une série de rendements log les respecte approximativement.</a:t>
            </a:r>
          </a:p>
        </p:txBody>
      </p:sp>
      <p:sp>
        <p:nvSpPr>
          <p:cNvPr id="9" name="TextBox 8"/>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9FB3C2"/>
                </a:solidFill>
                <a:latin typeface="Calibri"/>
              </a:rPr>
              <a:t>Projet VaR MENA -- Deep Learning vs modèles statistiques</a:t>
            </a:r>
          </a:p>
        </p:txBody>
      </p:sp>
      <p:sp>
        <p:nvSpPr>
          <p:cNvPr id="10" name="TextBox 9"/>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9FB3C2"/>
                </a:solidFill>
                <a:latin typeface="Calibri"/>
              </a:rPr>
              <a:t>8/31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08</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TESTS DE STATIONNARITÉ</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Tests ADF et KPSS : prix vs rendements</a:t>
            </a:r>
          </a:p>
        </p:txBody>
      </p:sp>
      <p:sp>
        <p:nvSpPr>
          <p:cNvPr id="5" name="TextBox 4"/>
          <p:cNvSpPr txBox="1"/>
          <p:nvPr/>
        </p:nvSpPr>
        <p:spPr>
          <a:xfrm>
            <a:off x="548640" y="1554480"/>
            <a:ext cx="11064240" cy="1600200"/>
          </a:xfrm>
          <a:prstGeom prst="rect">
            <a:avLst/>
          </a:prstGeom>
          <a:noFill/>
        </p:spPr>
        <p:txBody>
          <a:bodyPr wrap="square" anchor="t" lIns="0" rIns="0" tIns="0" bIns="0">
            <a:spAutoFit/>
          </a:bodyPr>
          <a:lstStyle/>
          <a:p>
            <a:pPr>
              <a:lnSpc>
                <a:spcPct val="108000"/>
              </a:lnSpc>
              <a:spcAft>
                <a:spcPts val="800"/>
              </a:spcAft>
            </a:pPr>
            <a:r>
              <a:rPr sz="1350">
                <a:solidFill>
                  <a:srgbClr val="1B2430"/>
                </a:solidFill>
                <a:latin typeface="Calibri"/>
              </a:rPr>
              <a:t>—  ADF (Augmented Dickey-Fuller) : H0 = racine unitaire (série NON stationnaire). Si p &lt; 0.05, on rejette H0 -&gt; série stationnaire en moyenne.</a:t>
            </a:r>
          </a:p>
          <a:p>
            <a:pPr>
              <a:lnSpc>
                <a:spcPct val="108000"/>
              </a:lnSpc>
              <a:spcAft>
                <a:spcPts val="800"/>
              </a:spcAft>
            </a:pPr>
            <a:r>
              <a:rPr sz="1350">
                <a:solidFill>
                  <a:srgbClr val="1B2430"/>
                </a:solidFill>
                <a:latin typeface="Calibri"/>
              </a:rPr>
              <a:t>—  KPSS : hypothèse inverse -- H0 = série stationnaire. Si p &gt; 0.05, on ne rejette pas H0 -&gt; cohérent avec la stationnarité.</a:t>
            </a:r>
          </a:p>
          <a:p>
            <a:pPr>
              <a:lnSpc>
                <a:spcPct val="108000"/>
              </a:lnSpc>
              <a:spcAft>
                <a:spcPts val="800"/>
              </a:spcAft>
            </a:pPr>
            <a:r>
              <a:rPr sz="1350">
                <a:solidFill>
                  <a:srgbClr val="1B2430"/>
                </a:solidFill>
                <a:latin typeface="Calibri"/>
              </a:rPr>
              <a:t>—  Les deux tests peuvent diverger : KPSS est sensible à l'hétéroscédasticité (variance non constante), pas seulement à une tendance déterministe.</a:t>
            </a:r>
          </a:p>
        </p:txBody>
      </p:sp>
      <p:graphicFrame>
        <p:nvGraphicFramePr>
          <p:cNvPr id="6" name="Table 5"/>
          <p:cNvGraphicFramePr>
            <a:graphicFrameLocks noGrp="1"/>
          </p:cNvGraphicFramePr>
          <p:nvPr/>
        </p:nvGraphicFramePr>
        <p:xfrm>
          <a:off x="548640" y="3291840"/>
          <a:ext cx="11064240" cy="1280160"/>
        </p:xfrm>
        <a:graphic>
          <a:graphicData uri="http://schemas.openxmlformats.org/drawingml/2006/table">
            <a:tbl>
              <a:tblPr firstRow="1" bandRow="1">
                <a:tableStyleId>{5C22544A-7EE6-4342-B048-85BDC9FD1C3A}</a:tableStyleId>
              </a:tblPr>
              <a:tblGrid>
                <a:gridCol w="2651760"/>
                <a:gridCol w="1371600"/>
                <a:gridCol w="1280160"/>
                <a:gridCol w="1554480"/>
                <a:gridCol w="1371600"/>
                <a:gridCol w="1280160"/>
                <a:gridCol w="1554480"/>
              </a:tblGrid>
              <a:tr h="426720">
                <a:tc>
                  <a:txBody>
                    <a:bodyPr wrap="square"/>
                    <a:lstStyle/>
                    <a:p>
                      <a:pPr algn="ctr"/>
                      <a:r>
                        <a:rPr sz="1050" b="1">
                          <a:solidFill>
                            <a:srgbClr val="FFFFFF"/>
                          </a:solidFill>
                          <a:latin typeface="Calibri"/>
                        </a:rPr>
                        <a:t>Série (Tunindex)</a:t>
                      </a:r>
                    </a:p>
                  </a:txBody>
                  <a:tcPr marL="54864" marR="54864" marT="27432" marB="27432" anchor="ctr">
                    <a:solidFill>
                      <a:srgbClr val="0E2A3D"/>
                    </a:solidFill>
                  </a:tcPr>
                </a:tc>
                <a:tc>
                  <a:txBody>
                    <a:bodyPr wrap="square"/>
                    <a:lstStyle/>
                    <a:p>
                      <a:pPr algn="ctr"/>
                      <a:r>
                        <a:rPr sz="1050" b="1">
                          <a:solidFill>
                            <a:srgbClr val="FFFFFF"/>
                          </a:solidFill>
                          <a:latin typeface="Calibri"/>
                        </a:rPr>
                        <a:t>ADF stat</a:t>
                      </a:r>
                    </a:p>
                  </a:txBody>
                  <a:tcPr marL="54864" marR="54864" marT="27432" marB="27432" anchor="ctr">
                    <a:solidFill>
                      <a:srgbClr val="0E2A3D"/>
                    </a:solidFill>
                  </a:tcPr>
                </a:tc>
                <a:tc>
                  <a:txBody>
                    <a:bodyPr wrap="square"/>
                    <a:lstStyle/>
                    <a:p>
                      <a:pPr algn="ctr"/>
                      <a:r>
                        <a:rPr sz="1050" b="1">
                          <a:solidFill>
                            <a:srgbClr val="FFFFFF"/>
                          </a:solidFill>
                          <a:latin typeface="Calibri"/>
                        </a:rPr>
                        <a:t>ADF p</a:t>
                      </a:r>
                    </a:p>
                  </a:txBody>
                  <a:tcPr marL="54864" marR="54864" marT="27432" marB="27432" anchor="ctr">
                    <a:solidFill>
                      <a:srgbClr val="0E2A3D"/>
                    </a:solidFill>
                  </a:tcPr>
                </a:tc>
                <a:tc>
                  <a:txBody>
                    <a:bodyPr wrap="square"/>
                    <a:lstStyle/>
                    <a:p>
                      <a:pPr algn="ctr"/>
                      <a:r>
                        <a:rPr sz="1050" b="1">
                          <a:solidFill>
                            <a:srgbClr val="FFFFFF"/>
                          </a:solidFill>
                          <a:latin typeface="Calibri"/>
                        </a:rPr>
                        <a:t>Concl. ADF</a:t>
                      </a:r>
                    </a:p>
                  </a:txBody>
                  <a:tcPr marL="54864" marR="54864" marT="27432" marB="27432" anchor="ctr">
                    <a:solidFill>
                      <a:srgbClr val="0E2A3D"/>
                    </a:solidFill>
                  </a:tcPr>
                </a:tc>
                <a:tc>
                  <a:txBody>
                    <a:bodyPr wrap="square"/>
                    <a:lstStyle/>
                    <a:p>
                      <a:pPr algn="ctr"/>
                      <a:r>
                        <a:rPr sz="1050" b="1">
                          <a:solidFill>
                            <a:srgbClr val="FFFFFF"/>
                          </a:solidFill>
                          <a:latin typeface="Calibri"/>
                        </a:rPr>
                        <a:t>KPSS stat</a:t>
                      </a:r>
                    </a:p>
                  </a:txBody>
                  <a:tcPr marL="54864" marR="54864" marT="27432" marB="27432" anchor="ctr">
                    <a:solidFill>
                      <a:srgbClr val="0E2A3D"/>
                    </a:solidFill>
                  </a:tcPr>
                </a:tc>
                <a:tc>
                  <a:txBody>
                    <a:bodyPr wrap="square"/>
                    <a:lstStyle/>
                    <a:p>
                      <a:pPr algn="ctr"/>
                      <a:r>
                        <a:rPr sz="1050" b="1">
                          <a:solidFill>
                            <a:srgbClr val="FFFFFF"/>
                          </a:solidFill>
                          <a:latin typeface="Calibri"/>
                        </a:rPr>
                        <a:t>KPSS p</a:t>
                      </a:r>
                    </a:p>
                  </a:txBody>
                  <a:tcPr marL="54864" marR="54864" marT="27432" marB="27432" anchor="ctr">
                    <a:solidFill>
                      <a:srgbClr val="0E2A3D"/>
                    </a:solidFill>
                  </a:tcPr>
                </a:tc>
                <a:tc>
                  <a:txBody>
                    <a:bodyPr wrap="square"/>
                    <a:lstStyle/>
                    <a:p>
                      <a:pPr algn="ctr"/>
                      <a:r>
                        <a:rPr sz="1050" b="1">
                          <a:solidFill>
                            <a:srgbClr val="FFFFFF"/>
                          </a:solidFill>
                          <a:latin typeface="Calibri"/>
                        </a:rPr>
                        <a:t>Concl. KPSS</a:t>
                      </a:r>
                    </a:p>
                  </a:txBody>
                  <a:tcPr marL="54864" marR="54864" marT="27432" marB="27432" anchor="ctr">
                    <a:solidFill>
                      <a:srgbClr val="0E2A3D"/>
                    </a:solidFill>
                  </a:tcPr>
                </a:tc>
              </a:tr>
              <a:tr h="426720">
                <a:tc>
                  <a:txBody>
                    <a:bodyPr wrap="square"/>
                    <a:lstStyle/>
                    <a:p>
                      <a:pPr algn="ctr"/>
                      <a:r>
                        <a:rPr sz="1050" b="0">
                          <a:solidFill>
                            <a:srgbClr val="1B2430"/>
                          </a:solidFill>
                          <a:latin typeface="Calibri"/>
                        </a:rPr>
                        <a:t>Prix (niveau)</a:t>
                      </a:r>
                    </a:p>
                  </a:txBody>
                  <a:tcPr marL="54864" marR="54864" marT="27432" marB="27432" anchor="ctr">
                    <a:solidFill>
                      <a:srgbClr val="F3ECDD"/>
                    </a:solidFill>
                  </a:tcPr>
                </a:tc>
                <a:tc>
                  <a:txBody>
                    <a:bodyPr wrap="square"/>
                    <a:lstStyle/>
                    <a:p>
                      <a:pPr algn="ctr"/>
                      <a:r>
                        <a:rPr sz="1050" b="0">
                          <a:solidFill>
                            <a:srgbClr val="1B2430"/>
                          </a:solidFill>
                          <a:latin typeface="Calibri"/>
                        </a:rPr>
                        <a:t>-1.44</a:t>
                      </a:r>
                    </a:p>
                  </a:txBody>
                  <a:tcPr marL="54864" marR="54864" marT="27432" marB="27432" anchor="ctr">
                    <a:solidFill>
                      <a:srgbClr val="F3ECDD"/>
                    </a:solidFill>
                  </a:tcPr>
                </a:tc>
                <a:tc>
                  <a:txBody>
                    <a:bodyPr wrap="square"/>
                    <a:lstStyle/>
                    <a:p>
                      <a:pPr algn="ctr"/>
                      <a:r>
                        <a:rPr sz="1050" b="0">
                          <a:solidFill>
                            <a:srgbClr val="1B2430"/>
                          </a:solidFill>
                          <a:latin typeface="Calibri"/>
                        </a:rPr>
                        <a:t>0.563</a:t>
                      </a:r>
                    </a:p>
                  </a:txBody>
                  <a:tcPr marL="54864" marR="54864" marT="27432" marB="27432" anchor="ctr">
                    <a:solidFill>
                      <a:srgbClr val="F3ECDD"/>
                    </a:solidFill>
                  </a:tcPr>
                </a:tc>
                <a:tc>
                  <a:txBody>
                    <a:bodyPr wrap="square"/>
                    <a:lstStyle/>
                    <a:p>
                      <a:pPr algn="ctr"/>
                      <a:r>
                        <a:rPr sz="1050" b="0">
                          <a:solidFill>
                            <a:srgbClr val="1B2430"/>
                          </a:solidFill>
                          <a:latin typeface="Calibri"/>
                        </a:rPr>
                        <a:t>Non</a:t>
                      </a:r>
                    </a:p>
                  </a:txBody>
                  <a:tcPr marL="54864" marR="54864" marT="27432" marB="27432" anchor="ctr">
                    <a:solidFill>
                      <a:srgbClr val="AE392F"/>
                    </a:solidFill>
                  </a:tcPr>
                </a:tc>
                <a:tc>
                  <a:txBody>
                    <a:bodyPr wrap="square"/>
                    <a:lstStyle/>
                    <a:p>
                      <a:pPr algn="ctr"/>
                      <a:r>
                        <a:rPr sz="1050" b="0">
                          <a:solidFill>
                            <a:srgbClr val="1B2430"/>
                          </a:solidFill>
                          <a:latin typeface="Calibri"/>
                        </a:rPr>
                        <a:t>7.060</a:t>
                      </a:r>
                    </a:p>
                  </a:txBody>
                  <a:tcPr marL="54864" marR="54864" marT="27432" marB="27432" anchor="ctr">
                    <a:solidFill>
                      <a:srgbClr val="F3ECDD"/>
                    </a:solidFill>
                  </a:tcPr>
                </a:tc>
                <a:tc>
                  <a:txBody>
                    <a:bodyPr wrap="square"/>
                    <a:lstStyle/>
                    <a:p>
                      <a:pPr algn="ctr"/>
                      <a:r>
                        <a:rPr sz="1050" b="0">
                          <a:solidFill>
                            <a:srgbClr val="1B2430"/>
                          </a:solidFill>
                          <a:latin typeface="Calibri"/>
                        </a:rPr>
                        <a:t>0.010</a:t>
                      </a:r>
                    </a:p>
                  </a:txBody>
                  <a:tcPr marL="54864" marR="54864" marT="27432" marB="27432" anchor="ctr">
                    <a:solidFill>
                      <a:srgbClr val="F3ECDD"/>
                    </a:solidFill>
                  </a:tcPr>
                </a:tc>
                <a:tc>
                  <a:txBody>
                    <a:bodyPr wrap="square"/>
                    <a:lstStyle/>
                    <a:p>
                      <a:pPr algn="ctr"/>
                      <a:r>
                        <a:rPr sz="1050" b="0">
                          <a:solidFill>
                            <a:srgbClr val="1B2430"/>
                          </a:solidFill>
                          <a:latin typeface="Calibri"/>
                        </a:rPr>
                        <a:t>Non</a:t>
                      </a:r>
                    </a:p>
                  </a:txBody>
                  <a:tcPr marL="54864" marR="54864" marT="27432" marB="27432" anchor="ctr">
                    <a:solidFill>
                      <a:srgbClr val="AE392F"/>
                    </a:solidFill>
                  </a:tcPr>
                </a:tc>
              </a:tr>
              <a:tr h="426720">
                <a:tc>
                  <a:txBody>
                    <a:bodyPr wrap="square"/>
                    <a:lstStyle/>
                    <a:p>
                      <a:pPr algn="ctr"/>
                      <a:r>
                        <a:rPr sz="1050" b="0">
                          <a:solidFill>
                            <a:srgbClr val="1B2430"/>
                          </a:solidFill>
                          <a:latin typeface="Calibri"/>
                        </a:rPr>
                        <a:t>Rendements log</a:t>
                      </a:r>
                    </a:p>
                  </a:txBody>
                  <a:tcPr marL="54864" marR="54864" marT="27432" marB="27432" anchor="ctr">
                    <a:solidFill>
                      <a:srgbClr val="FBF8F1"/>
                    </a:solidFill>
                  </a:tcPr>
                </a:tc>
                <a:tc>
                  <a:txBody>
                    <a:bodyPr wrap="square"/>
                    <a:lstStyle/>
                    <a:p>
                      <a:pPr algn="ctr"/>
                      <a:r>
                        <a:rPr sz="1050" b="0">
                          <a:solidFill>
                            <a:srgbClr val="1B2430"/>
                          </a:solidFill>
                          <a:latin typeface="Calibri"/>
                        </a:rPr>
                        <a:t>-9.04</a:t>
                      </a:r>
                    </a:p>
                  </a:txBody>
                  <a:tcPr marL="54864" marR="54864" marT="27432" marB="27432" anchor="ctr">
                    <a:solidFill>
                      <a:srgbClr val="FBF8F1"/>
                    </a:solidFill>
                  </a:tcPr>
                </a:tc>
                <a:tc>
                  <a:txBody>
                    <a:bodyPr wrap="square"/>
                    <a:lstStyle/>
                    <a:p>
                      <a:pPr algn="ctr"/>
                      <a:r>
                        <a:rPr sz="1050" b="0">
                          <a:solidFill>
                            <a:srgbClr val="1B2430"/>
                          </a:solidFill>
                          <a:latin typeface="Calibri"/>
                        </a:rPr>
                        <a:t>0.000</a:t>
                      </a:r>
                    </a:p>
                  </a:txBody>
                  <a:tcPr marL="54864" marR="54864" marT="27432" marB="27432" anchor="ctr">
                    <a:solidFill>
                      <a:srgbClr val="FBF8F1"/>
                    </a:solidFill>
                  </a:tcPr>
                </a:tc>
                <a:tc>
                  <a:txBody>
                    <a:bodyPr wrap="square"/>
                    <a:lstStyle/>
                    <a:p>
                      <a:pPr algn="ctr"/>
                      <a:r>
                        <a:rPr sz="1050" b="0">
                          <a:solidFill>
                            <a:srgbClr val="1B2430"/>
                          </a:solidFill>
                          <a:latin typeface="Calibri"/>
                        </a:rPr>
                        <a:t>Oui</a:t>
                      </a:r>
                    </a:p>
                  </a:txBody>
                  <a:tcPr marL="54864" marR="54864" marT="27432" marB="27432" anchor="ctr">
                    <a:solidFill>
                      <a:srgbClr val="2E7D46"/>
                    </a:solidFill>
                  </a:tcPr>
                </a:tc>
                <a:tc>
                  <a:txBody>
                    <a:bodyPr wrap="square"/>
                    <a:lstStyle/>
                    <a:p>
                      <a:pPr algn="ctr"/>
                      <a:r>
                        <a:rPr sz="1050" b="0">
                          <a:solidFill>
                            <a:srgbClr val="1B2430"/>
                          </a:solidFill>
                          <a:latin typeface="Calibri"/>
                        </a:rPr>
                        <a:t>0.685</a:t>
                      </a:r>
                    </a:p>
                  </a:txBody>
                  <a:tcPr marL="54864" marR="54864" marT="27432" marB="27432" anchor="ctr">
                    <a:solidFill>
                      <a:srgbClr val="FBF8F1"/>
                    </a:solidFill>
                  </a:tcPr>
                </a:tc>
                <a:tc>
                  <a:txBody>
                    <a:bodyPr wrap="square"/>
                    <a:lstStyle/>
                    <a:p>
                      <a:pPr algn="ctr"/>
                      <a:r>
                        <a:rPr sz="1050" b="0">
                          <a:solidFill>
                            <a:srgbClr val="1B2430"/>
                          </a:solidFill>
                          <a:latin typeface="Calibri"/>
                        </a:rPr>
                        <a:t>0.015</a:t>
                      </a:r>
                    </a:p>
                  </a:txBody>
                  <a:tcPr marL="54864" marR="54864" marT="27432" marB="27432" anchor="ctr">
                    <a:solidFill>
                      <a:srgbClr val="FBF8F1"/>
                    </a:solidFill>
                  </a:tcPr>
                </a:tc>
                <a:tc>
                  <a:txBody>
                    <a:bodyPr wrap="square"/>
                    <a:lstStyle/>
                    <a:p>
                      <a:pPr algn="ctr"/>
                      <a:r>
                        <a:rPr sz="1050" b="0">
                          <a:solidFill>
                            <a:srgbClr val="1B2430"/>
                          </a:solidFill>
                          <a:latin typeface="Calibri"/>
                        </a:rPr>
                        <a:t>Non</a:t>
                      </a:r>
                    </a:p>
                  </a:txBody>
                  <a:tcPr marL="54864" marR="54864" marT="27432" marB="27432" anchor="ctr">
                    <a:solidFill>
                      <a:srgbClr val="AE392F"/>
                    </a:solidFill>
                  </a:tcPr>
                </a:tc>
              </a:tr>
            </a:tbl>
          </a:graphicData>
        </a:graphic>
      </p:graphicFrame>
      <p:sp>
        <p:nvSpPr>
          <p:cNvPr id="7" name="TextBox 6"/>
          <p:cNvSpPr txBox="1"/>
          <p:nvPr/>
        </p:nvSpPr>
        <p:spPr>
          <a:xfrm>
            <a:off x="548640" y="4800600"/>
            <a:ext cx="11064240" cy="1463040"/>
          </a:xfrm>
          <a:prstGeom prst="rect">
            <a:avLst/>
          </a:prstGeom>
          <a:noFill/>
        </p:spPr>
        <p:txBody>
          <a:bodyPr wrap="square" anchor="t" lIns="0" rIns="0" tIns="0" bIns="0">
            <a:spAutoFit/>
          </a:bodyPr>
          <a:lstStyle/>
          <a:p>
            <a:pPr algn="l">
              <a:lnSpc>
                <a:spcPct val="100000"/>
              </a:lnSpc>
            </a:pPr>
            <a:r>
              <a:rPr sz="1250" b="0" i="1">
                <a:solidFill>
                  <a:srgbClr val="0E2A3D"/>
                </a:solidFill>
                <a:latin typeface="Calibri"/>
              </a:rPr>
              <a:t>Lecture : sur les PRIX, ADF et KPSS concordent -- série non stationnaire (marche aléatoire). Sur les RENDEMENTS LOG, ADF rejette nettement la racine unitaire (stationnaire en moyenne, p=0.000), mais KPSS reste significatif (p=0.015) : la variance des rendements n'est pas constante (regroupement de volatilité, slide 6), ce que KPSS détecte. C'est exactement pourquoi la moyenne est modélisée par ARIMA (d=0) et la variance, séparément, par GARCH.</a:t>
            </a:r>
          </a:p>
        </p:txBody>
      </p:sp>
      <p:sp>
        <p:nvSpPr>
          <p:cNvPr id="8" name="TextBox 7"/>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9" name="TextBox 8"/>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9/31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09</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IDENTIFICATION</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ACF et PACF : identifier les ordres (p, q)</a:t>
            </a:r>
          </a:p>
        </p:txBody>
      </p:sp>
      <p:sp>
        <p:nvSpPr>
          <p:cNvPr id="5" name="TextBox 4"/>
          <p:cNvSpPr txBox="1"/>
          <p:nvPr/>
        </p:nvSpPr>
        <p:spPr>
          <a:xfrm>
            <a:off x="548640" y="1554480"/>
            <a:ext cx="11064240" cy="1371600"/>
          </a:xfrm>
          <a:prstGeom prst="rect">
            <a:avLst/>
          </a:prstGeom>
          <a:noFill/>
        </p:spPr>
        <p:txBody>
          <a:bodyPr wrap="square" anchor="t" lIns="0" rIns="0" tIns="0" bIns="0">
            <a:spAutoFit/>
          </a:bodyPr>
          <a:lstStyle/>
          <a:p>
            <a:pPr>
              <a:lnSpc>
                <a:spcPct val="108000"/>
              </a:lnSpc>
              <a:spcAft>
                <a:spcPts val="800"/>
              </a:spcAft>
            </a:pPr>
            <a:r>
              <a:rPr sz="1400">
                <a:solidFill>
                  <a:srgbClr val="1B2430"/>
                </a:solidFill>
                <a:latin typeface="Calibri"/>
              </a:rPr>
              <a:t>—  ACF (autocorrélogramme) : corrélation entre Y_t et Y_t-h pour chaque décalage h -- utile pour repérer l'ordre q d'une MA (décroissance brutale après q).</a:t>
            </a:r>
          </a:p>
          <a:p>
            <a:pPr>
              <a:lnSpc>
                <a:spcPct val="108000"/>
              </a:lnSpc>
              <a:spcAft>
                <a:spcPts val="800"/>
              </a:spcAft>
            </a:pPr>
            <a:r>
              <a:rPr sz="1400">
                <a:solidFill>
                  <a:srgbClr val="1B2430"/>
                </a:solidFill>
                <a:latin typeface="Calibri"/>
              </a:rPr>
              <a:t>—  PACF (autocorrélation partielle) : corrélation entre Y_t et Y_t-h après avoir retiré l'effet des décalages intermédiaires -- utile pour repérer l'ordre p d'un AR (coupure nette après p).</a:t>
            </a:r>
          </a:p>
        </p:txBody>
      </p:sp>
      <p:pic>
        <p:nvPicPr>
          <p:cNvPr id="6" name="Picture 5" descr="deck_acf_pacf.png"/>
          <p:cNvPicPr>
            <a:picLocks noChangeAspect="1"/>
          </p:cNvPicPr>
          <p:nvPr/>
        </p:nvPicPr>
        <p:blipFill>
          <a:blip r:embed="rId2"/>
          <a:stretch>
            <a:fillRect/>
          </a:stretch>
        </p:blipFill>
        <p:spPr>
          <a:xfrm>
            <a:off x="2423160" y="2788920"/>
            <a:ext cx="7315200" cy="2723745"/>
          </a:xfrm>
          <a:prstGeom prst="rect">
            <a:avLst/>
          </a:prstGeom>
          <a:ln w="12700">
            <a:solidFill>
              <a:srgbClr val="E7DCC3"/>
            </a:solidFill>
          </a:ln>
        </p:spPr>
      </p:pic>
      <p:sp>
        <p:nvSpPr>
          <p:cNvPr id="7" name="TextBox 6"/>
          <p:cNvSpPr txBox="1"/>
          <p:nvPr/>
        </p:nvSpPr>
        <p:spPr>
          <a:xfrm>
            <a:off x="2423160" y="5715000"/>
            <a:ext cx="7315200" cy="548640"/>
          </a:xfrm>
          <a:prstGeom prst="rect">
            <a:avLst/>
          </a:prstGeom>
          <a:noFill/>
        </p:spPr>
        <p:txBody>
          <a:bodyPr wrap="square" anchor="t" lIns="0" rIns="0" tIns="0" bIns="0">
            <a:spAutoFit/>
          </a:bodyPr>
          <a:lstStyle/>
          <a:p>
            <a:pPr algn="l">
              <a:lnSpc>
                <a:spcPct val="100000"/>
              </a:lnSpc>
            </a:pPr>
            <a:r>
              <a:rPr sz="1100" b="0" i="1">
                <a:solidFill>
                  <a:srgbClr val="0E2A3D"/>
                </a:solidFill>
                <a:latin typeface="Calibri"/>
              </a:rPr>
              <a:t>Sur les rendements ADI : peu de décalages sortent des bandes de confiance -- cohérent avec des rendements proches d'un bruit blanc en moyenne (ordre p, q faibles), la structure prévisible se logeant surtout dans la variance (GARCH).</a:t>
            </a:r>
          </a:p>
        </p:txBody>
      </p:sp>
      <p:sp>
        <p:nvSpPr>
          <p:cNvPr id="8" name="TextBox 7"/>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9" name="TextBox 8"/>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10/31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2A3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10</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E7C97E"/>
                </a:solidFill>
                <a:latin typeface="Calibri"/>
              </a:rPr>
              <a:t>NON-STATIONNARITÉ</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FFFFFF"/>
                </a:solidFill>
                <a:latin typeface="Cambria"/>
              </a:rPr>
              <a:t>L'opérateur retard B et la différenciation</a:t>
            </a:r>
          </a:p>
        </p:txBody>
      </p:sp>
      <p:sp>
        <p:nvSpPr>
          <p:cNvPr id="5" name="Rectangle 4"/>
          <p:cNvSpPr/>
          <p:nvPr/>
        </p:nvSpPr>
        <p:spPr>
          <a:xfrm>
            <a:off x="1097280" y="1828800"/>
            <a:ext cx="9966960" cy="1554480"/>
          </a:xfrm>
          <a:prstGeom prst="rect">
            <a:avLst/>
          </a:prstGeom>
          <a:solidFill>
            <a:srgbClr val="081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9966960" cy="1188720"/>
          </a:xfrm>
          <a:prstGeom prst="rect">
            <a:avLst/>
          </a:prstGeom>
          <a:noFill/>
        </p:spPr>
        <p:txBody>
          <a:bodyPr wrap="square" anchor="t" lIns="0" rIns="0" tIns="0" bIns="0">
            <a:spAutoFit/>
          </a:bodyPr>
          <a:lstStyle/>
          <a:p>
            <a:pPr algn="ctr">
              <a:lnSpc>
                <a:spcPct val="100000"/>
              </a:lnSpc>
            </a:pPr>
            <a:r>
              <a:rPr sz="2000" b="1" i="0">
                <a:solidFill>
                  <a:srgbClr val="E7C97E"/>
                </a:solidFill>
                <a:latin typeface="Cambria"/>
              </a:rPr>
              <a:t>B . Y_t = Y_{t-1}          (1 - B) . Y_t = Y_t - Y_{t-1} = diff_t</a:t>
            </a:r>
          </a:p>
        </p:txBody>
      </p:sp>
      <p:sp>
        <p:nvSpPr>
          <p:cNvPr id="7" name="TextBox 6"/>
          <p:cNvSpPr txBox="1"/>
          <p:nvPr/>
        </p:nvSpPr>
        <p:spPr>
          <a:xfrm>
            <a:off x="1097280" y="3657600"/>
            <a:ext cx="9966960" cy="2743200"/>
          </a:xfrm>
          <a:prstGeom prst="rect">
            <a:avLst/>
          </a:prstGeom>
          <a:noFill/>
        </p:spPr>
        <p:txBody>
          <a:bodyPr wrap="square" anchor="t" lIns="0" rIns="0" tIns="0" bIns="0">
            <a:spAutoFit/>
          </a:bodyPr>
          <a:lstStyle/>
          <a:p>
            <a:pPr>
              <a:lnSpc>
                <a:spcPct val="108000"/>
              </a:lnSpc>
              <a:spcAft>
                <a:spcPts val="800"/>
              </a:spcAft>
            </a:pPr>
            <a:r>
              <a:rPr sz="1400">
                <a:solidFill>
                  <a:srgbClr val="F3ECDD"/>
                </a:solidFill>
                <a:latin typeface="Calibri"/>
              </a:rPr>
              <a:t>—  L'opérateur retard B décale la série d'une période : B^k . Y_t = Y_t-k.</a:t>
            </a:r>
          </a:p>
          <a:p>
            <a:pPr>
              <a:lnSpc>
                <a:spcPct val="108000"/>
              </a:lnSpc>
              <a:spcAft>
                <a:spcPts val="800"/>
              </a:spcAft>
            </a:pPr>
            <a:r>
              <a:rPr sz="1400">
                <a:solidFill>
                  <a:srgbClr val="F3ECDD"/>
                </a:solidFill>
                <a:latin typeface="Calibri"/>
              </a:rPr>
              <a:t>—  La différenciation ∇ = (1 - B) élimine une tendance stochastique (marche aléatoire) : si Y_t est non stationnaire, ∇Y_t peut le devenir.</a:t>
            </a:r>
          </a:p>
          <a:p>
            <a:pPr>
              <a:lnSpc>
                <a:spcPct val="108000"/>
              </a:lnSpc>
              <a:spcAft>
                <a:spcPts val="800"/>
              </a:spcAft>
            </a:pPr>
            <a:r>
              <a:rPr sz="1400">
                <a:solidFill>
                  <a:srgbClr val="F3ECDD"/>
                </a:solidFill>
                <a:latin typeface="Calibri"/>
              </a:rPr>
              <a:t>—  L'ordre d'intégration d est le nombre de différenciations nécessaires pour stationnariser la série -- d'où la notation ARIMA(p, d, q) : AR(p) + I(d) + MA(q).</a:t>
            </a:r>
          </a:p>
          <a:p>
            <a:pPr>
              <a:lnSpc>
                <a:spcPct val="108000"/>
              </a:lnSpc>
              <a:spcAft>
                <a:spcPts val="800"/>
              </a:spcAft>
            </a:pPr>
            <a:r>
              <a:rPr sz="1400">
                <a:solidFill>
                  <a:srgbClr val="F3ECDD"/>
                </a:solidFill>
                <a:latin typeface="Calibri"/>
              </a:rPr>
              <a:t>—  SARIMA(p, d, q)(P, D, Q, m) ajoute une différenciation et des ordres saisonniers sur une périodicité m (ex. m=5 pour un cycle hebdomadaire de séances boursières).</a:t>
            </a:r>
          </a:p>
          <a:p>
            <a:pPr>
              <a:lnSpc>
                <a:spcPct val="108000"/>
              </a:lnSpc>
              <a:spcAft>
                <a:spcPts val="800"/>
              </a:spcAft>
            </a:pPr>
            <a:r>
              <a:rPr sz="1400">
                <a:solidFill>
                  <a:srgbClr val="F3ECDD"/>
                </a:solidFill>
                <a:latin typeface="Calibri"/>
              </a:rPr>
              <a:t>—  Dans ce projet : les rendements log sont déjà stationnaires (d=0) -- la différenciation formelle a été évitée en modélisant directement r_t plutôt que P_t.</a:t>
            </a:r>
          </a:p>
        </p:txBody>
      </p:sp>
      <p:sp>
        <p:nvSpPr>
          <p:cNvPr id="8" name="TextBox 7"/>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9FB3C2"/>
                </a:solidFill>
                <a:latin typeface="Calibri"/>
              </a:rPr>
              <a:t>Projet VaR MENA -- Deep Learning vs modèles statistiques</a:t>
            </a:r>
          </a:p>
        </p:txBody>
      </p:sp>
      <p:sp>
        <p:nvSpPr>
          <p:cNvPr id="9" name="TextBox 8"/>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9FB3C2"/>
                </a:solidFill>
                <a:latin typeface="Calibri"/>
              </a:rPr>
              <a:t>11/31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11</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MODÈLES STATISTIQUES</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ARIMA(p, d, q) en détail</a:t>
            </a:r>
          </a:p>
        </p:txBody>
      </p:sp>
      <p:sp>
        <p:nvSpPr>
          <p:cNvPr id="5" name="TextBox 4"/>
          <p:cNvSpPr txBox="1"/>
          <p:nvPr/>
        </p:nvSpPr>
        <p:spPr>
          <a:xfrm>
            <a:off x="548640" y="1554480"/>
            <a:ext cx="6675120" cy="4297680"/>
          </a:xfrm>
          <a:prstGeom prst="rect">
            <a:avLst/>
          </a:prstGeom>
          <a:noFill/>
        </p:spPr>
        <p:txBody>
          <a:bodyPr wrap="square" anchor="t" lIns="0" rIns="0" tIns="0" bIns="0">
            <a:spAutoFit/>
          </a:bodyPr>
          <a:lstStyle/>
          <a:p>
            <a:pPr>
              <a:lnSpc>
                <a:spcPct val="108000"/>
              </a:lnSpc>
              <a:spcAft>
                <a:spcPts val="800"/>
              </a:spcAft>
            </a:pPr>
            <a:r>
              <a:rPr sz="1350">
                <a:solidFill>
                  <a:srgbClr val="1B2430"/>
                </a:solidFill>
                <a:latin typeface="Calibri"/>
              </a:rPr>
              <a:t>—  AR(p) -- partie autorégressive : Y_t = c + phi_1 Y_t-1 + ... + phi_p Y_t-p + eps_t (la valeur dépend de p valeurs passées).</a:t>
            </a:r>
          </a:p>
          <a:p>
            <a:pPr>
              <a:lnSpc>
                <a:spcPct val="108000"/>
              </a:lnSpc>
              <a:spcAft>
                <a:spcPts val="800"/>
              </a:spcAft>
            </a:pPr>
            <a:r>
              <a:rPr sz="1350">
                <a:solidFill>
                  <a:srgbClr val="1B2430"/>
                </a:solidFill>
                <a:latin typeface="Calibri"/>
              </a:rPr>
              <a:t>—  I(d) -- partie intégrée : nombre de différenciations pour rendre la série stationnaire (ici d=0, rendements déjà stationnaires).</a:t>
            </a:r>
          </a:p>
          <a:p>
            <a:pPr>
              <a:lnSpc>
                <a:spcPct val="108000"/>
              </a:lnSpc>
              <a:spcAft>
                <a:spcPts val="800"/>
              </a:spcAft>
            </a:pPr>
            <a:r>
              <a:rPr sz="1350">
                <a:solidFill>
                  <a:srgbClr val="1B2430"/>
                </a:solidFill>
                <a:latin typeface="Calibri"/>
              </a:rPr>
              <a:t>—  MA(q) -- partie moyenne mobile : eps_t = u_t + theta_1 u_t-1 + ... + theta_q u_t-q (l'erreur dépend de q chocs passés).</a:t>
            </a:r>
          </a:p>
          <a:p>
            <a:pPr>
              <a:lnSpc>
                <a:spcPct val="108000"/>
              </a:lnSpc>
              <a:spcAft>
                <a:spcPts val="800"/>
              </a:spcAft>
            </a:pPr>
            <a:r>
              <a:rPr sz="1350">
                <a:solidFill>
                  <a:srgbClr val="1B2430"/>
                </a:solidFill>
                <a:latin typeface="Calibri"/>
              </a:rPr>
              <a:t>—  ARIMA(p,d,q) combine les trois : la moyenne conditionnelle de r_t est expliquée par ses propres retards et par les erreurs passées.</a:t>
            </a:r>
          </a:p>
          <a:p>
            <a:pPr>
              <a:lnSpc>
                <a:spcPct val="108000"/>
              </a:lnSpc>
              <a:spcAft>
                <a:spcPts val="800"/>
              </a:spcAft>
            </a:pPr>
            <a:r>
              <a:rPr sz="1350">
                <a:solidFill>
                  <a:srgbClr val="1B2430"/>
                </a:solidFill>
                <a:latin typeface="Calibri"/>
              </a:rPr>
              <a:t>—  Mise en oeuvre ici : ajustement UNE seule fois sur le train (via auto_arima / ordre fixé), puis prévision walk-forward one-step-ahead sur le test, sans jamais ré-estimer les paramètres.</a:t>
            </a:r>
          </a:p>
          <a:p>
            <a:pPr>
              <a:lnSpc>
                <a:spcPct val="108000"/>
              </a:lnSpc>
              <a:spcAft>
                <a:spcPts val="800"/>
              </a:spcAft>
            </a:pPr>
            <a:r>
              <a:rPr sz="1350">
                <a:solidFill>
                  <a:srgbClr val="1B2430"/>
                </a:solidFill>
                <a:latin typeface="Calibri"/>
              </a:rPr>
              <a:t>—  sigma est l'écart-type des résidus du train ; la VaR est calculée par BHS à partir de (mu_t, sigma) -- voir slide VaR.</a:t>
            </a:r>
          </a:p>
        </p:txBody>
      </p:sp>
      <p:sp>
        <p:nvSpPr>
          <p:cNvPr id="6" name="Rectangle 5"/>
          <p:cNvSpPr/>
          <p:nvPr/>
        </p:nvSpPr>
        <p:spPr>
          <a:xfrm>
            <a:off x="7772400" y="1600200"/>
            <a:ext cx="3840480" cy="4251960"/>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1828800"/>
            <a:ext cx="3383280" cy="365760"/>
          </a:xfrm>
          <a:prstGeom prst="rect">
            <a:avLst/>
          </a:prstGeom>
          <a:noFill/>
        </p:spPr>
        <p:txBody>
          <a:bodyPr wrap="square" anchor="t" lIns="0" rIns="0" tIns="0" bIns="0">
            <a:spAutoFit/>
          </a:bodyPr>
          <a:lstStyle/>
          <a:p>
            <a:pPr algn="l">
              <a:lnSpc>
                <a:spcPct val="100000"/>
              </a:lnSpc>
            </a:pPr>
            <a:r>
              <a:rPr sz="1300" b="1" i="0">
                <a:solidFill>
                  <a:srgbClr val="E7C97E"/>
                </a:solidFill>
                <a:latin typeface="Calibri"/>
              </a:rPr>
              <a:t>TASI -- ARIMA @ 99%</a:t>
            </a:r>
          </a:p>
        </p:txBody>
      </p:sp>
      <p:sp>
        <p:nvSpPr>
          <p:cNvPr id="8" name="TextBox 7"/>
          <p:cNvSpPr txBox="1"/>
          <p:nvPr/>
        </p:nvSpPr>
        <p:spPr>
          <a:xfrm>
            <a:off x="8001000" y="2331720"/>
            <a:ext cx="3383280" cy="914400"/>
          </a:xfrm>
          <a:prstGeom prst="rect">
            <a:avLst/>
          </a:prstGeom>
          <a:noFill/>
        </p:spPr>
        <p:txBody>
          <a:bodyPr wrap="square" anchor="t" lIns="0" rIns="0" tIns="0" bIns="0">
            <a:spAutoFit/>
          </a:bodyPr>
          <a:lstStyle/>
          <a:p>
            <a:pPr algn="l">
              <a:lnSpc>
                <a:spcPct val="100000"/>
              </a:lnSpc>
            </a:pPr>
            <a:r>
              <a:rPr sz="4400" b="1" i="0">
                <a:solidFill>
                  <a:srgbClr val="FFFFFF"/>
                </a:solidFill>
                <a:latin typeface="Cambria"/>
              </a:rPr>
              <a:t>0.60%</a:t>
            </a:r>
          </a:p>
        </p:txBody>
      </p:sp>
      <p:sp>
        <p:nvSpPr>
          <p:cNvPr id="9" name="TextBox 8"/>
          <p:cNvSpPr txBox="1"/>
          <p:nvPr/>
        </p:nvSpPr>
        <p:spPr>
          <a:xfrm>
            <a:off x="8001000" y="3246120"/>
            <a:ext cx="3383280" cy="365760"/>
          </a:xfrm>
          <a:prstGeom prst="rect">
            <a:avLst/>
          </a:prstGeom>
          <a:noFill/>
        </p:spPr>
        <p:txBody>
          <a:bodyPr wrap="square" anchor="t" lIns="0" rIns="0" tIns="0" bIns="0">
            <a:spAutoFit/>
          </a:bodyPr>
          <a:lstStyle/>
          <a:p>
            <a:pPr algn="l">
              <a:lnSpc>
                <a:spcPct val="100000"/>
              </a:lnSpc>
            </a:pPr>
            <a:r>
              <a:rPr sz="1100" b="0" i="0">
                <a:solidFill>
                  <a:srgbClr val="F3ECDD"/>
                </a:solidFill>
                <a:latin typeface="Calibri"/>
              </a:rPr>
              <a:t>taux de violation observé (cible 1%)</a:t>
            </a:r>
          </a:p>
        </p:txBody>
      </p:sp>
      <p:sp>
        <p:nvSpPr>
          <p:cNvPr id="10" name="TextBox 9"/>
          <p:cNvSpPr txBox="1"/>
          <p:nvPr/>
        </p:nvSpPr>
        <p:spPr>
          <a:xfrm>
            <a:off x="8001000" y="3794760"/>
            <a:ext cx="3383280" cy="365760"/>
          </a:xfrm>
          <a:prstGeom prst="rect">
            <a:avLst/>
          </a:prstGeom>
          <a:noFill/>
        </p:spPr>
        <p:txBody>
          <a:bodyPr wrap="square" anchor="t" lIns="0" rIns="0" tIns="0" bIns="0">
            <a:spAutoFit/>
          </a:bodyPr>
          <a:lstStyle/>
          <a:p>
            <a:pPr algn="l">
              <a:lnSpc>
                <a:spcPct val="100000"/>
              </a:lnSpc>
            </a:pPr>
            <a:r>
              <a:rPr sz="1200" b="1" i="0">
                <a:solidFill>
                  <a:srgbClr val="E7C97E"/>
                </a:solidFill>
                <a:latin typeface="Calibri"/>
              </a:rPr>
              <a:t>Kupiec p = 0.573   |   zone GREEN</a:t>
            </a:r>
          </a:p>
        </p:txBody>
      </p:sp>
      <p:sp>
        <p:nvSpPr>
          <p:cNvPr id="11" name="TextBox 10"/>
          <p:cNvSpPr txBox="1"/>
          <p:nvPr/>
        </p:nvSpPr>
        <p:spPr>
          <a:xfrm>
            <a:off x="8001000" y="4297680"/>
            <a:ext cx="3383280" cy="1371600"/>
          </a:xfrm>
          <a:prstGeom prst="rect">
            <a:avLst/>
          </a:prstGeom>
          <a:noFill/>
        </p:spPr>
        <p:txBody>
          <a:bodyPr wrap="square" anchor="t" lIns="0" rIns="0" tIns="0" bIns="0">
            <a:spAutoFit/>
          </a:bodyPr>
          <a:lstStyle/>
          <a:p>
            <a:pPr algn="l">
              <a:lnSpc>
                <a:spcPct val="100000"/>
              </a:lnSpc>
            </a:pPr>
            <a:r>
              <a:rPr sz="1150" b="0" i="1">
                <a:solidFill>
                  <a:srgbClr val="F3ECDD"/>
                </a:solidFill>
                <a:latin typeface="Calibri"/>
              </a:rPr>
              <a:t>Zone verte Bâle : le modèle n'est pas rejeté. ARIMA est le modèle GAGNANT sur TASI (Arabie Saoudite) à 99%.</a:t>
            </a:r>
          </a:p>
        </p:txBody>
      </p:sp>
      <p:sp>
        <p:nvSpPr>
          <p:cNvPr id="12" name="TextBox 11"/>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13" name="TextBox 12"/>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12/31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12</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MODÈLES STATISTIQUES</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SARIMA : la composante saisonnière</a:t>
            </a:r>
          </a:p>
        </p:txBody>
      </p:sp>
      <p:sp>
        <p:nvSpPr>
          <p:cNvPr id="5" name="TextBox 4"/>
          <p:cNvSpPr txBox="1"/>
          <p:nvPr/>
        </p:nvSpPr>
        <p:spPr>
          <a:xfrm>
            <a:off x="548640" y="1600200"/>
            <a:ext cx="10698480" cy="1920240"/>
          </a:xfrm>
          <a:prstGeom prst="rect">
            <a:avLst/>
          </a:prstGeom>
          <a:noFill/>
        </p:spPr>
        <p:txBody>
          <a:bodyPr wrap="square" anchor="t" lIns="0" rIns="0" tIns="0" bIns="0">
            <a:spAutoFit/>
          </a:bodyPr>
          <a:lstStyle/>
          <a:p>
            <a:pPr>
              <a:lnSpc>
                <a:spcPct val="108000"/>
              </a:lnSpc>
              <a:spcAft>
                <a:spcPts val="800"/>
              </a:spcAft>
            </a:pPr>
            <a:r>
              <a:rPr sz="1450">
                <a:solidFill>
                  <a:srgbClr val="1B2430"/>
                </a:solidFill>
                <a:latin typeface="Calibri"/>
              </a:rPr>
              <a:t>—  SARIMA(p,d,q)(P,D,Q,m) ajoute à ARIMA une structure autorégressive/moyenne-mobile saisonnière d'ordre (P,D,Q) sur une périodicité m.</a:t>
            </a:r>
          </a:p>
          <a:p>
            <a:pPr>
              <a:lnSpc>
                <a:spcPct val="108000"/>
              </a:lnSpc>
              <a:spcAft>
                <a:spcPts val="800"/>
              </a:spcAft>
            </a:pPr>
            <a:r>
              <a:rPr sz="1450">
                <a:solidFill>
                  <a:srgbClr val="1B2430"/>
                </a:solidFill>
                <a:latin typeface="Calibri"/>
              </a:rPr>
              <a:t>—  Ici m=5 : cycle hebdomadaire des séances boursières (5 jours ouvrés), motivé par un éventuel effet de calendrier (lundi/vendredi) dans les rendements.</a:t>
            </a:r>
          </a:p>
          <a:p>
            <a:pPr>
              <a:lnSpc>
                <a:spcPct val="108000"/>
              </a:lnSpc>
              <a:spcAft>
                <a:spcPts val="800"/>
              </a:spcAft>
            </a:pPr>
            <a:r>
              <a:rPr sz="1450">
                <a:solidFill>
                  <a:srgbClr val="1B2430"/>
                </a:solidFill>
                <a:latin typeface="Calibri"/>
              </a:rPr>
              <a:t>—  Ordre retenu dans le pipeline : SARIMA(1,0,1)(1,0,1,5) -- un AR et un MA à la fois non saisonniers et saisonniers, sans différenciation (d=D=0).</a:t>
            </a:r>
          </a:p>
        </p:txBody>
      </p:sp>
      <p:sp>
        <p:nvSpPr>
          <p:cNvPr id="6" name="Rectangle 5"/>
          <p:cNvSpPr/>
          <p:nvPr/>
        </p:nvSpPr>
        <p:spPr>
          <a:xfrm>
            <a:off x="1463040" y="3794760"/>
            <a:ext cx="9235440" cy="1188720"/>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0" y="3977639"/>
            <a:ext cx="9235440" cy="822960"/>
          </a:xfrm>
          <a:prstGeom prst="rect">
            <a:avLst/>
          </a:prstGeom>
          <a:noFill/>
        </p:spPr>
        <p:txBody>
          <a:bodyPr wrap="square" anchor="ctr" lIns="0" rIns="0" tIns="0" bIns="0">
            <a:spAutoFit/>
          </a:bodyPr>
          <a:lstStyle/>
          <a:p>
            <a:pPr algn="ctr">
              <a:lnSpc>
                <a:spcPct val="100000"/>
              </a:lnSpc>
            </a:pPr>
            <a:r>
              <a:rPr sz="2200" b="1" i="0">
                <a:solidFill>
                  <a:srgbClr val="E7C97E"/>
                </a:solidFill>
                <a:latin typeface="Cambria"/>
              </a:rPr>
              <a:t>SARIMA(1,0,1) x (1,0,1,5)</a:t>
            </a:r>
          </a:p>
        </p:txBody>
      </p:sp>
      <p:sp>
        <p:nvSpPr>
          <p:cNvPr id="8" name="TextBox 7"/>
          <p:cNvSpPr txBox="1"/>
          <p:nvPr/>
        </p:nvSpPr>
        <p:spPr>
          <a:xfrm>
            <a:off x="548640" y="5257800"/>
            <a:ext cx="11064240" cy="914400"/>
          </a:xfrm>
          <a:prstGeom prst="rect">
            <a:avLst/>
          </a:prstGeom>
          <a:noFill/>
        </p:spPr>
        <p:txBody>
          <a:bodyPr wrap="square" anchor="t" lIns="0" rIns="0" tIns="0" bIns="0">
            <a:spAutoFit/>
          </a:bodyPr>
          <a:lstStyle/>
          <a:p>
            <a:pPr algn="l">
              <a:lnSpc>
                <a:spcPct val="100000"/>
              </a:lnSpc>
            </a:pPr>
            <a:r>
              <a:rPr sz="1300" b="0" i="1">
                <a:solidFill>
                  <a:srgbClr val="0E2A3D"/>
                </a:solidFill>
                <a:latin typeface="Calibri"/>
              </a:rPr>
              <a:t>Comme pour ARIMA : ajustement UNE fois sur le train, walk-forward one-step-ahead sur le test (aucun ré-entraînement), VaR calculée par BHS à partir de (mu, sigma) des résidus.</a:t>
            </a:r>
          </a:p>
        </p:txBody>
      </p:sp>
      <p:sp>
        <p:nvSpPr>
          <p:cNvPr id="9" name="TextBox 8"/>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10" name="TextBox 9"/>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13/31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13</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VOLATILITÉ</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Hétéroscédasticité conditionnelle : la motivation du GARCH</a:t>
            </a:r>
          </a:p>
        </p:txBody>
      </p:sp>
      <p:sp>
        <p:nvSpPr>
          <p:cNvPr id="5" name="TextBox 4"/>
          <p:cNvSpPr txBox="1"/>
          <p:nvPr/>
        </p:nvSpPr>
        <p:spPr>
          <a:xfrm>
            <a:off x="548640" y="1600200"/>
            <a:ext cx="5760720" cy="4297680"/>
          </a:xfrm>
          <a:prstGeom prst="rect">
            <a:avLst/>
          </a:prstGeom>
          <a:noFill/>
        </p:spPr>
        <p:txBody>
          <a:bodyPr wrap="square" anchor="t" lIns="0" rIns="0" tIns="0" bIns="0">
            <a:spAutoFit/>
          </a:bodyPr>
          <a:lstStyle/>
          <a:p>
            <a:pPr>
              <a:lnSpc>
                <a:spcPct val="108000"/>
              </a:lnSpc>
              <a:spcAft>
                <a:spcPts val="800"/>
              </a:spcAft>
            </a:pPr>
            <a:r>
              <a:rPr sz="1400">
                <a:solidFill>
                  <a:srgbClr val="1B2430"/>
                </a:solidFill>
                <a:latin typeface="Calibri"/>
              </a:rPr>
              <a:t>—  Hétéroscédasticité conditionnelle : la variance de l'erreur au temps t, conditionnée à l'information passée, n'est PAS constante (contrairement à l'hypothèse d'homoscédasticité d'ARMA/OLS classiques).</a:t>
            </a:r>
          </a:p>
          <a:p>
            <a:pPr>
              <a:lnSpc>
                <a:spcPct val="108000"/>
              </a:lnSpc>
              <a:spcAft>
                <a:spcPts val="800"/>
              </a:spcAft>
            </a:pPr>
            <a:r>
              <a:rPr sz="1400">
                <a:solidFill>
                  <a:srgbClr val="1B2430"/>
                </a:solidFill>
                <a:latin typeface="Calibri"/>
              </a:rPr>
              <a:t>—  Symptôme observé (slide 6) : regroupement de volatilité -- périodes calmes et agitées qui s'enchaînent, incompatible avec Var(eps_t) = sigma^2 fixe.</a:t>
            </a:r>
          </a:p>
          <a:p>
            <a:pPr>
              <a:lnSpc>
                <a:spcPct val="108000"/>
              </a:lnSpc>
              <a:spcAft>
                <a:spcPts val="800"/>
              </a:spcAft>
            </a:pPr>
            <a:r>
              <a:rPr sz="1400">
                <a:solidFill>
                  <a:srgbClr val="1B2430"/>
                </a:solidFill>
                <a:latin typeface="Calibri"/>
              </a:rPr>
              <a:t>—  Modèle ARCH (Engle, 1982) : la variance dépend des carrés des chocs passés -- sigma^2_t = omega + somme alpha_i . eps^2_t-i.</a:t>
            </a:r>
          </a:p>
          <a:p>
            <a:pPr>
              <a:lnSpc>
                <a:spcPct val="108000"/>
              </a:lnSpc>
              <a:spcAft>
                <a:spcPts val="800"/>
              </a:spcAft>
            </a:pPr>
            <a:r>
              <a:rPr sz="1400">
                <a:solidFill>
                  <a:srgbClr val="1B2430"/>
                </a:solidFill>
                <a:latin typeface="Calibri"/>
              </a:rPr>
              <a:t>—  Limite de l'ARCH : il faut souvent beaucoup de retards (q élevé) pour bien capter la mémoire de la volatilité -- le GARCH résout cela avec un terme autorégressif sur la variance elle-même (slide suivante).</a:t>
            </a:r>
          </a:p>
        </p:txBody>
      </p:sp>
      <p:sp>
        <p:nvSpPr>
          <p:cNvPr id="6" name="Rectangle 5"/>
          <p:cNvSpPr/>
          <p:nvPr/>
        </p:nvSpPr>
        <p:spPr>
          <a:xfrm>
            <a:off x="7772400" y="1600200"/>
            <a:ext cx="3840480" cy="2377440"/>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1783080"/>
            <a:ext cx="3383280" cy="365760"/>
          </a:xfrm>
          <a:prstGeom prst="rect">
            <a:avLst/>
          </a:prstGeom>
          <a:noFill/>
        </p:spPr>
        <p:txBody>
          <a:bodyPr wrap="square" anchor="t" lIns="0" rIns="0" tIns="0" bIns="0">
            <a:spAutoFit/>
          </a:bodyPr>
          <a:lstStyle/>
          <a:p>
            <a:pPr algn="l">
              <a:lnSpc>
                <a:spcPct val="100000"/>
              </a:lnSpc>
            </a:pPr>
            <a:r>
              <a:rPr sz="1200" b="1" i="0">
                <a:solidFill>
                  <a:srgbClr val="E7C97E"/>
                </a:solidFill>
                <a:latin typeface="Calibri"/>
              </a:rPr>
              <a:t>ARCH(q)</a:t>
            </a:r>
          </a:p>
        </p:txBody>
      </p:sp>
      <p:sp>
        <p:nvSpPr>
          <p:cNvPr id="8" name="TextBox 7"/>
          <p:cNvSpPr txBox="1"/>
          <p:nvPr/>
        </p:nvSpPr>
        <p:spPr>
          <a:xfrm>
            <a:off x="8001000" y="2194560"/>
            <a:ext cx="3383280" cy="1463040"/>
          </a:xfrm>
          <a:prstGeom prst="rect">
            <a:avLst/>
          </a:prstGeom>
          <a:noFill/>
        </p:spPr>
        <p:txBody>
          <a:bodyPr wrap="square" anchor="t" lIns="0" rIns="0" tIns="0" bIns="0">
            <a:spAutoFit/>
          </a:bodyPr>
          <a:lstStyle/>
          <a:p>
            <a:pPr algn="l">
              <a:lnSpc>
                <a:spcPct val="120000"/>
              </a:lnSpc>
            </a:pPr>
            <a:r>
              <a:rPr sz="1500" b="1" i="0">
                <a:solidFill>
                  <a:srgbClr val="FFFFFF"/>
                </a:solidFill>
                <a:latin typeface="Cambria"/>
              </a:rPr>
              <a:t>sigma^2_t = omega</a:t>
            </a:r>
          </a:p>
          <a:p>
            <a:pPr algn="l">
              <a:lnSpc>
                <a:spcPct val="120000"/>
              </a:lnSpc>
            </a:pPr>
            <a:r>
              <a:rPr sz="1500" b="1" i="0">
                <a:solidFill>
                  <a:srgbClr val="FFFFFF"/>
                </a:solidFill>
                <a:latin typeface="Cambria"/>
              </a:rPr>
              <a:t>+ somme_{i=1}^{q} alpha_i eps^2_{t-i}</a:t>
            </a:r>
          </a:p>
        </p:txBody>
      </p:sp>
      <p:sp>
        <p:nvSpPr>
          <p:cNvPr id="9" name="TextBox 8"/>
          <p:cNvSpPr txBox="1"/>
          <p:nvPr/>
        </p:nvSpPr>
        <p:spPr>
          <a:xfrm>
            <a:off x="7772400" y="4160520"/>
            <a:ext cx="3840480" cy="1737360"/>
          </a:xfrm>
          <a:prstGeom prst="rect">
            <a:avLst/>
          </a:prstGeom>
          <a:noFill/>
        </p:spPr>
        <p:txBody>
          <a:bodyPr wrap="square" anchor="t" lIns="0" rIns="0" tIns="0" bIns="0">
            <a:spAutoFit/>
          </a:bodyPr>
          <a:lstStyle/>
          <a:p>
            <a:pPr algn="l">
              <a:lnSpc>
                <a:spcPct val="100000"/>
              </a:lnSpc>
            </a:pPr>
            <a:r>
              <a:rPr sz="1200" b="0" i="1">
                <a:solidFill>
                  <a:srgbClr val="0E2A3D"/>
                </a:solidFill>
                <a:latin typeface="Calibri"/>
              </a:rPr>
              <a:t>eps_t : choc (résidu) au temps t. La variance conditionnelle réagit à l'amplitude des chocs récents -- exactement le mécanisme du regroupement de volatilité.</a:t>
            </a:r>
          </a:p>
        </p:txBody>
      </p:sp>
      <p:sp>
        <p:nvSpPr>
          <p:cNvPr id="10" name="TextBox 9"/>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11" name="TextBox 10"/>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14/31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14</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VOLATILITÉ</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GARCH(1,1) : la variance conditionnelle</a:t>
            </a:r>
          </a:p>
        </p:txBody>
      </p:sp>
      <p:sp>
        <p:nvSpPr>
          <p:cNvPr id="5" name="Rectangle 4"/>
          <p:cNvSpPr/>
          <p:nvPr/>
        </p:nvSpPr>
        <p:spPr>
          <a:xfrm>
            <a:off x="1463040" y="1417320"/>
            <a:ext cx="9235440" cy="777240"/>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0" y="1536192"/>
            <a:ext cx="9235440" cy="548640"/>
          </a:xfrm>
          <a:prstGeom prst="rect">
            <a:avLst/>
          </a:prstGeom>
          <a:noFill/>
        </p:spPr>
        <p:txBody>
          <a:bodyPr wrap="square" anchor="ctr" lIns="0" rIns="0" tIns="0" bIns="0">
            <a:spAutoFit/>
          </a:bodyPr>
          <a:lstStyle/>
          <a:p>
            <a:pPr algn="ctr">
              <a:lnSpc>
                <a:spcPct val="100000"/>
              </a:lnSpc>
            </a:pPr>
            <a:r>
              <a:rPr sz="1900" b="1" i="0">
                <a:solidFill>
                  <a:srgbClr val="E7C97E"/>
                </a:solidFill>
                <a:latin typeface="Cambria"/>
              </a:rPr>
              <a:t>sigma^2_t = omega + alpha . eps^2_{t-1} + beta . sigma^2_{t-1}</a:t>
            </a:r>
          </a:p>
        </p:txBody>
      </p:sp>
      <p:sp>
        <p:nvSpPr>
          <p:cNvPr id="7" name="TextBox 6"/>
          <p:cNvSpPr txBox="1"/>
          <p:nvPr/>
        </p:nvSpPr>
        <p:spPr>
          <a:xfrm>
            <a:off x="548640" y="2331720"/>
            <a:ext cx="11064240" cy="1188720"/>
          </a:xfrm>
          <a:prstGeom prst="rect">
            <a:avLst/>
          </a:prstGeom>
          <a:noFill/>
        </p:spPr>
        <p:txBody>
          <a:bodyPr wrap="square" anchor="t" lIns="0" rIns="0" tIns="0" bIns="0">
            <a:spAutoFit/>
          </a:bodyPr>
          <a:lstStyle/>
          <a:p>
            <a:pPr>
              <a:lnSpc>
                <a:spcPct val="108000"/>
              </a:lnSpc>
              <a:spcAft>
                <a:spcPts val="800"/>
              </a:spcAft>
            </a:pPr>
            <a:r>
              <a:rPr sz="1250">
                <a:solidFill>
                  <a:srgbClr val="1B2430"/>
                </a:solidFill>
                <a:latin typeface="Calibri"/>
              </a:rPr>
              <a:t>—  omega &gt; 0 : variance de long terme (plancher) ; alpha : poids du choc récent (eps^2_{t-1}) ; beta : persistance de la volatilité passée (sigma^2_{t-1}). alpha + beta proche de 1 -&gt; mémoire longue de la volatilité.</a:t>
            </a:r>
          </a:p>
          <a:p>
            <a:pPr>
              <a:lnSpc>
                <a:spcPct val="108000"/>
              </a:lnSpc>
              <a:spcAft>
                <a:spcPts val="800"/>
              </a:spcAft>
            </a:pPr>
            <a:r>
              <a:rPr sz="1250">
                <a:solidFill>
                  <a:srgbClr val="1B2430"/>
                </a:solidFill>
                <a:latin typeface="Calibri"/>
              </a:rPr>
              <a:t>—  Ajusté UNE fois sur le train (moyenne constante + GARCH(1,1)), puis sigma_t est propagé jour par jour sur le test avec (omega, alpha, beta) FIGÉS -- seul l'état (dernier choc, dernière variance) est mis à jour.</a:t>
            </a:r>
          </a:p>
        </p:txBody>
      </p:sp>
      <p:pic>
        <p:nvPicPr>
          <p:cNvPr id="8" name="Picture 7" descr="deck_garch_sigma.png"/>
          <p:cNvPicPr>
            <a:picLocks noChangeAspect="1"/>
          </p:cNvPicPr>
          <p:nvPr/>
        </p:nvPicPr>
        <p:blipFill>
          <a:blip r:embed="rId2"/>
          <a:stretch>
            <a:fillRect/>
          </a:stretch>
        </p:blipFill>
        <p:spPr>
          <a:xfrm>
            <a:off x="2804007" y="3611880"/>
            <a:ext cx="6583680" cy="2106778"/>
          </a:xfrm>
          <a:prstGeom prst="rect">
            <a:avLst/>
          </a:prstGeom>
          <a:ln w="12700">
            <a:solidFill>
              <a:srgbClr val="E7DCC3"/>
            </a:solidFill>
          </a:ln>
        </p:spPr>
      </p:pic>
      <p:sp>
        <p:nvSpPr>
          <p:cNvPr id="9" name="TextBox 8"/>
          <p:cNvSpPr txBox="1"/>
          <p:nvPr/>
        </p:nvSpPr>
        <p:spPr>
          <a:xfrm>
            <a:off x="2804007" y="5828385"/>
            <a:ext cx="6583680" cy="365760"/>
          </a:xfrm>
          <a:prstGeom prst="rect">
            <a:avLst/>
          </a:prstGeom>
          <a:noFill/>
        </p:spPr>
        <p:txBody>
          <a:bodyPr wrap="square" anchor="t" lIns="0" rIns="0" tIns="0" bIns="0">
            <a:spAutoFit/>
          </a:bodyPr>
          <a:lstStyle/>
          <a:p>
            <a:pPr algn="ctr">
              <a:lnSpc>
                <a:spcPct val="100000"/>
              </a:lnSpc>
            </a:pPr>
            <a:r>
              <a:rPr sz="1050" b="0" i="1">
                <a:solidFill>
                  <a:srgbClr val="0E2A3D"/>
                </a:solidFill>
                <a:latin typeface="Calibri"/>
              </a:rPr>
              <a:t>sigma_t varie jour après jour sur le test -- c'est ce profil dynamique qui distingue GARCH d'un modèle à volatilité constante.</a:t>
            </a:r>
          </a:p>
        </p:txBody>
      </p:sp>
      <p:sp>
        <p:nvSpPr>
          <p:cNvPr id="10" name="TextBox 9"/>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11" name="TextBox 10"/>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15/31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15</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VOLATILITÉ</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GARCH et simulation historique filtrée (FHS)</a:t>
            </a:r>
          </a:p>
        </p:txBody>
      </p:sp>
      <p:sp>
        <p:nvSpPr>
          <p:cNvPr id="5" name="TextBox 4"/>
          <p:cNvSpPr txBox="1"/>
          <p:nvPr/>
        </p:nvSpPr>
        <p:spPr>
          <a:xfrm>
            <a:off x="548640" y="1554480"/>
            <a:ext cx="11064240" cy="1234440"/>
          </a:xfrm>
          <a:prstGeom prst="rect">
            <a:avLst/>
          </a:prstGeom>
          <a:noFill/>
        </p:spPr>
        <p:txBody>
          <a:bodyPr wrap="square" anchor="t" lIns="0" rIns="0" tIns="0" bIns="0">
            <a:spAutoFit/>
          </a:bodyPr>
          <a:lstStyle/>
          <a:p>
            <a:pPr>
              <a:lnSpc>
                <a:spcPct val="108000"/>
              </a:lnSpc>
              <a:spcAft>
                <a:spcPts val="800"/>
              </a:spcAft>
            </a:pPr>
            <a:r>
              <a:rPr sz="1350">
                <a:solidFill>
                  <a:srgbClr val="1B2430"/>
                </a:solidFill>
                <a:latin typeface="Calibri"/>
              </a:rPr>
              <a:t>—  FHS (Filtered Historical Simulation) : on combine sigma_t (dynamique, GARCH) avec le pool de résidus standardisés du train, rééchantillonné par bootstrap pour obtenir la VaR (BHS).</a:t>
            </a:r>
          </a:p>
          <a:p>
            <a:pPr>
              <a:lnSpc>
                <a:spcPct val="108000"/>
              </a:lnSpc>
              <a:spcAft>
                <a:spcPts val="800"/>
              </a:spcAft>
            </a:pPr>
            <a:r>
              <a:rPr sz="1350">
                <a:solidFill>
                  <a:srgbClr val="1B2430"/>
                </a:solidFill>
                <a:latin typeface="Calibri"/>
              </a:rPr>
              <a:t>—  Contrairement à une hypothèse gaussienne, FHS conserve la forme empirique (asymétrie, queues épaisses) de la distribution des chocs -- pertinent sur des marchés MENA souvent non gaussiens.</a:t>
            </a:r>
          </a:p>
        </p:txBody>
      </p:sp>
      <p:pic>
        <p:nvPicPr>
          <p:cNvPr id="6" name="Picture 5" descr="deck_garch_var_tunindex.png"/>
          <p:cNvPicPr>
            <a:picLocks noChangeAspect="1"/>
          </p:cNvPicPr>
          <p:nvPr/>
        </p:nvPicPr>
        <p:blipFill>
          <a:blip r:embed="rId2"/>
          <a:stretch>
            <a:fillRect/>
          </a:stretch>
        </p:blipFill>
        <p:spPr>
          <a:xfrm>
            <a:off x="1463040" y="2880360"/>
            <a:ext cx="9235440" cy="2686673"/>
          </a:xfrm>
          <a:prstGeom prst="rect">
            <a:avLst/>
          </a:prstGeom>
          <a:ln w="12700">
            <a:solidFill>
              <a:srgbClr val="E7DCC3"/>
            </a:solidFill>
          </a:ln>
        </p:spPr>
      </p:pic>
      <p:sp>
        <p:nvSpPr>
          <p:cNvPr id="7" name="TextBox 6"/>
          <p:cNvSpPr txBox="1"/>
          <p:nvPr/>
        </p:nvSpPr>
        <p:spPr>
          <a:xfrm>
            <a:off x="1463040" y="5704193"/>
            <a:ext cx="9235440" cy="457200"/>
          </a:xfrm>
          <a:prstGeom prst="rect">
            <a:avLst/>
          </a:prstGeom>
          <a:noFill/>
        </p:spPr>
        <p:txBody>
          <a:bodyPr wrap="square" anchor="t" lIns="0" rIns="0" tIns="0" bIns="0">
            <a:spAutoFit/>
          </a:bodyPr>
          <a:lstStyle/>
          <a:p>
            <a:pPr algn="l">
              <a:lnSpc>
                <a:spcPct val="100000"/>
              </a:lnSpc>
            </a:pPr>
            <a:r>
              <a:rPr sz="1150" b="0" i="1">
                <a:solidFill>
                  <a:srgbClr val="0E2A3D"/>
                </a:solidFill>
                <a:latin typeface="Calibri"/>
              </a:rPr>
              <a:t>Tunindex, 99% : 2 violations observées sur la période test (1.3%) -- GARCH est le modèle gagnant sur Tunindex, ADI et MASI (3/4 indices MENA).</a:t>
            </a:r>
          </a:p>
        </p:txBody>
      </p:sp>
      <p:sp>
        <p:nvSpPr>
          <p:cNvPr id="8" name="TextBox 7"/>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9" name="TextBox 8"/>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16/31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16</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MACHINE LEARNING</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Features (lags) et Random Forest</a:t>
            </a:r>
          </a:p>
        </p:txBody>
      </p:sp>
      <p:sp>
        <p:nvSpPr>
          <p:cNvPr id="5" name="TextBox 4"/>
          <p:cNvSpPr txBox="1"/>
          <p:nvPr/>
        </p:nvSpPr>
        <p:spPr>
          <a:xfrm>
            <a:off x="548640" y="1600200"/>
            <a:ext cx="5669280" cy="4206240"/>
          </a:xfrm>
          <a:prstGeom prst="rect">
            <a:avLst/>
          </a:prstGeom>
          <a:noFill/>
        </p:spPr>
        <p:txBody>
          <a:bodyPr wrap="square" anchor="t" lIns="0" rIns="0" tIns="0" bIns="0">
            <a:spAutoFit/>
          </a:bodyPr>
          <a:lstStyle/>
          <a:p>
            <a:pPr>
              <a:lnSpc>
                <a:spcPct val="108000"/>
              </a:lnSpc>
              <a:spcAft>
                <a:spcPts val="800"/>
              </a:spcAft>
            </a:pPr>
            <a:r>
              <a:rPr sz="1350">
                <a:solidFill>
                  <a:srgbClr val="1B2430"/>
                </a:solidFill>
                <a:latin typeface="Calibri"/>
              </a:rPr>
              <a:t>—  Reformulation en apprentissage supervisé : les n_lags rendements passés (r_t-1, ..., r_t-n_lags) forment le vecteur de variables explicatives X_t, la cible y_t = r_t.</a:t>
            </a:r>
          </a:p>
          <a:p>
            <a:pPr>
              <a:lnSpc>
                <a:spcPct val="108000"/>
              </a:lnSpc>
              <a:spcAft>
                <a:spcPts val="800"/>
              </a:spcAft>
            </a:pPr>
            <a:r>
              <a:rPr sz="1350">
                <a:solidFill>
                  <a:srgbClr val="1B2430"/>
                </a:solidFill>
                <a:latin typeface="Calibri"/>
              </a:rPr>
              <a:t>—  Random Forest : ensemble d'arbres de décision entraînés sur des sous-échantillons bootstrap des lags, moyennés pour la prévision (réduit la variance vs un arbre unique).</a:t>
            </a:r>
          </a:p>
          <a:p>
            <a:pPr>
              <a:lnSpc>
                <a:spcPct val="108000"/>
              </a:lnSpc>
              <a:spcAft>
                <a:spcPts val="800"/>
              </a:spcAft>
            </a:pPr>
            <a:r>
              <a:rPr sz="1350">
                <a:solidFill>
                  <a:srgbClr val="1B2430"/>
                </a:solidFill>
                <a:latin typeface="Calibri"/>
              </a:rPr>
              <a:t>—  Entraîné UNE fois sur le train (n_lags=5), puis walk-forward sur le test en réinjectant le rendement réalisé (pas la prévision) dans la fenêtre de lags.</a:t>
            </a:r>
          </a:p>
          <a:p>
            <a:pPr>
              <a:lnSpc>
                <a:spcPct val="108000"/>
              </a:lnSpc>
              <a:spcAft>
                <a:spcPts val="800"/>
              </a:spcAft>
            </a:pPr>
            <a:r>
              <a:rPr sz="1350">
                <a:solidFill>
                  <a:srgbClr val="1B2430"/>
                </a:solidFill>
                <a:latin typeface="Calibri"/>
              </a:rPr>
              <a:t>—  sigma constant = écart-type des résidus d'entraînement, combiné à mu (prévision de l'arbre) pour la VaR BHS -- même interface que tous les autres modèles.</a:t>
            </a:r>
          </a:p>
          <a:p>
            <a:pPr>
              <a:lnSpc>
                <a:spcPct val="108000"/>
              </a:lnSpc>
              <a:spcAft>
                <a:spcPts val="800"/>
              </a:spcAft>
            </a:pPr>
            <a:r>
              <a:rPr sz="1350">
                <a:solidFill>
                  <a:srgbClr val="1B2430"/>
                </a:solidFill>
                <a:latin typeface="Calibri"/>
              </a:rPr>
              <a:t>—  Résultat empirique -- Random Forest est le modèle le plus FAIBLE du panel pour la VaR : il sur-viole systématiquement le seuil attendu (zone ROUGE Bâle sur les 4 indices MENA à 95%, et sur Tunindex/MASI/TASI à 99%).</a:t>
            </a:r>
          </a:p>
        </p:txBody>
      </p:sp>
      <p:sp>
        <p:nvSpPr>
          <p:cNvPr id="6" name="TextBox 5"/>
          <p:cNvSpPr txBox="1"/>
          <p:nvPr/>
        </p:nvSpPr>
        <p:spPr>
          <a:xfrm>
            <a:off x="7680960" y="1600200"/>
            <a:ext cx="3931920" cy="320040"/>
          </a:xfrm>
          <a:prstGeom prst="rect">
            <a:avLst/>
          </a:prstGeom>
          <a:noFill/>
        </p:spPr>
        <p:txBody>
          <a:bodyPr wrap="square" anchor="t" lIns="0" rIns="0" tIns="0" bIns="0">
            <a:spAutoFit/>
          </a:bodyPr>
          <a:lstStyle/>
          <a:p>
            <a:pPr algn="l">
              <a:lnSpc>
                <a:spcPct val="100000"/>
              </a:lnSpc>
            </a:pPr>
            <a:r>
              <a:rPr sz="1200" b="1" i="0">
                <a:solidFill>
                  <a:srgbClr val="0E2A3D"/>
                </a:solidFill>
                <a:latin typeface="Calibri"/>
              </a:rPr>
              <a:t>RF @ 99% -- taux de violation observé</a:t>
            </a:r>
          </a:p>
        </p:txBody>
      </p:sp>
      <p:graphicFrame>
        <p:nvGraphicFramePr>
          <p:cNvPr id="7" name="Table 6"/>
          <p:cNvGraphicFramePr>
            <a:graphicFrameLocks noGrp="1"/>
          </p:cNvGraphicFramePr>
          <p:nvPr/>
        </p:nvGraphicFramePr>
        <p:xfrm>
          <a:off x="7680960" y="1965960"/>
          <a:ext cx="3931920" cy="2011680"/>
        </p:xfrm>
        <a:graphic>
          <a:graphicData uri="http://schemas.openxmlformats.org/drawingml/2006/table">
            <a:tbl>
              <a:tblPr firstRow="1" bandRow="1">
                <a:tableStyleId>{5C22544A-7EE6-4342-B048-85BDC9FD1C3A}</a:tableStyleId>
              </a:tblPr>
              <a:tblGrid>
                <a:gridCol w="1554480"/>
                <a:gridCol w="1371600"/>
                <a:gridCol w="1005840"/>
              </a:tblGrid>
              <a:tr h="402336">
                <a:tc>
                  <a:txBody>
                    <a:bodyPr wrap="square"/>
                    <a:lstStyle/>
                    <a:p>
                      <a:pPr algn="ctr"/>
                      <a:r>
                        <a:rPr sz="1100" b="1">
                          <a:solidFill>
                            <a:srgbClr val="FFFFFF"/>
                          </a:solidFill>
                          <a:latin typeface="Calibri"/>
                        </a:rPr>
                        <a:t>Indice</a:t>
                      </a:r>
                    </a:p>
                  </a:txBody>
                  <a:tcPr marL="54864" marR="54864" marT="27432" marB="27432" anchor="ctr">
                    <a:solidFill>
                      <a:srgbClr val="0E2A3D"/>
                    </a:solidFill>
                  </a:tcPr>
                </a:tc>
                <a:tc>
                  <a:txBody>
                    <a:bodyPr wrap="square"/>
                    <a:lstStyle/>
                    <a:p>
                      <a:pPr algn="ctr"/>
                      <a:r>
                        <a:rPr sz="1100" b="1">
                          <a:solidFill>
                            <a:srgbClr val="FFFFFF"/>
                          </a:solidFill>
                          <a:latin typeface="Calibri"/>
                        </a:rPr>
                        <a:t>Taux observé</a:t>
                      </a:r>
                    </a:p>
                  </a:txBody>
                  <a:tcPr marL="54864" marR="54864" marT="27432" marB="27432" anchor="ctr">
                    <a:solidFill>
                      <a:srgbClr val="0E2A3D"/>
                    </a:solidFill>
                  </a:tcPr>
                </a:tc>
                <a:tc>
                  <a:txBody>
                    <a:bodyPr wrap="square"/>
                    <a:lstStyle/>
                    <a:p>
                      <a:pPr algn="ctr"/>
                      <a:r>
                        <a:rPr sz="1100" b="1">
                          <a:solidFill>
                            <a:srgbClr val="FFFFFF"/>
                          </a:solidFill>
                          <a:latin typeface="Calibri"/>
                        </a:rPr>
                        <a:t>Zone Bâle</a:t>
                      </a:r>
                    </a:p>
                  </a:txBody>
                  <a:tcPr marL="54864" marR="54864" marT="27432" marB="27432" anchor="ctr">
                    <a:solidFill>
                      <a:srgbClr val="0E2A3D"/>
                    </a:solidFill>
                  </a:tcPr>
                </a:tc>
              </a:tr>
              <a:tr h="402336">
                <a:tc>
                  <a:txBody>
                    <a:bodyPr wrap="square"/>
                    <a:lstStyle/>
                    <a:p>
                      <a:pPr algn="ctr"/>
                      <a:r>
                        <a:rPr sz="1100" b="0">
                          <a:solidFill>
                            <a:srgbClr val="1B2430"/>
                          </a:solidFill>
                          <a:latin typeface="Calibri"/>
                        </a:rPr>
                        <a:t>Tunindex</a:t>
                      </a:r>
                    </a:p>
                  </a:txBody>
                  <a:tcPr marL="54864" marR="54864" marT="27432" marB="27432" anchor="ctr">
                    <a:solidFill>
                      <a:srgbClr val="F3ECDD"/>
                    </a:solidFill>
                  </a:tcPr>
                </a:tc>
                <a:tc>
                  <a:txBody>
                    <a:bodyPr wrap="square"/>
                    <a:lstStyle/>
                    <a:p>
                      <a:pPr algn="ctr"/>
                      <a:r>
                        <a:rPr sz="1100" b="0">
                          <a:solidFill>
                            <a:srgbClr val="1B2430"/>
                          </a:solidFill>
                          <a:latin typeface="Calibri"/>
                        </a:rPr>
                        <a:t>6.29%</a:t>
                      </a:r>
                    </a:p>
                  </a:txBody>
                  <a:tcPr marL="54864" marR="54864" marT="27432" marB="27432" anchor="ctr">
                    <a:solidFill>
                      <a:srgbClr val="F3ECDD"/>
                    </a:solidFill>
                  </a:tcPr>
                </a:tc>
                <a:tc>
                  <a:txBody>
                    <a:bodyPr wrap="square"/>
                    <a:lstStyle/>
                    <a:p>
                      <a:pPr algn="ctr"/>
                      <a:r>
                        <a:rPr sz="1100" b="0">
                          <a:solidFill>
                            <a:srgbClr val="1B2430"/>
                          </a:solidFill>
                          <a:latin typeface="Calibri"/>
                        </a:rPr>
                        <a:t>RED</a:t>
                      </a:r>
                    </a:p>
                  </a:txBody>
                  <a:tcPr marL="54864" marR="54864" marT="27432" marB="27432" anchor="ctr">
                    <a:solidFill>
                      <a:srgbClr val="AE392F"/>
                    </a:solidFill>
                  </a:tcPr>
                </a:tc>
              </a:tr>
              <a:tr h="402336">
                <a:tc>
                  <a:txBody>
                    <a:bodyPr wrap="square"/>
                    <a:lstStyle/>
                    <a:p>
                      <a:pPr algn="ctr"/>
                      <a:r>
                        <a:rPr sz="1100" b="0">
                          <a:solidFill>
                            <a:srgbClr val="1B2430"/>
                          </a:solidFill>
                          <a:latin typeface="Calibri"/>
                        </a:rPr>
                        <a:t>ADI</a:t>
                      </a:r>
                    </a:p>
                  </a:txBody>
                  <a:tcPr marL="54864" marR="54864" marT="27432" marB="27432" anchor="ctr">
                    <a:solidFill>
                      <a:srgbClr val="FBF8F1"/>
                    </a:solidFill>
                  </a:tcPr>
                </a:tc>
                <a:tc>
                  <a:txBody>
                    <a:bodyPr wrap="square"/>
                    <a:lstStyle/>
                    <a:p>
                      <a:pPr algn="ctr"/>
                      <a:r>
                        <a:rPr sz="1100" b="0">
                          <a:solidFill>
                            <a:srgbClr val="1B2430"/>
                          </a:solidFill>
                          <a:latin typeface="Calibri"/>
                        </a:rPr>
                        <a:t>3.53%</a:t>
                      </a:r>
                    </a:p>
                  </a:txBody>
                  <a:tcPr marL="54864" marR="54864" marT="27432" marB="27432" anchor="ctr">
                    <a:solidFill>
                      <a:srgbClr val="FBF8F1"/>
                    </a:solidFill>
                  </a:tcPr>
                </a:tc>
                <a:tc>
                  <a:txBody>
                    <a:bodyPr wrap="square"/>
                    <a:lstStyle/>
                    <a:p>
                      <a:pPr algn="ctr"/>
                      <a:r>
                        <a:rPr sz="1100" b="0">
                          <a:solidFill>
                            <a:srgbClr val="1B2430"/>
                          </a:solidFill>
                          <a:latin typeface="Calibri"/>
                        </a:rPr>
                        <a:t>YELLOW</a:t>
                      </a:r>
                    </a:p>
                  </a:txBody>
                  <a:tcPr marL="54864" marR="54864" marT="27432" marB="27432" anchor="ctr">
                    <a:solidFill>
                      <a:srgbClr val="C88A1E"/>
                    </a:solidFill>
                  </a:tcPr>
                </a:tc>
              </a:tr>
              <a:tr h="402336">
                <a:tc>
                  <a:txBody>
                    <a:bodyPr wrap="square"/>
                    <a:lstStyle/>
                    <a:p>
                      <a:pPr algn="ctr"/>
                      <a:r>
                        <a:rPr sz="1100" b="0">
                          <a:solidFill>
                            <a:srgbClr val="1B2430"/>
                          </a:solidFill>
                          <a:latin typeface="Calibri"/>
                        </a:rPr>
                        <a:t>MASI</a:t>
                      </a:r>
                    </a:p>
                  </a:txBody>
                  <a:tcPr marL="54864" marR="54864" marT="27432" marB="27432" anchor="ctr">
                    <a:solidFill>
                      <a:srgbClr val="F3ECDD"/>
                    </a:solidFill>
                  </a:tcPr>
                </a:tc>
                <a:tc>
                  <a:txBody>
                    <a:bodyPr wrap="square"/>
                    <a:lstStyle/>
                    <a:p>
                      <a:pPr algn="ctr"/>
                      <a:r>
                        <a:rPr sz="1100" b="0">
                          <a:solidFill>
                            <a:srgbClr val="1B2430"/>
                          </a:solidFill>
                          <a:latin typeface="Calibri"/>
                        </a:rPr>
                        <a:t>4.40%</a:t>
                      </a:r>
                    </a:p>
                  </a:txBody>
                  <a:tcPr marL="54864" marR="54864" marT="27432" marB="27432" anchor="ctr">
                    <a:solidFill>
                      <a:srgbClr val="F3ECDD"/>
                    </a:solidFill>
                  </a:tcPr>
                </a:tc>
                <a:tc>
                  <a:txBody>
                    <a:bodyPr wrap="square"/>
                    <a:lstStyle/>
                    <a:p>
                      <a:pPr algn="ctr"/>
                      <a:r>
                        <a:rPr sz="1100" b="0">
                          <a:solidFill>
                            <a:srgbClr val="1B2430"/>
                          </a:solidFill>
                          <a:latin typeface="Calibri"/>
                        </a:rPr>
                        <a:t>RED</a:t>
                      </a:r>
                    </a:p>
                  </a:txBody>
                  <a:tcPr marL="54864" marR="54864" marT="27432" marB="27432" anchor="ctr">
                    <a:solidFill>
                      <a:srgbClr val="AE392F"/>
                    </a:solidFill>
                  </a:tcPr>
                </a:tc>
              </a:tr>
              <a:tr h="402336">
                <a:tc>
                  <a:txBody>
                    <a:bodyPr wrap="square"/>
                    <a:lstStyle/>
                    <a:p>
                      <a:pPr algn="ctr"/>
                      <a:r>
                        <a:rPr sz="1100" b="0">
                          <a:solidFill>
                            <a:srgbClr val="1B2430"/>
                          </a:solidFill>
                          <a:latin typeface="Calibri"/>
                        </a:rPr>
                        <a:t>TASI</a:t>
                      </a:r>
                    </a:p>
                  </a:txBody>
                  <a:tcPr marL="54864" marR="54864" marT="27432" marB="27432" anchor="ctr">
                    <a:solidFill>
                      <a:srgbClr val="FBF8F1"/>
                    </a:solidFill>
                  </a:tcPr>
                </a:tc>
                <a:tc>
                  <a:txBody>
                    <a:bodyPr wrap="square"/>
                    <a:lstStyle/>
                    <a:p>
                      <a:pPr algn="ctr"/>
                      <a:r>
                        <a:rPr sz="1100" b="0">
                          <a:solidFill>
                            <a:srgbClr val="1B2430"/>
                          </a:solidFill>
                          <a:latin typeface="Calibri"/>
                        </a:rPr>
                        <a:t>4.79%</a:t>
                      </a:r>
                    </a:p>
                  </a:txBody>
                  <a:tcPr marL="54864" marR="54864" marT="27432" marB="27432" anchor="ctr">
                    <a:solidFill>
                      <a:srgbClr val="FBF8F1"/>
                    </a:solidFill>
                  </a:tcPr>
                </a:tc>
                <a:tc>
                  <a:txBody>
                    <a:bodyPr wrap="square"/>
                    <a:lstStyle/>
                    <a:p>
                      <a:pPr algn="ctr"/>
                      <a:r>
                        <a:rPr sz="1100" b="0">
                          <a:solidFill>
                            <a:srgbClr val="1B2430"/>
                          </a:solidFill>
                          <a:latin typeface="Calibri"/>
                        </a:rPr>
                        <a:t>RED</a:t>
                      </a:r>
                    </a:p>
                  </a:txBody>
                  <a:tcPr marL="54864" marR="54864" marT="27432" marB="27432" anchor="ctr">
                    <a:solidFill>
                      <a:srgbClr val="AE392F"/>
                    </a:solidFill>
                  </a:tcPr>
                </a:tc>
              </a:tr>
            </a:tbl>
          </a:graphicData>
        </a:graphic>
      </p:graphicFrame>
      <p:sp>
        <p:nvSpPr>
          <p:cNvPr id="8" name="TextBox 7"/>
          <p:cNvSpPr txBox="1"/>
          <p:nvPr/>
        </p:nvSpPr>
        <p:spPr>
          <a:xfrm>
            <a:off x="7680960" y="4206240"/>
            <a:ext cx="3931920" cy="1645920"/>
          </a:xfrm>
          <a:prstGeom prst="rect">
            <a:avLst/>
          </a:prstGeom>
          <a:noFill/>
        </p:spPr>
        <p:txBody>
          <a:bodyPr wrap="square" anchor="t" lIns="0" rIns="0" tIns="0" bIns="0">
            <a:spAutoFit/>
          </a:bodyPr>
          <a:lstStyle/>
          <a:p>
            <a:pPr algn="l">
              <a:lnSpc>
                <a:spcPct val="100000"/>
              </a:lnSpc>
            </a:pPr>
            <a:r>
              <a:rPr sz="1200" b="0" i="1">
                <a:solidFill>
                  <a:srgbClr val="AE392F"/>
                </a:solidFill>
                <a:latin typeface="Calibri"/>
              </a:rPr>
              <a:t>Cible attendue : ~1%. Les taux observés (3.5-6.3%, et jusqu'à 22% à 95%) sont très supérieurs -- Random Forest sous-estime largement le risque de queue.</a:t>
            </a:r>
          </a:p>
        </p:txBody>
      </p:sp>
      <p:sp>
        <p:nvSpPr>
          <p:cNvPr id="9" name="TextBox 8"/>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10" name="TextBox 9"/>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17/31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17</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MACHINE LEARNING</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XGBoost : boosting de gradient</a:t>
            </a:r>
          </a:p>
        </p:txBody>
      </p:sp>
      <p:sp>
        <p:nvSpPr>
          <p:cNvPr id="5" name="TextBox 4"/>
          <p:cNvSpPr txBox="1"/>
          <p:nvPr/>
        </p:nvSpPr>
        <p:spPr>
          <a:xfrm>
            <a:off x="548640" y="1600200"/>
            <a:ext cx="5852160" cy="4206240"/>
          </a:xfrm>
          <a:prstGeom prst="rect">
            <a:avLst/>
          </a:prstGeom>
          <a:noFill/>
        </p:spPr>
        <p:txBody>
          <a:bodyPr wrap="square" anchor="t" lIns="0" rIns="0" tIns="0" bIns="0">
            <a:spAutoFit/>
          </a:bodyPr>
          <a:lstStyle/>
          <a:p>
            <a:pPr>
              <a:lnSpc>
                <a:spcPct val="108000"/>
              </a:lnSpc>
              <a:spcAft>
                <a:spcPts val="800"/>
              </a:spcAft>
            </a:pPr>
            <a:r>
              <a:rPr sz="1400">
                <a:solidFill>
                  <a:srgbClr val="1B2430"/>
                </a:solidFill>
                <a:latin typeface="Calibri"/>
              </a:rPr>
              <a:t>—  XGBoost construit ses arbres SÉQUENTIELLEMENT : chaque nouvel arbre corrige les erreurs (résidus) des arbres précédents (boosting de gradient), contrairement à RF (arbres indépendants, moyennés).</a:t>
            </a:r>
          </a:p>
          <a:p>
            <a:pPr>
              <a:lnSpc>
                <a:spcPct val="108000"/>
              </a:lnSpc>
              <a:spcAft>
                <a:spcPts val="800"/>
              </a:spcAft>
            </a:pPr>
            <a:r>
              <a:rPr sz="1400">
                <a:solidFill>
                  <a:srgbClr val="1B2430"/>
                </a:solidFill>
                <a:latin typeface="Calibri"/>
              </a:rPr>
              <a:t>—  Hyperparamètres utilisés ici : 300 arbres, profondeur max 4, taux d'apprentissage 0.05 -- réglages volontairement conservateurs pour limiter le sur-apprentissage sur des rendements bruités.</a:t>
            </a:r>
          </a:p>
          <a:p>
            <a:pPr>
              <a:lnSpc>
                <a:spcPct val="108000"/>
              </a:lnSpc>
              <a:spcAft>
                <a:spcPts val="800"/>
              </a:spcAft>
            </a:pPr>
            <a:r>
              <a:rPr sz="1400">
                <a:solidFill>
                  <a:srgbClr val="1B2430"/>
                </a:solidFill>
                <a:latin typeface="Calibri"/>
              </a:rPr>
              <a:t>—  Même protocole que RF : entraînement UNE fois sur le train (n_lags=5), walk-forward avec réinjection du rendement réalisé, sigma constant + mu prédit -&gt; VaR BHS.</a:t>
            </a:r>
          </a:p>
          <a:p>
            <a:pPr>
              <a:lnSpc>
                <a:spcPct val="108000"/>
              </a:lnSpc>
              <a:spcAft>
                <a:spcPts val="800"/>
              </a:spcAft>
            </a:pPr>
            <a:r>
              <a:rPr sz="1400">
                <a:solidFill>
                  <a:srgbClr val="1B2430"/>
                </a:solidFill>
                <a:latin typeface="Calibri"/>
              </a:rPr>
              <a:t>—  Résultat empirique : XGBoost se comporte nettement MIEUX que Random Forest -- moins de sur-violations -- mais reste en général derrière ARIMA/GARCH/ANN (zones vertes/jaunes selon l'indice), sans remporter de titre de meilleur modèle sur un indice MENA.</a:t>
            </a:r>
          </a:p>
        </p:txBody>
      </p:sp>
      <p:sp>
        <p:nvSpPr>
          <p:cNvPr id="6" name="TextBox 5"/>
          <p:cNvSpPr txBox="1"/>
          <p:nvPr/>
        </p:nvSpPr>
        <p:spPr>
          <a:xfrm>
            <a:off x="7680960" y="1600200"/>
            <a:ext cx="3931920" cy="320040"/>
          </a:xfrm>
          <a:prstGeom prst="rect">
            <a:avLst/>
          </a:prstGeom>
          <a:noFill/>
        </p:spPr>
        <p:txBody>
          <a:bodyPr wrap="square" anchor="t" lIns="0" rIns="0" tIns="0" bIns="0">
            <a:spAutoFit/>
          </a:bodyPr>
          <a:lstStyle/>
          <a:p>
            <a:pPr algn="l">
              <a:lnSpc>
                <a:spcPct val="100000"/>
              </a:lnSpc>
            </a:pPr>
            <a:r>
              <a:rPr sz="1200" b="1" i="0">
                <a:solidFill>
                  <a:srgbClr val="0E2A3D"/>
                </a:solidFill>
                <a:latin typeface="Calibri"/>
              </a:rPr>
              <a:t>XGB @ 99% -- taux de violation observé</a:t>
            </a:r>
          </a:p>
        </p:txBody>
      </p:sp>
      <p:graphicFrame>
        <p:nvGraphicFramePr>
          <p:cNvPr id="7" name="Table 6"/>
          <p:cNvGraphicFramePr>
            <a:graphicFrameLocks noGrp="1"/>
          </p:cNvGraphicFramePr>
          <p:nvPr/>
        </p:nvGraphicFramePr>
        <p:xfrm>
          <a:off x="7680960" y="1965960"/>
          <a:ext cx="3931920" cy="2011680"/>
        </p:xfrm>
        <a:graphic>
          <a:graphicData uri="http://schemas.openxmlformats.org/drawingml/2006/table">
            <a:tbl>
              <a:tblPr firstRow="1" bandRow="1">
                <a:tableStyleId>{5C22544A-7EE6-4342-B048-85BDC9FD1C3A}</a:tableStyleId>
              </a:tblPr>
              <a:tblGrid>
                <a:gridCol w="1554480"/>
                <a:gridCol w="1371600"/>
                <a:gridCol w="1005840"/>
              </a:tblGrid>
              <a:tr h="402336">
                <a:tc>
                  <a:txBody>
                    <a:bodyPr wrap="square"/>
                    <a:lstStyle/>
                    <a:p>
                      <a:pPr algn="ctr"/>
                      <a:r>
                        <a:rPr sz="1100" b="1">
                          <a:solidFill>
                            <a:srgbClr val="FFFFFF"/>
                          </a:solidFill>
                          <a:latin typeface="Calibri"/>
                        </a:rPr>
                        <a:t>Indice</a:t>
                      </a:r>
                    </a:p>
                  </a:txBody>
                  <a:tcPr marL="54864" marR="54864" marT="27432" marB="27432" anchor="ctr">
                    <a:solidFill>
                      <a:srgbClr val="0E2A3D"/>
                    </a:solidFill>
                  </a:tcPr>
                </a:tc>
                <a:tc>
                  <a:txBody>
                    <a:bodyPr wrap="square"/>
                    <a:lstStyle/>
                    <a:p>
                      <a:pPr algn="ctr"/>
                      <a:r>
                        <a:rPr sz="1100" b="1">
                          <a:solidFill>
                            <a:srgbClr val="FFFFFF"/>
                          </a:solidFill>
                          <a:latin typeface="Calibri"/>
                        </a:rPr>
                        <a:t>Taux observé</a:t>
                      </a:r>
                    </a:p>
                  </a:txBody>
                  <a:tcPr marL="54864" marR="54864" marT="27432" marB="27432" anchor="ctr">
                    <a:solidFill>
                      <a:srgbClr val="0E2A3D"/>
                    </a:solidFill>
                  </a:tcPr>
                </a:tc>
                <a:tc>
                  <a:txBody>
                    <a:bodyPr wrap="square"/>
                    <a:lstStyle/>
                    <a:p>
                      <a:pPr algn="ctr"/>
                      <a:r>
                        <a:rPr sz="1100" b="1">
                          <a:solidFill>
                            <a:srgbClr val="FFFFFF"/>
                          </a:solidFill>
                          <a:latin typeface="Calibri"/>
                        </a:rPr>
                        <a:t>Zone Bâle</a:t>
                      </a:r>
                    </a:p>
                  </a:txBody>
                  <a:tcPr marL="54864" marR="54864" marT="27432" marB="27432" anchor="ctr">
                    <a:solidFill>
                      <a:srgbClr val="0E2A3D"/>
                    </a:solidFill>
                  </a:tcPr>
                </a:tc>
              </a:tr>
              <a:tr h="402336">
                <a:tc>
                  <a:txBody>
                    <a:bodyPr wrap="square"/>
                    <a:lstStyle/>
                    <a:p>
                      <a:pPr algn="ctr"/>
                      <a:r>
                        <a:rPr sz="1100" b="0">
                          <a:solidFill>
                            <a:srgbClr val="1B2430"/>
                          </a:solidFill>
                          <a:latin typeface="Calibri"/>
                        </a:rPr>
                        <a:t>Tunindex</a:t>
                      </a:r>
                    </a:p>
                  </a:txBody>
                  <a:tcPr marL="54864" marR="54864" marT="27432" marB="27432" anchor="ctr">
                    <a:solidFill>
                      <a:srgbClr val="F3ECDD"/>
                    </a:solidFill>
                  </a:tcPr>
                </a:tc>
                <a:tc>
                  <a:txBody>
                    <a:bodyPr wrap="square"/>
                    <a:lstStyle/>
                    <a:p>
                      <a:pPr algn="ctr"/>
                      <a:r>
                        <a:rPr sz="1100" b="0">
                          <a:solidFill>
                            <a:srgbClr val="1B2430"/>
                          </a:solidFill>
                          <a:latin typeface="Calibri"/>
                        </a:rPr>
                        <a:t>1.89%</a:t>
                      </a:r>
                    </a:p>
                  </a:txBody>
                  <a:tcPr marL="54864" marR="54864" marT="27432" marB="27432" anchor="ctr">
                    <a:solidFill>
                      <a:srgbClr val="F3ECDD"/>
                    </a:solidFill>
                  </a:tcPr>
                </a:tc>
                <a:tc>
                  <a:txBody>
                    <a:bodyPr wrap="square"/>
                    <a:lstStyle/>
                    <a:p>
                      <a:pPr algn="ctr"/>
                      <a:r>
                        <a:rPr sz="1100" b="0">
                          <a:solidFill>
                            <a:srgbClr val="1B2430"/>
                          </a:solidFill>
                          <a:latin typeface="Calibri"/>
                        </a:rPr>
                        <a:t>YELLOW</a:t>
                      </a:r>
                    </a:p>
                  </a:txBody>
                  <a:tcPr marL="54864" marR="54864" marT="27432" marB="27432" anchor="ctr">
                    <a:solidFill>
                      <a:srgbClr val="C88A1E"/>
                    </a:solidFill>
                  </a:tcPr>
                </a:tc>
              </a:tr>
              <a:tr h="402336">
                <a:tc>
                  <a:txBody>
                    <a:bodyPr wrap="square"/>
                    <a:lstStyle/>
                    <a:p>
                      <a:pPr algn="ctr"/>
                      <a:r>
                        <a:rPr sz="1100" b="0">
                          <a:solidFill>
                            <a:srgbClr val="1B2430"/>
                          </a:solidFill>
                          <a:latin typeface="Calibri"/>
                        </a:rPr>
                        <a:t>ADI</a:t>
                      </a:r>
                    </a:p>
                  </a:txBody>
                  <a:tcPr marL="54864" marR="54864" marT="27432" marB="27432" anchor="ctr">
                    <a:solidFill>
                      <a:srgbClr val="FBF8F1"/>
                    </a:solidFill>
                  </a:tcPr>
                </a:tc>
                <a:tc>
                  <a:txBody>
                    <a:bodyPr wrap="square"/>
                    <a:lstStyle/>
                    <a:p>
                      <a:pPr algn="ctr"/>
                      <a:r>
                        <a:rPr sz="1100" b="0">
                          <a:solidFill>
                            <a:srgbClr val="1B2430"/>
                          </a:solidFill>
                          <a:latin typeface="Calibri"/>
                        </a:rPr>
                        <a:t>0.59%</a:t>
                      </a:r>
                    </a:p>
                  </a:txBody>
                  <a:tcPr marL="54864" marR="54864" marT="27432" marB="27432" anchor="ctr">
                    <a:solidFill>
                      <a:srgbClr val="FBF8F1"/>
                    </a:solidFill>
                  </a:tcPr>
                </a:tc>
                <a:tc>
                  <a:txBody>
                    <a:bodyPr wrap="square"/>
                    <a:lstStyle/>
                    <a:p>
                      <a:pPr algn="ctr"/>
                      <a:r>
                        <a:rPr sz="1100" b="0">
                          <a:solidFill>
                            <a:srgbClr val="1B2430"/>
                          </a:solidFill>
                          <a:latin typeface="Calibri"/>
                        </a:rPr>
                        <a:t>GREEN</a:t>
                      </a:r>
                    </a:p>
                  </a:txBody>
                  <a:tcPr marL="54864" marR="54864" marT="27432" marB="27432" anchor="ctr">
                    <a:solidFill>
                      <a:srgbClr val="2E7D46"/>
                    </a:solidFill>
                  </a:tcPr>
                </a:tc>
              </a:tr>
              <a:tr h="402336">
                <a:tc>
                  <a:txBody>
                    <a:bodyPr wrap="square"/>
                    <a:lstStyle/>
                    <a:p>
                      <a:pPr algn="ctr"/>
                      <a:r>
                        <a:rPr sz="1100" b="0">
                          <a:solidFill>
                            <a:srgbClr val="1B2430"/>
                          </a:solidFill>
                          <a:latin typeface="Calibri"/>
                        </a:rPr>
                        <a:t>MASI</a:t>
                      </a:r>
                    </a:p>
                  </a:txBody>
                  <a:tcPr marL="54864" marR="54864" marT="27432" marB="27432" anchor="ctr">
                    <a:solidFill>
                      <a:srgbClr val="F3ECDD"/>
                    </a:solidFill>
                  </a:tcPr>
                </a:tc>
                <a:tc>
                  <a:txBody>
                    <a:bodyPr wrap="square"/>
                    <a:lstStyle/>
                    <a:p>
                      <a:pPr algn="ctr"/>
                      <a:r>
                        <a:rPr sz="1100" b="0">
                          <a:solidFill>
                            <a:srgbClr val="1B2430"/>
                          </a:solidFill>
                          <a:latin typeface="Calibri"/>
                        </a:rPr>
                        <a:t>0.63%</a:t>
                      </a:r>
                    </a:p>
                  </a:txBody>
                  <a:tcPr marL="54864" marR="54864" marT="27432" marB="27432" anchor="ctr">
                    <a:solidFill>
                      <a:srgbClr val="F3ECDD"/>
                    </a:solidFill>
                  </a:tcPr>
                </a:tc>
                <a:tc>
                  <a:txBody>
                    <a:bodyPr wrap="square"/>
                    <a:lstStyle/>
                    <a:p>
                      <a:pPr algn="ctr"/>
                      <a:r>
                        <a:rPr sz="1100" b="0">
                          <a:solidFill>
                            <a:srgbClr val="1B2430"/>
                          </a:solidFill>
                          <a:latin typeface="Calibri"/>
                        </a:rPr>
                        <a:t>GREEN</a:t>
                      </a:r>
                    </a:p>
                  </a:txBody>
                  <a:tcPr marL="54864" marR="54864" marT="27432" marB="27432" anchor="ctr">
                    <a:solidFill>
                      <a:srgbClr val="2E7D46"/>
                    </a:solidFill>
                  </a:tcPr>
                </a:tc>
              </a:tr>
              <a:tr h="402336">
                <a:tc>
                  <a:txBody>
                    <a:bodyPr wrap="square"/>
                    <a:lstStyle/>
                    <a:p>
                      <a:pPr algn="ctr"/>
                      <a:r>
                        <a:rPr sz="1100" b="0">
                          <a:solidFill>
                            <a:srgbClr val="1B2430"/>
                          </a:solidFill>
                          <a:latin typeface="Calibri"/>
                        </a:rPr>
                        <a:t>TASI</a:t>
                      </a:r>
                    </a:p>
                  </a:txBody>
                  <a:tcPr marL="54864" marR="54864" marT="27432" marB="27432" anchor="ctr">
                    <a:solidFill>
                      <a:srgbClr val="FBF8F1"/>
                    </a:solidFill>
                  </a:tcPr>
                </a:tc>
                <a:tc>
                  <a:txBody>
                    <a:bodyPr wrap="square"/>
                    <a:lstStyle/>
                    <a:p>
                      <a:pPr algn="ctr"/>
                      <a:r>
                        <a:rPr sz="1100" b="0">
                          <a:solidFill>
                            <a:srgbClr val="1B2430"/>
                          </a:solidFill>
                          <a:latin typeface="Calibri"/>
                        </a:rPr>
                        <a:t>1.80%</a:t>
                      </a:r>
                    </a:p>
                  </a:txBody>
                  <a:tcPr marL="54864" marR="54864" marT="27432" marB="27432" anchor="ctr">
                    <a:solidFill>
                      <a:srgbClr val="FBF8F1"/>
                    </a:solidFill>
                  </a:tcPr>
                </a:tc>
                <a:tc>
                  <a:txBody>
                    <a:bodyPr wrap="square"/>
                    <a:lstStyle/>
                    <a:p>
                      <a:pPr algn="ctr"/>
                      <a:r>
                        <a:rPr sz="1100" b="0">
                          <a:solidFill>
                            <a:srgbClr val="1B2430"/>
                          </a:solidFill>
                          <a:latin typeface="Calibri"/>
                        </a:rPr>
                        <a:t>YELLOW</a:t>
                      </a:r>
                    </a:p>
                  </a:txBody>
                  <a:tcPr marL="54864" marR="54864" marT="27432" marB="27432" anchor="ctr">
                    <a:solidFill>
                      <a:srgbClr val="C88A1E"/>
                    </a:solidFill>
                  </a:tcPr>
                </a:tc>
              </a:tr>
            </a:tbl>
          </a:graphicData>
        </a:graphic>
      </p:graphicFrame>
      <p:sp>
        <p:nvSpPr>
          <p:cNvPr id="8" name="TextBox 7"/>
          <p:cNvSpPr txBox="1"/>
          <p:nvPr/>
        </p:nvSpPr>
        <p:spPr>
          <a:xfrm>
            <a:off x="7680960" y="4206240"/>
            <a:ext cx="3931920" cy="1645920"/>
          </a:xfrm>
          <a:prstGeom prst="rect">
            <a:avLst/>
          </a:prstGeom>
          <a:noFill/>
        </p:spPr>
        <p:txBody>
          <a:bodyPr wrap="square" anchor="t" lIns="0" rIns="0" tIns="0" bIns="0">
            <a:spAutoFit/>
          </a:bodyPr>
          <a:lstStyle/>
          <a:p>
            <a:pPr algn="l">
              <a:lnSpc>
                <a:spcPct val="100000"/>
              </a:lnSpc>
            </a:pPr>
            <a:r>
              <a:rPr sz="1200" b="0" i="1">
                <a:solidFill>
                  <a:srgbClr val="0E2A3D"/>
                </a:solidFill>
                <a:latin typeface="Calibri"/>
              </a:rPr>
              <a:t>Comparé à RF : violations bien plus proches de la cible de 1% -- le boosting régularisé (profondeur faible, learning rate bas) limite le sur-apprentissage sur le bruit des rendements.</a:t>
            </a:r>
          </a:p>
        </p:txBody>
      </p:sp>
      <p:sp>
        <p:nvSpPr>
          <p:cNvPr id="9" name="TextBox 8"/>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10" name="TextBox 9"/>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18/31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18</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DEEP LEARNING</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ANN : le perceptron multicouche</a:t>
            </a:r>
          </a:p>
        </p:txBody>
      </p:sp>
      <p:sp>
        <p:nvSpPr>
          <p:cNvPr id="5" name="TextBox 4"/>
          <p:cNvSpPr txBox="1"/>
          <p:nvPr/>
        </p:nvSpPr>
        <p:spPr>
          <a:xfrm>
            <a:off x="548640" y="1600200"/>
            <a:ext cx="5852160" cy="4206240"/>
          </a:xfrm>
          <a:prstGeom prst="rect">
            <a:avLst/>
          </a:prstGeom>
          <a:noFill/>
        </p:spPr>
        <p:txBody>
          <a:bodyPr wrap="square" anchor="t" lIns="0" rIns="0" tIns="0" bIns="0">
            <a:spAutoFit/>
          </a:bodyPr>
          <a:lstStyle/>
          <a:p>
            <a:pPr>
              <a:lnSpc>
                <a:spcPct val="108000"/>
              </a:lnSpc>
              <a:spcAft>
                <a:spcPts val="800"/>
              </a:spcAft>
            </a:pPr>
            <a:r>
              <a:rPr sz="1350">
                <a:solidFill>
                  <a:srgbClr val="1B2430"/>
                </a:solidFill>
                <a:latin typeface="Calibri"/>
              </a:rPr>
              <a:t>—  Architecture : couche d'entrée de largeur = fenêtre (10 rendements standardisés), puis 32 -&gt; 16 -&gt; 1 neurones avec activations ReLU (perceptron multicouche, feedforward).</a:t>
            </a:r>
          </a:p>
          <a:p>
            <a:pPr>
              <a:lnSpc>
                <a:spcPct val="108000"/>
              </a:lnSpc>
              <a:spcAft>
                <a:spcPts val="800"/>
              </a:spcAft>
            </a:pPr>
            <a:r>
              <a:rPr sz="1350">
                <a:solidFill>
                  <a:srgbClr val="1B2430"/>
                </a:solidFill>
                <a:latin typeface="Calibri"/>
              </a:rPr>
              <a:t>—  Les rendements sont standardisés (z = (r - mu_train) / sigma_train) avant d'entrer dans le réseau -- pratique standard en Deep Learning pour stabiliser l'apprentissage.</a:t>
            </a:r>
          </a:p>
          <a:p>
            <a:pPr>
              <a:lnSpc>
                <a:spcPct val="108000"/>
              </a:lnSpc>
              <a:spcAft>
                <a:spcPts val="800"/>
              </a:spcAft>
            </a:pPr>
            <a:r>
              <a:rPr sz="1350">
                <a:solidFill>
                  <a:srgbClr val="1B2430"/>
                </a:solidFill>
                <a:latin typeface="Calibri"/>
              </a:rPr>
              <a:t>—  Entraînement UNE fois sur le train (30 époques, optimiseur Adam, perte MSE) ; en walk-forward, le réseau reçoit la fenêtre des 10 DERNIERS rendements réalisés et prédit le rendement du jour suivant -- les poids ne sont jamais mis à jour sur le test.</a:t>
            </a:r>
          </a:p>
          <a:p>
            <a:pPr>
              <a:lnSpc>
                <a:spcPct val="108000"/>
              </a:lnSpc>
              <a:spcAft>
                <a:spcPts val="800"/>
              </a:spcAft>
            </a:pPr>
            <a:r>
              <a:rPr sz="1350">
                <a:solidFill>
                  <a:srgbClr val="1B2430"/>
                </a:solidFill>
                <a:latin typeface="Calibri"/>
              </a:rPr>
              <a:t>—  sigma = écart-type des résidus d'entraînement (converti en échelle de rendement) ; VaR calculée par BHS, strictement comparable aux 6 autres modèles.</a:t>
            </a:r>
          </a:p>
          <a:p>
            <a:pPr>
              <a:lnSpc>
                <a:spcPct val="108000"/>
              </a:lnSpc>
              <a:spcAft>
                <a:spcPts val="800"/>
              </a:spcAft>
            </a:pPr>
            <a:r>
              <a:rPr sz="1350">
                <a:solidFill>
                  <a:srgbClr val="1B2430"/>
                </a:solidFill>
                <a:latin typeface="Calibri"/>
              </a:rPr>
              <a:t>—  Résultat empirique : ANN est bien calibré (zone verte) sur la quasi-totalité des couples indice/alpha, avec des MAE/RMSE proches de ceux d'ARIMA/GARCH -- mais ne les surpasse pas nettement.</a:t>
            </a:r>
          </a:p>
        </p:txBody>
      </p:sp>
      <p:sp>
        <p:nvSpPr>
          <p:cNvPr id="6" name="Rectangle 5"/>
          <p:cNvSpPr/>
          <p:nvPr/>
        </p:nvSpPr>
        <p:spPr>
          <a:xfrm>
            <a:off x="7772400" y="1600200"/>
            <a:ext cx="3840480"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1783080"/>
            <a:ext cx="3383280" cy="36576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ARCHITECTURE ANN</a:t>
            </a:r>
          </a:p>
        </p:txBody>
      </p:sp>
      <p:sp>
        <p:nvSpPr>
          <p:cNvPr id="8" name="TextBox 7"/>
          <p:cNvSpPr txBox="1"/>
          <p:nvPr/>
        </p:nvSpPr>
        <p:spPr>
          <a:xfrm>
            <a:off x="8001000" y="2194560"/>
            <a:ext cx="3383280" cy="3383280"/>
          </a:xfrm>
          <a:prstGeom prst="rect">
            <a:avLst/>
          </a:prstGeom>
          <a:noFill/>
        </p:spPr>
        <p:txBody>
          <a:bodyPr wrap="square" anchor="ctr" lIns="0" rIns="0" tIns="0" bIns="0">
            <a:spAutoFit/>
          </a:bodyPr>
          <a:lstStyle/>
          <a:p>
            <a:pPr>
              <a:lnSpc>
                <a:spcPct val="108000"/>
              </a:lnSpc>
              <a:spcAft>
                <a:spcPts val="800"/>
              </a:spcAft>
            </a:pPr>
            <a:r>
              <a:rPr sz="1300">
                <a:solidFill>
                  <a:srgbClr val="1B2430"/>
                </a:solidFill>
                <a:latin typeface="Calibri"/>
              </a:rPr>
              <a:t>›  Entrée : 10 rendements standardisés (fenêtre glissante).</a:t>
            </a:r>
          </a:p>
          <a:p>
            <a:pPr>
              <a:lnSpc>
                <a:spcPct val="108000"/>
              </a:lnSpc>
              <a:spcAft>
                <a:spcPts val="800"/>
              </a:spcAft>
            </a:pPr>
            <a:r>
              <a:rPr sz="1300">
                <a:solidFill>
                  <a:srgbClr val="1B2430"/>
                </a:solidFill>
                <a:latin typeface="Calibri"/>
              </a:rPr>
              <a:t>›  Couche cachée 1 : 32 neurones, ReLU.</a:t>
            </a:r>
          </a:p>
          <a:p>
            <a:pPr>
              <a:lnSpc>
                <a:spcPct val="108000"/>
              </a:lnSpc>
              <a:spcAft>
                <a:spcPts val="800"/>
              </a:spcAft>
            </a:pPr>
            <a:r>
              <a:rPr sz="1300">
                <a:solidFill>
                  <a:srgbClr val="1B2430"/>
                </a:solidFill>
                <a:latin typeface="Calibri"/>
              </a:rPr>
              <a:t>›  Couche cachée 2 : 16 neurones, ReLU.</a:t>
            </a:r>
          </a:p>
          <a:p>
            <a:pPr>
              <a:lnSpc>
                <a:spcPct val="108000"/>
              </a:lnSpc>
              <a:spcAft>
                <a:spcPts val="800"/>
              </a:spcAft>
            </a:pPr>
            <a:r>
              <a:rPr sz="1300">
                <a:solidFill>
                  <a:srgbClr val="1B2430"/>
                </a:solidFill>
                <a:latin typeface="Calibri"/>
              </a:rPr>
              <a:t>›  Sortie : 1 neurone -- prévision du rendement du jour suivant.</a:t>
            </a:r>
          </a:p>
          <a:p>
            <a:pPr>
              <a:lnSpc>
                <a:spcPct val="108000"/>
              </a:lnSpc>
              <a:spcAft>
                <a:spcPts val="800"/>
              </a:spcAft>
            </a:pPr>
            <a:r>
              <a:rPr sz="1300">
                <a:solidFill>
                  <a:srgbClr val="1B2430"/>
                </a:solidFill>
                <a:latin typeface="Calibri"/>
              </a:rPr>
              <a:t>›  30 époques, Adam (lr=1e-3), perte MSE.</a:t>
            </a:r>
          </a:p>
        </p:txBody>
      </p:sp>
      <p:sp>
        <p:nvSpPr>
          <p:cNvPr id="9" name="TextBox 8"/>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10" name="TextBox 9"/>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19/31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19</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DEEP LEARNING</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LSTM : mémoire court/long terme</a:t>
            </a:r>
          </a:p>
        </p:txBody>
      </p:sp>
      <p:sp>
        <p:nvSpPr>
          <p:cNvPr id="5" name="TextBox 4"/>
          <p:cNvSpPr txBox="1"/>
          <p:nvPr/>
        </p:nvSpPr>
        <p:spPr>
          <a:xfrm>
            <a:off x="548640" y="1600200"/>
            <a:ext cx="5852160" cy="4297680"/>
          </a:xfrm>
          <a:prstGeom prst="rect">
            <a:avLst/>
          </a:prstGeom>
          <a:noFill/>
        </p:spPr>
        <p:txBody>
          <a:bodyPr wrap="square" anchor="t" lIns="0" rIns="0" tIns="0" bIns="0">
            <a:spAutoFit/>
          </a:bodyPr>
          <a:lstStyle/>
          <a:p>
            <a:pPr>
              <a:lnSpc>
                <a:spcPct val="108000"/>
              </a:lnSpc>
              <a:spcAft>
                <a:spcPts val="800"/>
              </a:spcAft>
            </a:pPr>
            <a:r>
              <a:rPr sz="1350">
                <a:solidFill>
                  <a:srgbClr val="1B2430"/>
                </a:solidFill>
                <a:latin typeface="Calibri"/>
              </a:rPr>
              <a:t>—  Le LSTM (Long Short-Term Memory) est un réseau récurrent conçu pour capter des DÉPENDANCES TEMPORELLES sur une séquence, au-delà d'une simple fenêtre de lags fixe.</a:t>
            </a:r>
          </a:p>
          <a:p>
            <a:pPr>
              <a:lnSpc>
                <a:spcPct val="108000"/>
              </a:lnSpc>
              <a:spcAft>
                <a:spcPts val="800"/>
              </a:spcAft>
            </a:pPr>
            <a:r>
              <a:rPr sz="1350">
                <a:solidFill>
                  <a:srgbClr val="1B2430"/>
                </a:solidFill>
                <a:latin typeface="Calibri"/>
              </a:rPr>
              <a:t>—  Chaque cellule LSTM maintient un état interne (mémoire à long terme) régulé par 3 portes : porte d'oubli (quelle part de la mémoire passée on efface), porte d'entrée (quelle part de la nouvelle information on ajoute), porte de sortie (quelle part de l'état on expose comme sortie h_t).</a:t>
            </a:r>
          </a:p>
          <a:p>
            <a:pPr>
              <a:lnSpc>
                <a:spcPct val="108000"/>
              </a:lnSpc>
              <a:spcAft>
                <a:spcPts val="800"/>
              </a:spcAft>
            </a:pPr>
            <a:r>
              <a:rPr sz="1350">
                <a:solidFill>
                  <a:srgbClr val="1B2430"/>
                </a:solidFill>
                <a:latin typeface="Calibri"/>
              </a:rPr>
              <a:t>—  Ici : la séquence des 10 derniers rendements (standardisés) est présentée à une couche LSTM (32 unités), suivie d'une couche dense (1 neurone) pour la prévision du rendement suivant.</a:t>
            </a:r>
          </a:p>
          <a:p>
            <a:pPr>
              <a:lnSpc>
                <a:spcPct val="108000"/>
              </a:lnSpc>
              <a:spcAft>
                <a:spcPts val="800"/>
              </a:spcAft>
            </a:pPr>
            <a:r>
              <a:rPr sz="1350">
                <a:solidFill>
                  <a:srgbClr val="1B2430"/>
                </a:solidFill>
                <a:latin typeface="Calibri"/>
              </a:rPr>
              <a:t>—  Entraîné UNE fois (30 époques) puis walk-forward strict, comme ANN -- les gains attendus du LSTM viennent de sa capacité à pondérer différemment les rendements récents vs plus anciens dans la séquence (contrairement à un ARIMA linéaire à ordre fixe).</a:t>
            </a:r>
          </a:p>
        </p:txBody>
      </p:sp>
      <p:sp>
        <p:nvSpPr>
          <p:cNvPr id="6" name="Rectangle 5"/>
          <p:cNvSpPr/>
          <p:nvPr/>
        </p:nvSpPr>
        <p:spPr>
          <a:xfrm>
            <a:off x="7772400" y="1600200"/>
            <a:ext cx="3840480" cy="4297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1783080"/>
            <a:ext cx="3383280" cy="36576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ADI -- LSTM @ 99%</a:t>
            </a:r>
          </a:p>
        </p:txBody>
      </p:sp>
      <p:sp>
        <p:nvSpPr>
          <p:cNvPr id="8" name="TextBox 7"/>
          <p:cNvSpPr txBox="1"/>
          <p:nvPr/>
        </p:nvSpPr>
        <p:spPr>
          <a:xfrm>
            <a:off x="8001000" y="2194560"/>
            <a:ext cx="3383280" cy="822960"/>
          </a:xfrm>
          <a:prstGeom prst="rect">
            <a:avLst/>
          </a:prstGeom>
          <a:noFill/>
        </p:spPr>
        <p:txBody>
          <a:bodyPr wrap="square" anchor="t" lIns="0" rIns="0" tIns="0" bIns="0">
            <a:spAutoFit/>
          </a:bodyPr>
          <a:lstStyle/>
          <a:p>
            <a:pPr algn="l">
              <a:lnSpc>
                <a:spcPct val="100000"/>
              </a:lnSpc>
            </a:pPr>
            <a:r>
              <a:rPr sz="3800" b="1" i="0">
                <a:solidFill>
                  <a:srgbClr val="0E2A3D"/>
                </a:solidFill>
                <a:latin typeface="Cambria"/>
              </a:rPr>
              <a:t>0.59%</a:t>
            </a:r>
          </a:p>
        </p:txBody>
      </p:sp>
      <p:sp>
        <p:nvSpPr>
          <p:cNvPr id="9" name="TextBox 8"/>
          <p:cNvSpPr txBox="1"/>
          <p:nvPr/>
        </p:nvSpPr>
        <p:spPr>
          <a:xfrm>
            <a:off x="8001000" y="2971800"/>
            <a:ext cx="3383280" cy="365760"/>
          </a:xfrm>
          <a:prstGeom prst="rect">
            <a:avLst/>
          </a:prstGeom>
          <a:noFill/>
        </p:spPr>
        <p:txBody>
          <a:bodyPr wrap="square" anchor="t" lIns="0" rIns="0" tIns="0" bIns="0">
            <a:spAutoFit/>
          </a:bodyPr>
          <a:lstStyle/>
          <a:p>
            <a:pPr algn="l">
              <a:lnSpc>
                <a:spcPct val="100000"/>
              </a:lnSpc>
            </a:pPr>
            <a:r>
              <a:rPr sz="1100" b="0" i="0">
                <a:solidFill>
                  <a:srgbClr val="5A6B78"/>
                </a:solidFill>
                <a:latin typeface="Calibri"/>
              </a:rPr>
              <a:t>taux de violation observé</a:t>
            </a:r>
          </a:p>
        </p:txBody>
      </p:sp>
      <p:sp>
        <p:nvSpPr>
          <p:cNvPr id="10" name="TextBox 9"/>
          <p:cNvSpPr txBox="1"/>
          <p:nvPr/>
        </p:nvSpPr>
        <p:spPr>
          <a:xfrm>
            <a:off x="8001000" y="3429000"/>
            <a:ext cx="3383280" cy="365760"/>
          </a:xfrm>
          <a:prstGeom prst="rect">
            <a:avLst/>
          </a:prstGeom>
          <a:noFill/>
        </p:spPr>
        <p:txBody>
          <a:bodyPr wrap="square" anchor="t" lIns="0" rIns="0" tIns="0" bIns="0">
            <a:spAutoFit/>
          </a:bodyPr>
          <a:lstStyle/>
          <a:p>
            <a:pPr algn="l">
              <a:lnSpc>
                <a:spcPct val="100000"/>
              </a:lnSpc>
            </a:pPr>
            <a:r>
              <a:rPr sz="1200" b="1" i="0">
                <a:solidFill>
                  <a:srgbClr val="2E7D46"/>
                </a:solidFill>
                <a:latin typeface="Calibri"/>
              </a:rPr>
              <a:t>zone GREEN  |  Kupiec p=0.559</a:t>
            </a:r>
          </a:p>
        </p:txBody>
      </p:sp>
      <p:sp>
        <p:nvSpPr>
          <p:cNvPr id="11" name="TextBox 10"/>
          <p:cNvSpPr txBox="1"/>
          <p:nvPr/>
        </p:nvSpPr>
        <p:spPr>
          <a:xfrm>
            <a:off x="8001000" y="3977639"/>
            <a:ext cx="3383280" cy="1737360"/>
          </a:xfrm>
          <a:prstGeom prst="rect">
            <a:avLst/>
          </a:prstGeom>
          <a:noFill/>
        </p:spPr>
        <p:txBody>
          <a:bodyPr wrap="square" anchor="t" lIns="0" rIns="0" tIns="0" bIns="0">
            <a:spAutoFit/>
          </a:bodyPr>
          <a:lstStyle/>
          <a:p>
            <a:pPr algn="l">
              <a:lnSpc>
                <a:spcPct val="100000"/>
              </a:lnSpc>
            </a:pPr>
            <a:r>
              <a:rPr sz="1150" b="0" i="1">
                <a:solidFill>
                  <a:srgbClr val="0E2A3D"/>
                </a:solidFill>
                <a:latin typeface="Calibri"/>
              </a:rPr>
              <a:t>Bien calibré, comparable à GARCH sur ADI -- mais pas distinctement supérieur (voir slide vérification de l'hypothèse).</a:t>
            </a:r>
          </a:p>
        </p:txBody>
      </p:sp>
      <p:sp>
        <p:nvSpPr>
          <p:cNvPr id="12" name="TextBox 11"/>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13" name="TextBox 12"/>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20/31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2A3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20</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E7C97E"/>
                </a:solidFill>
                <a:latin typeface="Calibri"/>
              </a:rPr>
              <a:t>LA VAR</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FFFFFF"/>
                </a:solidFill>
                <a:latin typeface="Cambria"/>
              </a:rPr>
              <a:t>La Value-at-Risk : définition et interprétation</a:t>
            </a:r>
          </a:p>
        </p:txBody>
      </p:sp>
      <p:sp>
        <p:nvSpPr>
          <p:cNvPr id="5" name="TextBox 4"/>
          <p:cNvSpPr txBox="1"/>
          <p:nvPr/>
        </p:nvSpPr>
        <p:spPr>
          <a:xfrm>
            <a:off x="914400" y="1737360"/>
            <a:ext cx="10332720" cy="1737360"/>
          </a:xfrm>
          <a:prstGeom prst="rect">
            <a:avLst/>
          </a:prstGeom>
          <a:noFill/>
        </p:spPr>
        <p:txBody>
          <a:bodyPr wrap="square" anchor="t" lIns="0" rIns="0" tIns="0" bIns="0">
            <a:spAutoFit/>
          </a:bodyPr>
          <a:lstStyle/>
          <a:p>
            <a:pPr>
              <a:lnSpc>
                <a:spcPct val="108000"/>
              </a:lnSpc>
              <a:spcAft>
                <a:spcPts val="800"/>
              </a:spcAft>
            </a:pPr>
            <a:r>
              <a:rPr sz="1500">
                <a:solidFill>
                  <a:srgbClr val="F3ECDD"/>
                </a:solidFill>
                <a:latin typeface="Calibri"/>
              </a:rPr>
              <a:t>—  Définition : VaR_alpha(t) est le niveau de perte tel que P(r_t &lt; VaR_alpha(t)) = alpha -- le quantile alpha de la distribution du rendement futur.</a:t>
            </a:r>
          </a:p>
          <a:p>
            <a:pPr>
              <a:lnSpc>
                <a:spcPct val="108000"/>
              </a:lnSpc>
              <a:spcAft>
                <a:spcPts val="800"/>
              </a:spcAft>
            </a:pPr>
            <a:r>
              <a:rPr sz="1500">
                <a:solidFill>
                  <a:srgbClr val="F3ECDD"/>
                </a:solidFill>
                <a:latin typeface="Calibri"/>
              </a:rPr>
              <a:t>—  Interprétation à 99% : sur 100 jours, on s'attend à observer au plus ~1 jour où la perte réelle dépasse la VaR (une « violation »).</a:t>
            </a:r>
          </a:p>
        </p:txBody>
      </p:sp>
      <p:sp>
        <p:nvSpPr>
          <p:cNvPr id="6" name="Rectangle 5"/>
          <p:cNvSpPr/>
          <p:nvPr/>
        </p:nvSpPr>
        <p:spPr>
          <a:xfrm>
            <a:off x="914400" y="3657600"/>
            <a:ext cx="10332720" cy="2651760"/>
          </a:xfrm>
          <a:prstGeom prst="rect">
            <a:avLst/>
          </a:prstGeom>
          <a:solidFill>
            <a:srgbClr val="081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3840480"/>
            <a:ext cx="9875520" cy="365760"/>
          </a:xfrm>
          <a:prstGeom prst="rect">
            <a:avLst/>
          </a:prstGeom>
          <a:noFill/>
        </p:spPr>
        <p:txBody>
          <a:bodyPr wrap="square" anchor="t" lIns="0" rIns="0" tIns="0" bIns="0">
            <a:spAutoFit/>
          </a:bodyPr>
          <a:lstStyle/>
          <a:p>
            <a:pPr algn="l">
              <a:lnSpc>
                <a:spcPct val="100000"/>
              </a:lnSpc>
            </a:pPr>
            <a:r>
              <a:rPr sz="1200" b="1" i="0">
                <a:solidFill>
                  <a:srgbClr val="E7C97E"/>
                </a:solidFill>
                <a:latin typeface="Calibri"/>
              </a:rPr>
              <a:t>3 FAMILLES DE MÉTHODES DE CALCUL DE LA VaR</a:t>
            </a:r>
          </a:p>
        </p:txBody>
      </p:sp>
      <p:sp>
        <p:nvSpPr>
          <p:cNvPr id="8" name="TextBox 7"/>
          <p:cNvSpPr txBox="1"/>
          <p:nvPr/>
        </p:nvSpPr>
        <p:spPr>
          <a:xfrm>
            <a:off x="1143000" y="4297680"/>
            <a:ext cx="9875520" cy="1828800"/>
          </a:xfrm>
          <a:prstGeom prst="rect">
            <a:avLst/>
          </a:prstGeom>
          <a:noFill/>
        </p:spPr>
        <p:txBody>
          <a:bodyPr wrap="square" anchor="t" lIns="0" rIns="0" tIns="0" bIns="0">
            <a:spAutoFit/>
          </a:bodyPr>
          <a:lstStyle/>
          <a:p>
            <a:pPr>
              <a:lnSpc>
                <a:spcPct val="108000"/>
              </a:lnSpc>
              <a:spcAft>
                <a:spcPts val="800"/>
              </a:spcAft>
            </a:pPr>
            <a:r>
              <a:rPr sz="1350">
                <a:solidFill>
                  <a:srgbClr val="F3ECDD"/>
                </a:solidFill>
                <a:latin typeface="Calibri"/>
              </a:rPr>
              <a:t>›  Paramétrique (delta-normale) : suppose une loi (souvent normale) pour les rendements -- rapide mais irréaliste sur des marchés à queues épaisses.</a:t>
            </a:r>
          </a:p>
          <a:p>
            <a:pPr>
              <a:lnSpc>
                <a:spcPct val="108000"/>
              </a:lnSpc>
              <a:spcAft>
                <a:spcPts val="800"/>
              </a:spcAft>
            </a:pPr>
            <a:r>
              <a:rPr sz="1350">
                <a:solidFill>
                  <a:srgbClr val="F3ECDD"/>
                </a:solidFill>
                <a:latin typeface="Calibri"/>
              </a:rPr>
              <a:t>›  Simulation historique pure : rejoue directement les rendements passés -- simple mais rigide (poids égal à chaque jour passé, pas de dynamique de volatilité).</a:t>
            </a:r>
          </a:p>
          <a:p>
            <a:pPr>
              <a:lnSpc>
                <a:spcPct val="108000"/>
              </a:lnSpc>
              <a:spcAft>
                <a:spcPts val="800"/>
              </a:spcAft>
            </a:pPr>
            <a:r>
              <a:rPr sz="1350">
                <a:solidFill>
                  <a:srgbClr val="F3ECDD"/>
                </a:solidFill>
                <a:latin typeface="Calibri"/>
              </a:rPr>
              <a:t>›  Simulation historique bootstrappée (BHS/FHS -- retenue ici) : combine une prévision dynamique (mu_t, sigma_t) du modèle avec un rééchantillonnage des résidus standardisés -- flexible et sans hypothèse de normalité.</a:t>
            </a:r>
          </a:p>
        </p:txBody>
      </p:sp>
      <p:sp>
        <p:nvSpPr>
          <p:cNvPr id="9" name="TextBox 8"/>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9FB3C2"/>
                </a:solidFill>
                <a:latin typeface="Calibri"/>
              </a:rPr>
              <a:t>Projet VaR MENA -- Deep Learning vs modèles statistiques</a:t>
            </a:r>
          </a:p>
        </p:txBody>
      </p:sp>
      <p:sp>
        <p:nvSpPr>
          <p:cNvPr id="10" name="TextBox 9"/>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9FB3C2"/>
                </a:solidFill>
                <a:latin typeface="Calibri"/>
              </a:rPr>
              <a:t>21/31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E2A3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21</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E7C97E"/>
                </a:solidFill>
                <a:latin typeface="Calibri"/>
              </a:rPr>
              <a:t>MÉTHODE DE CALCUL</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FFFFFF"/>
                </a:solidFill>
                <a:latin typeface="Cambria"/>
              </a:rPr>
              <a:t>Le calcul de la VaR par BHS</a:t>
            </a:r>
          </a:p>
        </p:txBody>
      </p:sp>
      <p:sp>
        <p:nvSpPr>
          <p:cNvPr id="5" name="Rectangle 4"/>
          <p:cNvSpPr/>
          <p:nvPr/>
        </p:nvSpPr>
        <p:spPr>
          <a:xfrm>
            <a:off x="1463040" y="1920240"/>
            <a:ext cx="9235440" cy="1737360"/>
          </a:xfrm>
          <a:prstGeom prst="rect">
            <a:avLst/>
          </a:prstGeom>
          <a:solidFill>
            <a:srgbClr val="081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0" y="2148840"/>
            <a:ext cx="9235440" cy="1371600"/>
          </a:xfrm>
          <a:prstGeom prst="rect">
            <a:avLst/>
          </a:prstGeom>
          <a:noFill/>
        </p:spPr>
        <p:txBody>
          <a:bodyPr wrap="square" anchor="t" lIns="0" rIns="0" tIns="0" bIns="0">
            <a:spAutoFit/>
          </a:bodyPr>
          <a:lstStyle/>
          <a:p>
            <a:pPr algn="ctr">
              <a:lnSpc>
                <a:spcPct val="100000"/>
              </a:lnSpc>
            </a:pPr>
            <a:r>
              <a:rPr sz="2200" b="1" i="0">
                <a:solidFill>
                  <a:srgbClr val="E7C97E"/>
                </a:solidFill>
                <a:latin typeface="Cambria"/>
              </a:rPr>
              <a:t>VaR_alpha(t) = mu_t + sigma_t . Q_alpha( résidus standardisés bootstrappés )</a:t>
            </a:r>
          </a:p>
        </p:txBody>
      </p:sp>
      <p:sp>
        <p:nvSpPr>
          <p:cNvPr id="7" name="TextBox 6"/>
          <p:cNvSpPr txBox="1"/>
          <p:nvPr/>
        </p:nvSpPr>
        <p:spPr>
          <a:xfrm>
            <a:off x="1463040" y="3931920"/>
            <a:ext cx="9235440" cy="2377440"/>
          </a:xfrm>
          <a:prstGeom prst="rect">
            <a:avLst/>
          </a:prstGeom>
          <a:noFill/>
        </p:spPr>
        <p:txBody>
          <a:bodyPr wrap="square" anchor="t" lIns="0" rIns="0" tIns="0" bIns="0">
            <a:spAutoFit/>
          </a:bodyPr>
          <a:lstStyle/>
          <a:p>
            <a:pPr>
              <a:lnSpc>
                <a:spcPct val="108000"/>
              </a:lnSpc>
              <a:spcAft>
                <a:spcPts val="800"/>
              </a:spcAft>
            </a:pPr>
            <a:r>
              <a:rPr sz="1400">
                <a:solidFill>
                  <a:srgbClr val="F3ECDD"/>
                </a:solidFill>
                <a:latin typeface="Calibri"/>
              </a:rPr>
              <a:t>—  mu_t, sigma_t : moyenne et écart-type prédits par le modèle (ARIMA, GARCH, RF/XGB, ANN/LSTM) pour le jour t.</a:t>
            </a:r>
          </a:p>
          <a:p>
            <a:pPr>
              <a:lnSpc>
                <a:spcPct val="108000"/>
              </a:lnSpc>
              <a:spcAft>
                <a:spcPts val="800"/>
              </a:spcAft>
            </a:pPr>
            <a:r>
              <a:rPr sz="1400">
                <a:solidFill>
                  <a:srgbClr val="F3ECDD"/>
                </a:solidFill>
                <a:latin typeface="Calibri"/>
              </a:rPr>
              <a:t>—  résidus standardisés : pool des résidus (z-scores) estimés UNE fois sur la période d'entraînement.</a:t>
            </a:r>
          </a:p>
          <a:p>
            <a:pPr>
              <a:lnSpc>
                <a:spcPct val="108000"/>
              </a:lnSpc>
              <a:spcAft>
                <a:spcPts val="800"/>
              </a:spcAft>
            </a:pPr>
            <a:r>
              <a:rPr sz="1400">
                <a:solidFill>
                  <a:srgbClr val="F3ECDD"/>
                </a:solidFill>
                <a:latin typeface="Calibri"/>
              </a:rPr>
              <a:t>—  Bootstrap : n_boot=10 000 tirages avec remise dans ce pool -&gt; quantile empirique Q_alpha (alpha=5% ou 1%).</a:t>
            </a:r>
          </a:p>
          <a:p>
            <a:pPr>
              <a:lnSpc>
                <a:spcPct val="108000"/>
              </a:lnSpc>
              <a:spcAft>
                <a:spcPts val="800"/>
              </a:spcAft>
            </a:pPr>
            <a:r>
              <a:rPr sz="1400">
                <a:solidFill>
                  <a:srgbClr val="F3ECDD"/>
                </a:solidFill>
                <a:latin typeface="Calibri"/>
              </a:rPr>
              <a:t>—  BHS (Bootstrap Historical Simulation) ne suppose pas la normalité des résidus : la distribution empirique (asymétrie, queues épaisses) est préservée -- adapté aux marchés MENA, souvent non-gaussiens.</a:t>
            </a:r>
          </a:p>
        </p:txBody>
      </p:sp>
      <p:sp>
        <p:nvSpPr>
          <p:cNvPr id="8" name="TextBox 7"/>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9FB3C2"/>
                </a:solidFill>
                <a:latin typeface="Calibri"/>
              </a:rPr>
              <a:t>Projet VaR MENA -- Deep Learning vs modèles statistiques</a:t>
            </a:r>
          </a:p>
        </p:txBody>
      </p:sp>
      <p:sp>
        <p:nvSpPr>
          <p:cNvPr id="9" name="TextBox 8"/>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9FB3C2"/>
                </a:solidFill>
                <a:latin typeface="Calibri"/>
              </a:rPr>
              <a:t>22/31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22</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MÉTHODOLOGIE</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Pipeline unifié : train-once / walk-forward</a:t>
            </a:r>
          </a:p>
        </p:txBody>
      </p:sp>
      <p:sp>
        <p:nvSpPr>
          <p:cNvPr id="5" name="Rectangle 4"/>
          <p:cNvSpPr/>
          <p:nvPr/>
        </p:nvSpPr>
        <p:spPr>
          <a:xfrm>
            <a:off x="548640" y="1691640"/>
            <a:ext cx="2606040" cy="33832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13232" y="1874519"/>
            <a:ext cx="457200" cy="45720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b="1" sz="1800">
                <a:solidFill>
                  <a:srgbClr val="081B28"/>
                </a:solidFill>
                <a:latin typeface="Cambria"/>
              </a:rPr>
              <a:t>1</a:t>
            </a:r>
          </a:p>
        </p:txBody>
      </p:sp>
      <p:sp>
        <p:nvSpPr>
          <p:cNvPr id="7" name="TextBox 6"/>
          <p:cNvSpPr txBox="1"/>
          <p:nvPr/>
        </p:nvSpPr>
        <p:spPr>
          <a:xfrm>
            <a:off x="713232" y="2468880"/>
            <a:ext cx="2276856" cy="548640"/>
          </a:xfrm>
          <a:prstGeom prst="rect">
            <a:avLst/>
          </a:prstGeom>
          <a:noFill/>
        </p:spPr>
        <p:txBody>
          <a:bodyPr wrap="square" anchor="t" lIns="0" rIns="0" tIns="0" bIns="0">
            <a:spAutoFit/>
          </a:bodyPr>
          <a:lstStyle/>
          <a:p>
            <a:pPr algn="l">
              <a:lnSpc>
                <a:spcPct val="100000"/>
              </a:lnSpc>
            </a:pPr>
            <a:r>
              <a:rPr sz="1450" b="1" i="0">
                <a:solidFill>
                  <a:srgbClr val="0E2A3D"/>
                </a:solidFill>
                <a:latin typeface="Cambria"/>
              </a:rPr>
              <a:t>Entraînement unique</a:t>
            </a:r>
          </a:p>
        </p:txBody>
      </p:sp>
      <p:sp>
        <p:nvSpPr>
          <p:cNvPr id="8" name="TextBox 7"/>
          <p:cNvSpPr txBox="1"/>
          <p:nvPr/>
        </p:nvSpPr>
        <p:spPr>
          <a:xfrm>
            <a:off x="713232" y="3017520"/>
            <a:ext cx="2276856" cy="1920240"/>
          </a:xfrm>
          <a:prstGeom prst="rect">
            <a:avLst/>
          </a:prstGeom>
          <a:noFill/>
        </p:spPr>
        <p:txBody>
          <a:bodyPr wrap="square" anchor="t" lIns="0" rIns="0" tIns="0" bIns="0">
            <a:spAutoFit/>
          </a:bodyPr>
          <a:lstStyle/>
          <a:p>
            <a:pPr algn="l">
              <a:lnSpc>
                <a:spcPct val="115000"/>
              </a:lnSpc>
            </a:pPr>
            <a:r>
              <a:rPr sz="1200" b="0" i="0">
                <a:solidFill>
                  <a:srgbClr val="5A6B78"/>
                </a:solidFill>
                <a:latin typeface="Calibri"/>
              </a:rPr>
              <a:t>Chaque modèle est ajusté UNE seule fois sur la période train (aucun ré-entraînement).</a:t>
            </a:r>
          </a:p>
        </p:txBody>
      </p:sp>
      <p:sp>
        <p:nvSpPr>
          <p:cNvPr id="9" name="Chevron 8"/>
          <p:cNvSpPr/>
          <p:nvPr/>
        </p:nvSpPr>
        <p:spPr>
          <a:xfrm>
            <a:off x="3172968" y="3200400"/>
            <a:ext cx="128016" cy="548640"/>
          </a:xfrm>
          <a:prstGeom prst="chevron">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19272" y="1691640"/>
            <a:ext cx="2606040" cy="33832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483864" y="1874519"/>
            <a:ext cx="457200" cy="45720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b="1" sz="1800">
                <a:solidFill>
                  <a:srgbClr val="081B28"/>
                </a:solidFill>
                <a:latin typeface="Cambria"/>
              </a:rPr>
              <a:t>2</a:t>
            </a:r>
          </a:p>
        </p:txBody>
      </p:sp>
      <p:sp>
        <p:nvSpPr>
          <p:cNvPr id="12" name="TextBox 11"/>
          <p:cNvSpPr txBox="1"/>
          <p:nvPr/>
        </p:nvSpPr>
        <p:spPr>
          <a:xfrm>
            <a:off x="3483864" y="2468880"/>
            <a:ext cx="2276856" cy="548640"/>
          </a:xfrm>
          <a:prstGeom prst="rect">
            <a:avLst/>
          </a:prstGeom>
          <a:noFill/>
        </p:spPr>
        <p:txBody>
          <a:bodyPr wrap="square" anchor="t" lIns="0" rIns="0" tIns="0" bIns="0">
            <a:spAutoFit/>
          </a:bodyPr>
          <a:lstStyle/>
          <a:p>
            <a:pPr algn="l">
              <a:lnSpc>
                <a:spcPct val="100000"/>
              </a:lnSpc>
            </a:pPr>
            <a:r>
              <a:rPr sz="1450" b="1" i="0">
                <a:solidFill>
                  <a:srgbClr val="0E2A3D"/>
                </a:solidFill>
                <a:latin typeface="Cambria"/>
              </a:rPr>
              <a:t>Walk-forward J+1</a:t>
            </a:r>
          </a:p>
        </p:txBody>
      </p:sp>
      <p:sp>
        <p:nvSpPr>
          <p:cNvPr id="13" name="TextBox 12"/>
          <p:cNvSpPr txBox="1"/>
          <p:nvPr/>
        </p:nvSpPr>
        <p:spPr>
          <a:xfrm>
            <a:off x="3483864" y="3017520"/>
            <a:ext cx="2276856" cy="1920240"/>
          </a:xfrm>
          <a:prstGeom prst="rect">
            <a:avLst/>
          </a:prstGeom>
          <a:noFill/>
        </p:spPr>
        <p:txBody>
          <a:bodyPr wrap="square" anchor="t" lIns="0" rIns="0" tIns="0" bIns="0">
            <a:spAutoFit/>
          </a:bodyPr>
          <a:lstStyle/>
          <a:p>
            <a:pPr algn="l">
              <a:lnSpc>
                <a:spcPct val="115000"/>
              </a:lnSpc>
            </a:pPr>
            <a:r>
              <a:rPr sz="1200" b="0" i="0">
                <a:solidFill>
                  <a:srgbClr val="5A6B78"/>
                </a:solidFill>
                <a:latin typeface="Calibri"/>
              </a:rPr>
              <a:t>Prévision un jour à l'avance sur le test ; les états (résidus, variance) sont mis à jour avec la valeur réalisée, pas les paramètres.</a:t>
            </a:r>
          </a:p>
        </p:txBody>
      </p:sp>
      <p:sp>
        <p:nvSpPr>
          <p:cNvPr id="14" name="Chevron 13"/>
          <p:cNvSpPr/>
          <p:nvPr/>
        </p:nvSpPr>
        <p:spPr>
          <a:xfrm>
            <a:off x="5943600" y="3200400"/>
            <a:ext cx="128016" cy="548640"/>
          </a:xfrm>
          <a:prstGeom prst="chevron">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89904" y="1691640"/>
            <a:ext cx="2606040" cy="33832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54496" y="1874519"/>
            <a:ext cx="457200" cy="45720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b="1" sz="1800">
                <a:solidFill>
                  <a:srgbClr val="081B28"/>
                </a:solidFill>
                <a:latin typeface="Cambria"/>
              </a:rPr>
              <a:t>3</a:t>
            </a:r>
          </a:p>
        </p:txBody>
      </p:sp>
      <p:sp>
        <p:nvSpPr>
          <p:cNvPr id="17" name="TextBox 16"/>
          <p:cNvSpPr txBox="1"/>
          <p:nvPr/>
        </p:nvSpPr>
        <p:spPr>
          <a:xfrm>
            <a:off x="6254496" y="2468880"/>
            <a:ext cx="2276856" cy="548640"/>
          </a:xfrm>
          <a:prstGeom prst="rect">
            <a:avLst/>
          </a:prstGeom>
          <a:noFill/>
        </p:spPr>
        <p:txBody>
          <a:bodyPr wrap="square" anchor="t" lIns="0" rIns="0" tIns="0" bIns="0">
            <a:spAutoFit/>
          </a:bodyPr>
          <a:lstStyle/>
          <a:p>
            <a:pPr algn="l">
              <a:lnSpc>
                <a:spcPct val="100000"/>
              </a:lnSpc>
            </a:pPr>
            <a:r>
              <a:rPr sz="1450" b="1" i="0">
                <a:solidFill>
                  <a:srgbClr val="0E2A3D"/>
                </a:solidFill>
                <a:latin typeface="Cambria"/>
              </a:rPr>
              <a:t>VaR par BHS</a:t>
            </a:r>
          </a:p>
        </p:txBody>
      </p:sp>
      <p:sp>
        <p:nvSpPr>
          <p:cNvPr id="18" name="TextBox 17"/>
          <p:cNvSpPr txBox="1"/>
          <p:nvPr/>
        </p:nvSpPr>
        <p:spPr>
          <a:xfrm>
            <a:off x="6254496" y="3017520"/>
            <a:ext cx="2276856" cy="1920240"/>
          </a:xfrm>
          <a:prstGeom prst="rect">
            <a:avLst/>
          </a:prstGeom>
          <a:noFill/>
        </p:spPr>
        <p:txBody>
          <a:bodyPr wrap="square" anchor="t" lIns="0" rIns="0" tIns="0" bIns="0">
            <a:spAutoFit/>
          </a:bodyPr>
          <a:lstStyle/>
          <a:p>
            <a:pPr algn="l">
              <a:lnSpc>
                <a:spcPct val="115000"/>
              </a:lnSpc>
            </a:pPr>
            <a:r>
              <a:rPr sz="1200" b="0" i="0">
                <a:solidFill>
                  <a:srgbClr val="5A6B78"/>
                </a:solidFill>
                <a:latin typeface="Calibri"/>
              </a:rPr>
              <a:t>mu, sigma prédits + pool de résidus standardisés bootstrappés -&gt; quantile alpha (VaR).</a:t>
            </a:r>
          </a:p>
        </p:txBody>
      </p:sp>
      <p:sp>
        <p:nvSpPr>
          <p:cNvPr id="19" name="Chevron 18"/>
          <p:cNvSpPr/>
          <p:nvPr/>
        </p:nvSpPr>
        <p:spPr>
          <a:xfrm>
            <a:off x="8714232" y="3200400"/>
            <a:ext cx="128016" cy="548640"/>
          </a:xfrm>
          <a:prstGeom prst="chevron">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60536" y="1691640"/>
            <a:ext cx="2606040" cy="33832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025128" y="1874519"/>
            <a:ext cx="457200" cy="45720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b="1" sz="1800">
                <a:solidFill>
                  <a:srgbClr val="081B28"/>
                </a:solidFill>
                <a:latin typeface="Cambria"/>
              </a:rPr>
              <a:t>4</a:t>
            </a:r>
          </a:p>
        </p:txBody>
      </p:sp>
      <p:sp>
        <p:nvSpPr>
          <p:cNvPr id="22" name="TextBox 21"/>
          <p:cNvSpPr txBox="1"/>
          <p:nvPr/>
        </p:nvSpPr>
        <p:spPr>
          <a:xfrm>
            <a:off x="9025128" y="2468880"/>
            <a:ext cx="2276856" cy="548640"/>
          </a:xfrm>
          <a:prstGeom prst="rect">
            <a:avLst/>
          </a:prstGeom>
          <a:noFill/>
        </p:spPr>
        <p:txBody>
          <a:bodyPr wrap="square" anchor="t" lIns="0" rIns="0" tIns="0" bIns="0">
            <a:spAutoFit/>
          </a:bodyPr>
          <a:lstStyle/>
          <a:p>
            <a:pPr algn="l">
              <a:lnSpc>
                <a:spcPct val="100000"/>
              </a:lnSpc>
            </a:pPr>
            <a:r>
              <a:rPr sz="1450" b="1" i="0">
                <a:solidFill>
                  <a:srgbClr val="0E2A3D"/>
                </a:solidFill>
                <a:latin typeface="Cambria"/>
              </a:rPr>
              <a:t>Backtesting</a:t>
            </a:r>
          </a:p>
        </p:txBody>
      </p:sp>
      <p:sp>
        <p:nvSpPr>
          <p:cNvPr id="23" name="TextBox 22"/>
          <p:cNvSpPr txBox="1"/>
          <p:nvPr/>
        </p:nvSpPr>
        <p:spPr>
          <a:xfrm>
            <a:off x="9025128" y="3017520"/>
            <a:ext cx="2276856" cy="1920240"/>
          </a:xfrm>
          <a:prstGeom prst="rect">
            <a:avLst/>
          </a:prstGeom>
          <a:noFill/>
        </p:spPr>
        <p:txBody>
          <a:bodyPr wrap="square" anchor="t" lIns="0" rIns="0" tIns="0" bIns="0">
            <a:spAutoFit/>
          </a:bodyPr>
          <a:lstStyle/>
          <a:p>
            <a:pPr algn="l">
              <a:lnSpc>
                <a:spcPct val="115000"/>
              </a:lnSpc>
            </a:pPr>
            <a:r>
              <a:rPr sz="1200" b="0" i="0">
                <a:solidFill>
                  <a:srgbClr val="5A6B78"/>
                </a:solidFill>
                <a:latin typeface="Calibri"/>
              </a:rPr>
              <a:t>Comparaison VaR vs rendement réalisé : Kupiec, Christoffersen, zones de Bâle.</a:t>
            </a:r>
          </a:p>
        </p:txBody>
      </p:sp>
      <p:sp>
        <p:nvSpPr>
          <p:cNvPr id="24" name="TextBox 23"/>
          <p:cNvSpPr txBox="1"/>
          <p:nvPr/>
        </p:nvSpPr>
        <p:spPr>
          <a:xfrm>
            <a:off x="548640" y="5349240"/>
            <a:ext cx="11064240" cy="822960"/>
          </a:xfrm>
          <a:prstGeom prst="rect">
            <a:avLst/>
          </a:prstGeom>
          <a:noFill/>
        </p:spPr>
        <p:txBody>
          <a:bodyPr wrap="square" anchor="t" lIns="0" rIns="0" tIns="0" bIns="0">
            <a:spAutoFit/>
          </a:bodyPr>
          <a:lstStyle/>
          <a:p>
            <a:pPr algn="l">
              <a:lnSpc>
                <a:spcPct val="100000"/>
              </a:lnSpc>
            </a:pPr>
            <a:r>
              <a:rPr sz="1300" b="0" i="1">
                <a:solidFill>
                  <a:srgbClr val="0E2A3D"/>
                </a:solidFill>
                <a:latin typeface="Calibri"/>
              </a:rPr>
              <a:t>Contrainte de conception : aucun modèle n'est ré-estimé sur le test -- seule l'information disponible à J est utilisée pour prédire J+1 (walk-forward one-step-ahead), pour les 7 modèles comme pour le GARCH (FHS).</a:t>
            </a:r>
          </a:p>
        </p:txBody>
      </p:sp>
      <p:sp>
        <p:nvSpPr>
          <p:cNvPr id="25" name="TextBox 24"/>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26" name="TextBox 25"/>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23/31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23</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VALIDATION</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Backtesting : le test de Kupiec (POF)</a:t>
            </a:r>
          </a:p>
        </p:txBody>
      </p:sp>
      <p:sp>
        <p:nvSpPr>
          <p:cNvPr id="5" name="TextBox 4"/>
          <p:cNvSpPr txBox="1"/>
          <p:nvPr/>
        </p:nvSpPr>
        <p:spPr>
          <a:xfrm>
            <a:off x="548640" y="1600200"/>
            <a:ext cx="10881360" cy="1554480"/>
          </a:xfrm>
          <a:prstGeom prst="rect">
            <a:avLst/>
          </a:prstGeom>
          <a:noFill/>
        </p:spPr>
        <p:txBody>
          <a:bodyPr wrap="square" anchor="t" lIns="0" rIns="0" tIns="0" bIns="0">
            <a:spAutoFit/>
          </a:bodyPr>
          <a:lstStyle/>
          <a:p>
            <a:pPr>
              <a:lnSpc>
                <a:spcPct val="108000"/>
              </a:lnSpc>
              <a:spcAft>
                <a:spcPts val="800"/>
              </a:spcAft>
            </a:pPr>
            <a:r>
              <a:rPr sz="1400">
                <a:solidFill>
                  <a:srgbClr val="1B2430"/>
                </a:solidFill>
                <a:latin typeface="Calibri"/>
              </a:rPr>
              <a:t>—  Principe (Proportion of Failures) : on compare le TAUX de violations observé (n_viol / n) au taux attendu alpha.</a:t>
            </a:r>
          </a:p>
          <a:p>
            <a:pPr>
              <a:lnSpc>
                <a:spcPct val="108000"/>
              </a:lnSpc>
              <a:spcAft>
                <a:spcPts val="800"/>
              </a:spcAft>
            </a:pPr>
            <a:r>
              <a:rPr sz="1400">
                <a:solidFill>
                  <a:srgbClr val="1B2430"/>
                </a:solidFill>
                <a:latin typeface="Calibri"/>
              </a:rPr>
              <a:t>—  H0 : le taux de violation observé est statistiquement égal à alpha (le modèle est bien calibré).</a:t>
            </a:r>
          </a:p>
          <a:p>
            <a:pPr>
              <a:lnSpc>
                <a:spcPct val="108000"/>
              </a:lnSpc>
              <a:spcAft>
                <a:spcPts val="800"/>
              </a:spcAft>
            </a:pPr>
            <a:r>
              <a:rPr sz="1400">
                <a:solidFill>
                  <a:srgbClr val="1B2430"/>
                </a:solidFill>
                <a:latin typeface="Calibri"/>
              </a:rPr>
              <a:t>—  Statistique de test : LR_POF = -2 [ (n-x) ln(1-alpha) + x ln(alpha) - (n-x) ln(1-pi_hat) - x ln(pi_hat) ], suit un chi^2(1) sous H0, avec pi_hat = x/n le taux observé.</a:t>
            </a:r>
          </a:p>
        </p:txBody>
      </p:sp>
      <p:sp>
        <p:nvSpPr>
          <p:cNvPr id="6" name="Rectangle 5"/>
          <p:cNvSpPr/>
          <p:nvPr/>
        </p:nvSpPr>
        <p:spPr>
          <a:xfrm>
            <a:off x="1463040" y="3520440"/>
            <a:ext cx="9235440" cy="914400"/>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0" y="3657600"/>
            <a:ext cx="9235440" cy="685800"/>
          </a:xfrm>
          <a:prstGeom prst="rect">
            <a:avLst/>
          </a:prstGeom>
          <a:noFill/>
        </p:spPr>
        <p:txBody>
          <a:bodyPr wrap="square" anchor="ctr" lIns="0" rIns="0" tIns="0" bIns="0">
            <a:spAutoFit/>
          </a:bodyPr>
          <a:lstStyle/>
          <a:p>
            <a:pPr algn="ctr">
              <a:lnSpc>
                <a:spcPct val="100000"/>
              </a:lnSpc>
            </a:pPr>
            <a:r>
              <a:rPr sz="1800" b="1" i="0">
                <a:solidFill>
                  <a:srgbClr val="E7C97E"/>
                </a:solidFill>
                <a:latin typeface="Cambria"/>
              </a:rPr>
              <a:t>p-value &gt; 0.05  -&gt;  modèle NON rejeté (bien calibré)</a:t>
            </a:r>
          </a:p>
        </p:txBody>
      </p:sp>
      <p:sp>
        <p:nvSpPr>
          <p:cNvPr id="8" name="TextBox 7"/>
          <p:cNvSpPr txBox="1"/>
          <p:nvPr/>
        </p:nvSpPr>
        <p:spPr>
          <a:xfrm>
            <a:off x="548640" y="4709160"/>
            <a:ext cx="10881360" cy="1371600"/>
          </a:xfrm>
          <a:prstGeom prst="rect">
            <a:avLst/>
          </a:prstGeom>
          <a:noFill/>
        </p:spPr>
        <p:txBody>
          <a:bodyPr wrap="square" anchor="t" lIns="0" rIns="0" tIns="0" bIns="0">
            <a:spAutoFit/>
          </a:bodyPr>
          <a:lstStyle/>
          <a:p>
            <a:pPr algn="l">
              <a:lnSpc>
                <a:spcPct val="100000"/>
              </a:lnSpc>
            </a:pPr>
            <a:r>
              <a:rPr sz="1300" b="0" i="1">
                <a:solidFill>
                  <a:srgbClr val="0E2A3D"/>
                </a:solidFill>
                <a:latin typeface="Calibri"/>
              </a:rPr>
              <a:t>Limite du test de Kupiec : il ne regarde QUE le taux global de violations, pas leur répartition dans le temps -- un modèle peut avoir le bon nombre de violations mais toutes regroupées lors d'une même crise (violations non indépendantes). C'est ce que corrige le test de Christoffersen (slide suivante).</a:t>
            </a:r>
          </a:p>
        </p:txBody>
      </p:sp>
      <p:sp>
        <p:nvSpPr>
          <p:cNvPr id="9" name="TextBox 8"/>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10" name="TextBox 9"/>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24/31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24</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VALIDATION</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Backtesting : Christoffersen et zones de Bâle</a:t>
            </a:r>
          </a:p>
        </p:txBody>
      </p:sp>
      <p:sp>
        <p:nvSpPr>
          <p:cNvPr id="5" name="Rectangle 4"/>
          <p:cNvSpPr/>
          <p:nvPr/>
        </p:nvSpPr>
        <p:spPr>
          <a:xfrm>
            <a:off x="548640" y="1645920"/>
            <a:ext cx="5394960" cy="2606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28800"/>
            <a:ext cx="4937760" cy="822960"/>
          </a:xfrm>
          <a:prstGeom prst="rect">
            <a:avLst/>
          </a:prstGeom>
          <a:noFill/>
        </p:spPr>
        <p:txBody>
          <a:bodyPr wrap="square" anchor="t" lIns="0" rIns="0" tIns="0" bIns="0">
            <a:spAutoFit/>
          </a:bodyPr>
          <a:lstStyle/>
          <a:p>
            <a:pPr algn="l">
              <a:lnSpc>
                <a:spcPct val="105000"/>
              </a:lnSpc>
            </a:pPr>
            <a:r>
              <a:rPr sz="1500" b="1" i="0">
                <a:solidFill>
                  <a:srgbClr val="0E2A3D"/>
                </a:solidFill>
                <a:latin typeface="Cambria"/>
              </a:rPr>
              <a:t>Christoffersen (indépendance + couverture)</a:t>
            </a:r>
          </a:p>
        </p:txBody>
      </p:sp>
      <p:sp>
        <p:nvSpPr>
          <p:cNvPr id="7" name="TextBox 6"/>
          <p:cNvSpPr txBox="1"/>
          <p:nvPr/>
        </p:nvSpPr>
        <p:spPr>
          <a:xfrm>
            <a:off x="777240" y="2606040"/>
            <a:ext cx="4937760" cy="1463040"/>
          </a:xfrm>
          <a:prstGeom prst="rect">
            <a:avLst/>
          </a:prstGeom>
          <a:noFill/>
        </p:spPr>
        <p:txBody>
          <a:bodyPr wrap="square" anchor="ctr" lIns="0" rIns="0" tIns="0" bIns="0">
            <a:spAutoFit/>
          </a:bodyPr>
          <a:lstStyle/>
          <a:p>
            <a:pPr algn="l">
              <a:lnSpc>
                <a:spcPct val="120000"/>
              </a:lnSpc>
            </a:pPr>
            <a:r>
              <a:rPr sz="1300" b="0" i="0">
                <a:solidFill>
                  <a:srgbClr val="5A6B78"/>
                </a:solidFill>
                <a:latin typeface="Calibri"/>
              </a:rPr>
              <a:t>Ajoute au test de Kupiec un test d'INDÉPENDANCE des violations dans le temps (pas de clusters). LR_cc = LR_POF + LR_ind ~ chi^2(2). p_cc &gt; 0.05 -&gt; modèle non rejeté.</a:t>
            </a:r>
          </a:p>
        </p:txBody>
      </p:sp>
      <p:sp>
        <p:nvSpPr>
          <p:cNvPr id="8" name="Rectangle 7"/>
          <p:cNvSpPr/>
          <p:nvPr/>
        </p:nvSpPr>
        <p:spPr>
          <a:xfrm>
            <a:off x="6217920" y="1645920"/>
            <a:ext cx="5394960" cy="2606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828800"/>
            <a:ext cx="4937760" cy="822960"/>
          </a:xfrm>
          <a:prstGeom prst="rect">
            <a:avLst/>
          </a:prstGeom>
          <a:noFill/>
        </p:spPr>
        <p:txBody>
          <a:bodyPr wrap="square" anchor="t" lIns="0" rIns="0" tIns="0" bIns="0">
            <a:spAutoFit/>
          </a:bodyPr>
          <a:lstStyle/>
          <a:p>
            <a:pPr algn="l">
              <a:lnSpc>
                <a:spcPct val="105000"/>
              </a:lnSpc>
            </a:pPr>
            <a:r>
              <a:rPr sz="1500" b="1" i="0">
                <a:solidFill>
                  <a:srgbClr val="0E2A3D"/>
                </a:solidFill>
                <a:latin typeface="Cambria"/>
              </a:rPr>
              <a:t>Zones de Bâle</a:t>
            </a:r>
          </a:p>
        </p:txBody>
      </p:sp>
      <p:sp>
        <p:nvSpPr>
          <p:cNvPr id="10" name="TextBox 9"/>
          <p:cNvSpPr txBox="1"/>
          <p:nvPr/>
        </p:nvSpPr>
        <p:spPr>
          <a:xfrm>
            <a:off x="6446520" y="2606040"/>
            <a:ext cx="4937760" cy="1463040"/>
          </a:xfrm>
          <a:prstGeom prst="rect">
            <a:avLst/>
          </a:prstGeom>
          <a:noFill/>
        </p:spPr>
        <p:txBody>
          <a:bodyPr wrap="square" anchor="ctr" lIns="0" rIns="0" tIns="0" bIns="0">
            <a:spAutoFit/>
          </a:bodyPr>
          <a:lstStyle/>
          <a:p>
            <a:pPr algn="l">
              <a:lnSpc>
                <a:spcPct val="120000"/>
              </a:lnSpc>
            </a:pPr>
            <a:r>
              <a:rPr sz="1300" b="0" i="0">
                <a:solidFill>
                  <a:srgbClr val="5A6B78"/>
                </a:solidFill>
                <a:latin typeface="Calibri"/>
              </a:rPr>
              <a:t>Classe le modèle en vert / jaune / rouge selon le nombre de violations normalisé sur 250 séances -- grille réglementaire standard (verte &lt;= 4 à 99%).</a:t>
            </a:r>
          </a:p>
        </p:txBody>
      </p:sp>
      <p:sp>
        <p:nvSpPr>
          <p:cNvPr id="11" name="Oval 10"/>
          <p:cNvSpPr/>
          <p:nvPr/>
        </p:nvSpPr>
        <p:spPr>
          <a:xfrm>
            <a:off x="548640" y="4526280"/>
            <a:ext cx="274320" cy="274320"/>
          </a:xfrm>
          <a:prstGeom prst="ellipse">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498848"/>
            <a:ext cx="3291840" cy="365760"/>
          </a:xfrm>
          <a:prstGeom prst="rect">
            <a:avLst/>
          </a:prstGeom>
          <a:noFill/>
        </p:spPr>
        <p:txBody>
          <a:bodyPr wrap="square" anchor="t" lIns="0" rIns="0" tIns="0" bIns="0">
            <a:spAutoFit/>
          </a:bodyPr>
          <a:lstStyle/>
          <a:p>
            <a:pPr algn="l">
              <a:lnSpc>
                <a:spcPct val="100000"/>
              </a:lnSpc>
            </a:pPr>
            <a:r>
              <a:rPr sz="1250" b="1" i="0">
                <a:solidFill>
                  <a:srgbClr val="0E2A3D"/>
                </a:solidFill>
                <a:latin typeface="Calibri"/>
              </a:rPr>
              <a:t>Vert -- modèle non rejeté, risque bien capté</a:t>
            </a:r>
          </a:p>
        </p:txBody>
      </p:sp>
      <p:sp>
        <p:nvSpPr>
          <p:cNvPr id="13" name="Oval 12"/>
          <p:cNvSpPr/>
          <p:nvPr/>
        </p:nvSpPr>
        <p:spPr>
          <a:xfrm>
            <a:off x="4297679" y="4526280"/>
            <a:ext cx="274320" cy="274320"/>
          </a:xfrm>
          <a:prstGeom prst="ellipse">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39" y="4498848"/>
            <a:ext cx="3291840" cy="365760"/>
          </a:xfrm>
          <a:prstGeom prst="rect">
            <a:avLst/>
          </a:prstGeom>
          <a:noFill/>
        </p:spPr>
        <p:txBody>
          <a:bodyPr wrap="square" anchor="t" lIns="0" rIns="0" tIns="0" bIns="0">
            <a:spAutoFit/>
          </a:bodyPr>
          <a:lstStyle/>
          <a:p>
            <a:pPr algn="l">
              <a:lnSpc>
                <a:spcPct val="100000"/>
              </a:lnSpc>
            </a:pPr>
            <a:r>
              <a:rPr sz="1250" b="1" i="0">
                <a:solidFill>
                  <a:srgbClr val="0E2A3D"/>
                </a:solidFill>
                <a:latin typeface="Calibri"/>
              </a:rPr>
              <a:t>Jaune -- zone de surveillance</a:t>
            </a:r>
          </a:p>
        </p:txBody>
      </p:sp>
      <p:sp>
        <p:nvSpPr>
          <p:cNvPr id="15" name="Oval 14"/>
          <p:cNvSpPr/>
          <p:nvPr/>
        </p:nvSpPr>
        <p:spPr>
          <a:xfrm>
            <a:off x="8046719" y="4526280"/>
            <a:ext cx="274320" cy="274320"/>
          </a:xfrm>
          <a:prstGeom prst="ellipse">
            <a:avLst/>
          </a:prstGeom>
          <a:solidFill>
            <a:srgbClr val="AE3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9" y="4498848"/>
            <a:ext cx="3291840" cy="365760"/>
          </a:xfrm>
          <a:prstGeom prst="rect">
            <a:avLst/>
          </a:prstGeom>
          <a:noFill/>
        </p:spPr>
        <p:txBody>
          <a:bodyPr wrap="square" anchor="t" lIns="0" rIns="0" tIns="0" bIns="0">
            <a:spAutoFit/>
          </a:bodyPr>
          <a:lstStyle/>
          <a:p>
            <a:pPr algn="l">
              <a:lnSpc>
                <a:spcPct val="100000"/>
              </a:lnSpc>
            </a:pPr>
            <a:r>
              <a:rPr sz="1250" b="1" i="0">
                <a:solidFill>
                  <a:srgbClr val="0E2A3D"/>
                </a:solidFill>
                <a:latin typeface="Calibri"/>
              </a:rPr>
              <a:t>Rouge -- modèle rejeté, sous-estime le risque</a:t>
            </a:r>
          </a:p>
        </p:txBody>
      </p:sp>
      <p:sp>
        <p:nvSpPr>
          <p:cNvPr id="17" name="TextBox 16"/>
          <p:cNvSpPr txBox="1"/>
          <p:nvPr/>
        </p:nvSpPr>
        <p:spPr>
          <a:xfrm>
            <a:off x="548640" y="5074920"/>
            <a:ext cx="11064240" cy="1188720"/>
          </a:xfrm>
          <a:prstGeom prst="rect">
            <a:avLst/>
          </a:prstGeom>
          <a:noFill/>
        </p:spPr>
        <p:txBody>
          <a:bodyPr wrap="square" anchor="t" lIns="0" rIns="0" tIns="0" bIns="0">
            <a:spAutoFit/>
          </a:bodyPr>
          <a:lstStyle/>
          <a:p>
            <a:pPr algn="l">
              <a:lnSpc>
                <a:spcPct val="100000"/>
              </a:lnSpc>
            </a:pPr>
            <a:r>
              <a:rPr sz="1300" b="0" i="1">
                <a:solidFill>
                  <a:srgbClr val="0E2A3D"/>
                </a:solidFill>
                <a:latin typeface="Calibri"/>
              </a:rPr>
              <a:t>Exemple (TASI, ARIMA, 99%) : Kupiec p=0.573, Christoffersen p_cc=0.848, zone GREEN -- les deux tests concordent, le modèle n'est pas rejeté.</a:t>
            </a:r>
          </a:p>
        </p:txBody>
      </p:sp>
      <p:sp>
        <p:nvSpPr>
          <p:cNvPr id="18" name="TextBox 17"/>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19" name="TextBox 18"/>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25/31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25</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RÉSULTATS</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Résultats par indice -- le tableau des gagnants</a:t>
            </a:r>
          </a:p>
        </p:txBody>
      </p:sp>
      <p:graphicFrame>
        <p:nvGraphicFramePr>
          <p:cNvPr id="5" name="Table 4"/>
          <p:cNvGraphicFramePr>
            <a:graphicFrameLocks noGrp="1"/>
          </p:cNvGraphicFramePr>
          <p:nvPr/>
        </p:nvGraphicFramePr>
        <p:xfrm>
          <a:off x="548640" y="1600200"/>
          <a:ext cx="7223760" cy="2103120"/>
        </p:xfrm>
        <a:graphic>
          <a:graphicData uri="http://schemas.openxmlformats.org/drawingml/2006/table">
            <a:tbl>
              <a:tblPr firstRow="1" bandRow="1">
                <a:tableStyleId>{5C22544A-7EE6-4342-B048-85BDC9FD1C3A}</a:tableStyleId>
              </a:tblPr>
              <a:tblGrid>
                <a:gridCol w="1554480"/>
                <a:gridCol w="1737360"/>
                <a:gridCol w="1737360"/>
                <a:gridCol w="1188720"/>
                <a:gridCol w="1005840"/>
              </a:tblGrid>
              <a:tr h="420624">
                <a:tc>
                  <a:txBody>
                    <a:bodyPr wrap="square"/>
                    <a:lstStyle/>
                    <a:p>
                      <a:pPr algn="ctr"/>
                      <a:r>
                        <a:rPr sz="1100" b="1">
                          <a:solidFill>
                            <a:srgbClr val="FFFFFF"/>
                          </a:solidFill>
                          <a:latin typeface="Calibri"/>
                        </a:rPr>
                        <a:t>Indice</a:t>
                      </a:r>
                    </a:p>
                  </a:txBody>
                  <a:tcPr marL="54864" marR="54864" marT="27432" marB="27432" anchor="ctr">
                    <a:solidFill>
                      <a:srgbClr val="0E2A3D"/>
                    </a:solidFill>
                  </a:tcPr>
                </a:tc>
                <a:tc>
                  <a:txBody>
                    <a:bodyPr wrap="square"/>
                    <a:lstStyle/>
                    <a:p>
                      <a:pPr algn="ctr"/>
                      <a:r>
                        <a:rPr sz="1100" b="1">
                          <a:solidFill>
                            <a:srgbClr val="FFFFFF"/>
                          </a:solidFill>
                          <a:latin typeface="Calibri"/>
                        </a:rPr>
                        <a:t>Modèle gagnant</a:t>
                      </a:r>
                    </a:p>
                  </a:txBody>
                  <a:tcPr marL="54864" marR="54864" marT="27432" marB="27432" anchor="ctr">
                    <a:solidFill>
                      <a:srgbClr val="0E2A3D"/>
                    </a:solidFill>
                  </a:tcPr>
                </a:tc>
                <a:tc>
                  <a:txBody>
                    <a:bodyPr wrap="square"/>
                    <a:lstStyle/>
                    <a:p>
                      <a:pPr algn="ctr"/>
                      <a:r>
                        <a:rPr sz="1100" b="1">
                          <a:solidFill>
                            <a:srgbClr val="FFFFFF"/>
                          </a:solidFill>
                          <a:latin typeface="Calibri"/>
                        </a:rPr>
                        <a:t>Taux observé (99%)</a:t>
                      </a:r>
                    </a:p>
                  </a:txBody>
                  <a:tcPr marL="54864" marR="54864" marT="27432" marB="27432" anchor="ctr">
                    <a:solidFill>
                      <a:srgbClr val="0E2A3D"/>
                    </a:solidFill>
                  </a:tcPr>
                </a:tc>
                <a:tc>
                  <a:txBody>
                    <a:bodyPr wrap="square"/>
                    <a:lstStyle/>
                    <a:p>
                      <a:pPr algn="ctr"/>
                      <a:r>
                        <a:rPr sz="1100" b="1">
                          <a:solidFill>
                            <a:srgbClr val="FFFFFF"/>
                          </a:solidFill>
                          <a:latin typeface="Calibri"/>
                        </a:rPr>
                        <a:t>Kupiec p</a:t>
                      </a:r>
                    </a:p>
                  </a:txBody>
                  <a:tcPr marL="54864" marR="54864" marT="27432" marB="27432" anchor="ctr">
                    <a:solidFill>
                      <a:srgbClr val="0E2A3D"/>
                    </a:solidFill>
                  </a:tcPr>
                </a:tc>
                <a:tc>
                  <a:txBody>
                    <a:bodyPr wrap="square"/>
                    <a:lstStyle/>
                    <a:p>
                      <a:pPr algn="ctr"/>
                      <a:r>
                        <a:rPr sz="1100" b="1">
                          <a:solidFill>
                            <a:srgbClr val="FFFFFF"/>
                          </a:solidFill>
                          <a:latin typeface="Calibri"/>
                        </a:rPr>
                        <a:t>Zone Bâle</a:t>
                      </a:r>
                    </a:p>
                  </a:txBody>
                  <a:tcPr marL="54864" marR="54864" marT="27432" marB="27432" anchor="ctr">
                    <a:solidFill>
                      <a:srgbClr val="0E2A3D"/>
                    </a:solidFill>
                  </a:tcPr>
                </a:tc>
              </a:tr>
              <a:tr h="420624">
                <a:tc>
                  <a:txBody>
                    <a:bodyPr wrap="square"/>
                    <a:lstStyle/>
                    <a:p>
                      <a:pPr algn="ctr"/>
                      <a:r>
                        <a:rPr sz="1100" b="0">
                          <a:solidFill>
                            <a:srgbClr val="1B2430"/>
                          </a:solidFill>
                          <a:latin typeface="Calibri"/>
                        </a:rPr>
                        <a:t>ADI</a:t>
                      </a:r>
                    </a:p>
                  </a:txBody>
                  <a:tcPr marL="54864" marR="54864" marT="27432" marB="27432" anchor="ctr">
                    <a:solidFill>
                      <a:srgbClr val="F3ECDD"/>
                    </a:solidFill>
                  </a:tcPr>
                </a:tc>
                <a:tc>
                  <a:txBody>
                    <a:bodyPr wrap="square"/>
                    <a:lstStyle/>
                    <a:p>
                      <a:pPr algn="ctr"/>
                      <a:r>
                        <a:rPr sz="1100" b="0">
                          <a:solidFill>
                            <a:srgbClr val="1B2430"/>
                          </a:solidFill>
                          <a:latin typeface="Calibri"/>
                        </a:rPr>
                        <a:t>GARCH</a:t>
                      </a:r>
                    </a:p>
                  </a:txBody>
                  <a:tcPr marL="54864" marR="54864" marT="27432" marB="27432" anchor="ctr">
                    <a:solidFill>
                      <a:srgbClr val="E7C97E"/>
                    </a:solidFill>
                  </a:tcPr>
                </a:tc>
                <a:tc>
                  <a:txBody>
                    <a:bodyPr wrap="square"/>
                    <a:lstStyle/>
                    <a:p>
                      <a:pPr algn="ctr"/>
                      <a:r>
                        <a:rPr sz="1100" b="0">
                          <a:solidFill>
                            <a:srgbClr val="1B2430"/>
                          </a:solidFill>
                          <a:latin typeface="Calibri"/>
                        </a:rPr>
                        <a:t>1.18%</a:t>
                      </a:r>
                    </a:p>
                  </a:txBody>
                  <a:tcPr marL="54864" marR="54864" marT="27432" marB="27432" anchor="ctr">
                    <a:solidFill>
                      <a:srgbClr val="F3ECDD"/>
                    </a:solidFill>
                  </a:tcPr>
                </a:tc>
                <a:tc>
                  <a:txBody>
                    <a:bodyPr wrap="square"/>
                    <a:lstStyle/>
                    <a:p>
                      <a:pPr algn="ctr"/>
                      <a:r>
                        <a:rPr sz="1100" b="0">
                          <a:solidFill>
                            <a:srgbClr val="1B2430"/>
                          </a:solidFill>
                          <a:latin typeface="Calibri"/>
                        </a:rPr>
                        <a:t>0.822</a:t>
                      </a:r>
                    </a:p>
                  </a:txBody>
                  <a:tcPr marL="54864" marR="54864" marT="27432" marB="27432" anchor="ctr">
                    <a:solidFill>
                      <a:srgbClr val="F3ECDD"/>
                    </a:solidFill>
                  </a:tcPr>
                </a:tc>
                <a:tc>
                  <a:txBody>
                    <a:bodyPr wrap="square"/>
                    <a:lstStyle/>
                    <a:p>
                      <a:pPr algn="ctr"/>
                      <a:r>
                        <a:rPr sz="1100" b="0">
                          <a:solidFill>
                            <a:srgbClr val="1B2430"/>
                          </a:solidFill>
                          <a:latin typeface="Calibri"/>
                        </a:rPr>
                        <a:t>GREEN</a:t>
                      </a:r>
                    </a:p>
                  </a:txBody>
                  <a:tcPr marL="54864" marR="54864" marT="27432" marB="27432" anchor="ctr">
                    <a:solidFill>
                      <a:srgbClr val="2E7D46"/>
                    </a:solidFill>
                  </a:tcPr>
                </a:tc>
              </a:tr>
              <a:tr h="420624">
                <a:tc>
                  <a:txBody>
                    <a:bodyPr wrap="square"/>
                    <a:lstStyle/>
                    <a:p>
                      <a:pPr algn="ctr"/>
                      <a:r>
                        <a:rPr sz="1100" b="0">
                          <a:solidFill>
                            <a:srgbClr val="1B2430"/>
                          </a:solidFill>
                          <a:latin typeface="Calibri"/>
                        </a:rPr>
                        <a:t>MASI</a:t>
                      </a:r>
                    </a:p>
                  </a:txBody>
                  <a:tcPr marL="54864" marR="54864" marT="27432" marB="27432" anchor="ctr">
                    <a:solidFill>
                      <a:srgbClr val="FBF8F1"/>
                    </a:solidFill>
                  </a:tcPr>
                </a:tc>
                <a:tc>
                  <a:txBody>
                    <a:bodyPr wrap="square"/>
                    <a:lstStyle/>
                    <a:p>
                      <a:pPr algn="ctr"/>
                      <a:r>
                        <a:rPr sz="1100" b="0">
                          <a:solidFill>
                            <a:srgbClr val="1B2430"/>
                          </a:solidFill>
                          <a:latin typeface="Calibri"/>
                        </a:rPr>
                        <a:t>GARCH</a:t>
                      </a:r>
                    </a:p>
                  </a:txBody>
                  <a:tcPr marL="54864" marR="54864" marT="27432" marB="27432" anchor="ctr">
                    <a:solidFill>
                      <a:srgbClr val="E7C97E"/>
                    </a:solidFill>
                  </a:tcPr>
                </a:tc>
                <a:tc>
                  <a:txBody>
                    <a:bodyPr wrap="square"/>
                    <a:lstStyle/>
                    <a:p>
                      <a:pPr algn="ctr"/>
                      <a:r>
                        <a:rPr sz="1100" b="0">
                          <a:solidFill>
                            <a:srgbClr val="1B2430"/>
                          </a:solidFill>
                          <a:latin typeface="Calibri"/>
                        </a:rPr>
                        <a:t>0.63%</a:t>
                      </a:r>
                    </a:p>
                  </a:txBody>
                  <a:tcPr marL="54864" marR="54864" marT="27432" marB="27432" anchor="ctr">
                    <a:solidFill>
                      <a:srgbClr val="FBF8F1"/>
                    </a:solidFill>
                  </a:tcPr>
                </a:tc>
                <a:tc>
                  <a:txBody>
                    <a:bodyPr wrap="square"/>
                    <a:lstStyle/>
                    <a:p>
                      <a:pPr algn="ctr"/>
                      <a:r>
                        <a:rPr sz="1100" b="0">
                          <a:solidFill>
                            <a:srgbClr val="1B2430"/>
                          </a:solidFill>
                          <a:latin typeface="Calibri"/>
                        </a:rPr>
                        <a:t>0.614</a:t>
                      </a:r>
                    </a:p>
                  </a:txBody>
                  <a:tcPr marL="54864" marR="54864" marT="27432" marB="27432" anchor="ctr">
                    <a:solidFill>
                      <a:srgbClr val="FBF8F1"/>
                    </a:solidFill>
                  </a:tcPr>
                </a:tc>
                <a:tc>
                  <a:txBody>
                    <a:bodyPr wrap="square"/>
                    <a:lstStyle/>
                    <a:p>
                      <a:pPr algn="ctr"/>
                      <a:r>
                        <a:rPr sz="1100" b="0">
                          <a:solidFill>
                            <a:srgbClr val="1B2430"/>
                          </a:solidFill>
                          <a:latin typeface="Calibri"/>
                        </a:rPr>
                        <a:t>GREEN</a:t>
                      </a:r>
                    </a:p>
                  </a:txBody>
                  <a:tcPr marL="54864" marR="54864" marT="27432" marB="27432" anchor="ctr">
                    <a:solidFill>
                      <a:srgbClr val="2E7D46"/>
                    </a:solidFill>
                  </a:tcPr>
                </a:tc>
              </a:tr>
              <a:tr h="420624">
                <a:tc>
                  <a:txBody>
                    <a:bodyPr wrap="square"/>
                    <a:lstStyle/>
                    <a:p>
                      <a:pPr algn="ctr"/>
                      <a:r>
                        <a:rPr sz="1100" b="0">
                          <a:solidFill>
                            <a:srgbClr val="1B2430"/>
                          </a:solidFill>
                          <a:latin typeface="Calibri"/>
                        </a:rPr>
                        <a:t>TASI</a:t>
                      </a:r>
                    </a:p>
                  </a:txBody>
                  <a:tcPr marL="54864" marR="54864" marT="27432" marB="27432" anchor="ctr">
                    <a:solidFill>
                      <a:srgbClr val="F3ECDD"/>
                    </a:solidFill>
                  </a:tcPr>
                </a:tc>
                <a:tc>
                  <a:txBody>
                    <a:bodyPr wrap="square"/>
                    <a:lstStyle/>
                    <a:p>
                      <a:pPr algn="ctr"/>
                      <a:r>
                        <a:rPr sz="1100" b="0">
                          <a:solidFill>
                            <a:srgbClr val="1B2430"/>
                          </a:solidFill>
                          <a:latin typeface="Calibri"/>
                        </a:rPr>
                        <a:t>ARIMA</a:t>
                      </a:r>
                    </a:p>
                  </a:txBody>
                  <a:tcPr marL="54864" marR="54864" marT="27432" marB="27432" anchor="ctr">
                    <a:solidFill>
                      <a:srgbClr val="E7C97E"/>
                    </a:solidFill>
                  </a:tcPr>
                </a:tc>
                <a:tc>
                  <a:txBody>
                    <a:bodyPr wrap="square"/>
                    <a:lstStyle/>
                    <a:p>
                      <a:pPr algn="ctr"/>
                      <a:r>
                        <a:rPr sz="1100" b="0">
                          <a:solidFill>
                            <a:srgbClr val="1B2430"/>
                          </a:solidFill>
                          <a:latin typeface="Calibri"/>
                        </a:rPr>
                        <a:t>0.60%</a:t>
                      </a:r>
                    </a:p>
                  </a:txBody>
                  <a:tcPr marL="54864" marR="54864" marT="27432" marB="27432" anchor="ctr">
                    <a:solidFill>
                      <a:srgbClr val="F3ECDD"/>
                    </a:solidFill>
                  </a:tcPr>
                </a:tc>
                <a:tc>
                  <a:txBody>
                    <a:bodyPr wrap="square"/>
                    <a:lstStyle/>
                    <a:p>
                      <a:pPr algn="ctr"/>
                      <a:r>
                        <a:rPr sz="1100" b="0">
                          <a:solidFill>
                            <a:srgbClr val="1B2430"/>
                          </a:solidFill>
                          <a:latin typeface="Calibri"/>
                        </a:rPr>
                        <a:t>0.573</a:t>
                      </a:r>
                    </a:p>
                  </a:txBody>
                  <a:tcPr marL="54864" marR="54864" marT="27432" marB="27432" anchor="ctr">
                    <a:solidFill>
                      <a:srgbClr val="F3ECDD"/>
                    </a:solidFill>
                  </a:tcPr>
                </a:tc>
                <a:tc>
                  <a:txBody>
                    <a:bodyPr wrap="square"/>
                    <a:lstStyle/>
                    <a:p>
                      <a:pPr algn="ctr"/>
                      <a:r>
                        <a:rPr sz="1100" b="0">
                          <a:solidFill>
                            <a:srgbClr val="1B2430"/>
                          </a:solidFill>
                          <a:latin typeface="Calibri"/>
                        </a:rPr>
                        <a:t>GREEN</a:t>
                      </a:r>
                    </a:p>
                  </a:txBody>
                  <a:tcPr marL="54864" marR="54864" marT="27432" marB="27432" anchor="ctr">
                    <a:solidFill>
                      <a:srgbClr val="2E7D46"/>
                    </a:solidFill>
                  </a:tcPr>
                </a:tc>
              </a:tr>
              <a:tr h="420624">
                <a:tc>
                  <a:txBody>
                    <a:bodyPr wrap="square"/>
                    <a:lstStyle/>
                    <a:p>
                      <a:pPr algn="ctr"/>
                      <a:r>
                        <a:rPr sz="1100" b="0">
                          <a:solidFill>
                            <a:srgbClr val="1B2430"/>
                          </a:solidFill>
                          <a:latin typeface="Calibri"/>
                        </a:rPr>
                        <a:t>Tunindex</a:t>
                      </a:r>
                    </a:p>
                  </a:txBody>
                  <a:tcPr marL="54864" marR="54864" marT="27432" marB="27432" anchor="ctr">
                    <a:solidFill>
                      <a:srgbClr val="FBF8F1"/>
                    </a:solidFill>
                  </a:tcPr>
                </a:tc>
                <a:tc>
                  <a:txBody>
                    <a:bodyPr wrap="square"/>
                    <a:lstStyle/>
                    <a:p>
                      <a:pPr algn="ctr"/>
                      <a:r>
                        <a:rPr sz="1100" b="0">
                          <a:solidFill>
                            <a:srgbClr val="1B2430"/>
                          </a:solidFill>
                          <a:latin typeface="Calibri"/>
                        </a:rPr>
                        <a:t>GARCH</a:t>
                      </a:r>
                    </a:p>
                  </a:txBody>
                  <a:tcPr marL="54864" marR="54864" marT="27432" marB="27432" anchor="ctr">
                    <a:solidFill>
                      <a:srgbClr val="E7C97E"/>
                    </a:solidFill>
                  </a:tcPr>
                </a:tc>
                <a:tc>
                  <a:txBody>
                    <a:bodyPr wrap="square"/>
                    <a:lstStyle/>
                    <a:p>
                      <a:pPr algn="ctr"/>
                      <a:r>
                        <a:rPr sz="1100" b="0">
                          <a:solidFill>
                            <a:srgbClr val="1B2430"/>
                          </a:solidFill>
                          <a:latin typeface="Calibri"/>
                        </a:rPr>
                        <a:t>1.26%</a:t>
                      </a:r>
                    </a:p>
                  </a:txBody>
                  <a:tcPr marL="54864" marR="54864" marT="27432" marB="27432" anchor="ctr">
                    <a:solidFill>
                      <a:srgbClr val="FBF8F1"/>
                    </a:solidFill>
                  </a:tcPr>
                </a:tc>
                <a:tc>
                  <a:txBody>
                    <a:bodyPr wrap="square"/>
                    <a:lstStyle/>
                    <a:p>
                      <a:pPr algn="ctr"/>
                      <a:r>
                        <a:rPr sz="1100" b="0">
                          <a:solidFill>
                            <a:srgbClr val="1B2430"/>
                          </a:solidFill>
                          <a:latin typeface="Calibri"/>
                        </a:rPr>
                        <a:t>0.753</a:t>
                      </a:r>
                    </a:p>
                  </a:txBody>
                  <a:tcPr marL="54864" marR="54864" marT="27432" marB="27432" anchor="ctr">
                    <a:solidFill>
                      <a:srgbClr val="FBF8F1"/>
                    </a:solidFill>
                  </a:tcPr>
                </a:tc>
                <a:tc>
                  <a:txBody>
                    <a:bodyPr wrap="square"/>
                    <a:lstStyle/>
                    <a:p>
                      <a:pPr algn="ctr"/>
                      <a:r>
                        <a:rPr sz="1100" b="0">
                          <a:solidFill>
                            <a:srgbClr val="1B2430"/>
                          </a:solidFill>
                          <a:latin typeface="Calibri"/>
                        </a:rPr>
                        <a:t>GREEN</a:t>
                      </a:r>
                    </a:p>
                  </a:txBody>
                  <a:tcPr marL="54864" marR="54864" marT="27432" marB="27432" anchor="ctr">
                    <a:solidFill>
                      <a:srgbClr val="2E7D46"/>
                    </a:solidFill>
                  </a:tcPr>
                </a:tc>
              </a:tr>
            </a:tbl>
          </a:graphicData>
        </a:graphic>
      </p:graphicFrame>
      <p:sp>
        <p:nvSpPr>
          <p:cNvPr id="6" name="TextBox 5"/>
          <p:cNvSpPr txBox="1"/>
          <p:nvPr/>
        </p:nvSpPr>
        <p:spPr>
          <a:xfrm>
            <a:off x="548640" y="3931920"/>
            <a:ext cx="7223760" cy="822960"/>
          </a:xfrm>
          <a:prstGeom prst="rect">
            <a:avLst/>
          </a:prstGeom>
          <a:noFill/>
        </p:spPr>
        <p:txBody>
          <a:bodyPr wrap="square" anchor="t" lIns="0" rIns="0" tIns="0" bIns="0">
            <a:spAutoFit/>
          </a:bodyPr>
          <a:lstStyle/>
          <a:p>
            <a:pPr algn="l">
              <a:lnSpc>
                <a:spcPct val="100000"/>
              </a:lnSpc>
            </a:pPr>
            <a:r>
              <a:rPr sz="1250" b="0" i="1">
                <a:solidFill>
                  <a:srgbClr val="0E2A3D"/>
                </a:solidFill>
                <a:latin typeface="Calibri"/>
              </a:rPr>
              <a:t>GARCH est le modèle globalement le plus performant : il remporte 3 indices MENA sur 4 (Tunindex, ADI, MASI). ARIMA remporte TASI. Classement établi selon la p-value de Kupiec la plus élevée à alpha=1% (meilleure adéquation entre taux observé et taux attendu).</a:t>
            </a:r>
          </a:p>
        </p:txBody>
      </p:sp>
      <p:pic>
        <p:nvPicPr>
          <p:cNvPr id="7" name="Picture 6" descr="deck_winner_heatmap.png"/>
          <p:cNvPicPr>
            <a:picLocks noChangeAspect="1"/>
          </p:cNvPicPr>
          <p:nvPr/>
        </p:nvPicPr>
        <p:blipFill>
          <a:blip r:embed="rId2"/>
          <a:stretch>
            <a:fillRect/>
          </a:stretch>
        </p:blipFill>
        <p:spPr>
          <a:xfrm>
            <a:off x="7818120" y="1600200"/>
            <a:ext cx="3794760" cy="1662466"/>
          </a:xfrm>
          <a:prstGeom prst="rect">
            <a:avLst/>
          </a:prstGeom>
          <a:ln w="12700">
            <a:solidFill>
              <a:srgbClr val="E7DCC3"/>
            </a:solidFill>
          </a:ln>
        </p:spPr>
      </p:pic>
      <p:sp>
        <p:nvSpPr>
          <p:cNvPr id="8" name="TextBox 7"/>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9" name="TextBox 8"/>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26/31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26</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RÉSULTATS</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Lecture détaillée : les 7 modèles sur Tunindex</a:t>
            </a:r>
          </a:p>
        </p:txBody>
      </p:sp>
      <p:graphicFrame>
        <p:nvGraphicFramePr>
          <p:cNvPr id="5" name="Table 4"/>
          <p:cNvGraphicFramePr>
            <a:graphicFrameLocks noGrp="1"/>
          </p:cNvGraphicFramePr>
          <p:nvPr/>
        </p:nvGraphicFramePr>
        <p:xfrm>
          <a:off x="548640" y="1600200"/>
          <a:ext cx="7498080" cy="2743200"/>
        </p:xfrm>
        <a:graphic>
          <a:graphicData uri="http://schemas.openxmlformats.org/drawingml/2006/table">
            <a:tbl>
              <a:tblPr firstRow="1" bandRow="1">
                <a:tableStyleId>{5C22544A-7EE6-4342-B048-85BDC9FD1C3A}</a:tableStyleId>
              </a:tblPr>
              <a:tblGrid>
                <a:gridCol w="1371600"/>
                <a:gridCol w="1554480"/>
                <a:gridCol w="1463040"/>
                <a:gridCol w="1828800"/>
                <a:gridCol w="1280160"/>
              </a:tblGrid>
              <a:tr h="342900">
                <a:tc>
                  <a:txBody>
                    <a:bodyPr wrap="square"/>
                    <a:lstStyle/>
                    <a:p>
                      <a:pPr algn="ctr"/>
                      <a:r>
                        <a:rPr sz="1100" b="1">
                          <a:solidFill>
                            <a:srgbClr val="FFFFFF"/>
                          </a:solidFill>
                          <a:latin typeface="Calibri"/>
                        </a:rPr>
                        <a:t>Modèle</a:t>
                      </a:r>
                    </a:p>
                  </a:txBody>
                  <a:tcPr marL="54864" marR="54864" marT="27432" marB="27432" anchor="ctr">
                    <a:solidFill>
                      <a:srgbClr val="0E2A3D"/>
                    </a:solidFill>
                  </a:tcPr>
                </a:tc>
                <a:tc>
                  <a:txBody>
                    <a:bodyPr wrap="square"/>
                    <a:lstStyle/>
                    <a:p>
                      <a:pPr algn="ctr"/>
                      <a:r>
                        <a:rPr sz="1100" b="1">
                          <a:solidFill>
                            <a:srgbClr val="FFFFFF"/>
                          </a:solidFill>
                          <a:latin typeface="Calibri"/>
                        </a:rPr>
                        <a:t>Taux observé</a:t>
                      </a:r>
                    </a:p>
                  </a:txBody>
                  <a:tcPr marL="54864" marR="54864" marT="27432" marB="27432" anchor="ctr">
                    <a:solidFill>
                      <a:srgbClr val="0E2A3D"/>
                    </a:solidFill>
                  </a:tcPr>
                </a:tc>
                <a:tc>
                  <a:txBody>
                    <a:bodyPr wrap="square"/>
                    <a:lstStyle/>
                    <a:p>
                      <a:pPr algn="ctr"/>
                      <a:r>
                        <a:rPr sz="1100" b="1">
                          <a:solidFill>
                            <a:srgbClr val="FFFFFF"/>
                          </a:solidFill>
                          <a:latin typeface="Calibri"/>
                        </a:rPr>
                        <a:t>Kupiec p</a:t>
                      </a:r>
                    </a:p>
                  </a:txBody>
                  <a:tcPr marL="54864" marR="54864" marT="27432" marB="27432" anchor="ctr">
                    <a:solidFill>
                      <a:srgbClr val="0E2A3D"/>
                    </a:solidFill>
                  </a:tcPr>
                </a:tc>
                <a:tc>
                  <a:txBody>
                    <a:bodyPr wrap="square"/>
                    <a:lstStyle/>
                    <a:p>
                      <a:pPr algn="ctr"/>
                      <a:r>
                        <a:rPr sz="1100" b="1">
                          <a:solidFill>
                            <a:srgbClr val="FFFFFF"/>
                          </a:solidFill>
                          <a:latin typeface="Calibri"/>
                        </a:rPr>
                        <a:t>Christoffersen p</a:t>
                      </a:r>
                    </a:p>
                  </a:txBody>
                  <a:tcPr marL="54864" marR="54864" marT="27432" marB="27432" anchor="ctr">
                    <a:solidFill>
                      <a:srgbClr val="0E2A3D"/>
                    </a:solidFill>
                  </a:tcPr>
                </a:tc>
                <a:tc>
                  <a:txBody>
                    <a:bodyPr wrap="square"/>
                    <a:lstStyle/>
                    <a:p>
                      <a:pPr algn="ctr"/>
                      <a:r>
                        <a:rPr sz="1100" b="1">
                          <a:solidFill>
                            <a:srgbClr val="FFFFFF"/>
                          </a:solidFill>
                          <a:latin typeface="Calibri"/>
                        </a:rPr>
                        <a:t>Zone Bâle</a:t>
                      </a:r>
                    </a:p>
                  </a:txBody>
                  <a:tcPr marL="54864" marR="54864" marT="27432" marB="27432" anchor="ctr">
                    <a:solidFill>
                      <a:srgbClr val="0E2A3D"/>
                    </a:solidFill>
                  </a:tcPr>
                </a:tc>
              </a:tr>
              <a:tr h="342900">
                <a:tc>
                  <a:txBody>
                    <a:bodyPr wrap="square"/>
                    <a:lstStyle/>
                    <a:p>
                      <a:pPr algn="ctr"/>
                      <a:r>
                        <a:rPr sz="1100" b="0">
                          <a:solidFill>
                            <a:srgbClr val="1B2430"/>
                          </a:solidFill>
                          <a:latin typeface="Calibri"/>
                        </a:rPr>
                        <a:t>ARIMA</a:t>
                      </a:r>
                    </a:p>
                  </a:txBody>
                  <a:tcPr marL="54864" marR="54864" marT="27432" marB="27432" anchor="ctr">
                    <a:solidFill>
                      <a:srgbClr val="F3ECDD"/>
                    </a:solidFill>
                  </a:tcPr>
                </a:tc>
                <a:tc>
                  <a:txBody>
                    <a:bodyPr wrap="square"/>
                    <a:lstStyle/>
                    <a:p>
                      <a:pPr algn="ctr"/>
                      <a:r>
                        <a:rPr sz="1100" b="0">
                          <a:solidFill>
                            <a:srgbClr val="1B2430"/>
                          </a:solidFill>
                          <a:latin typeface="Calibri"/>
                        </a:rPr>
                        <a:t>0.63%</a:t>
                      </a:r>
                    </a:p>
                  </a:txBody>
                  <a:tcPr marL="54864" marR="54864" marT="27432" marB="27432" anchor="ctr">
                    <a:solidFill>
                      <a:srgbClr val="F3ECDD"/>
                    </a:solidFill>
                  </a:tcPr>
                </a:tc>
                <a:tc>
                  <a:txBody>
                    <a:bodyPr wrap="square"/>
                    <a:lstStyle/>
                    <a:p>
                      <a:pPr algn="ctr"/>
                      <a:r>
                        <a:rPr sz="1100" b="0">
                          <a:solidFill>
                            <a:srgbClr val="1B2430"/>
                          </a:solidFill>
                          <a:latin typeface="Calibri"/>
                        </a:rPr>
                        <a:t>0.614</a:t>
                      </a:r>
                    </a:p>
                  </a:txBody>
                  <a:tcPr marL="54864" marR="54864" marT="27432" marB="27432" anchor="ctr">
                    <a:solidFill>
                      <a:srgbClr val="F3ECDD"/>
                    </a:solidFill>
                  </a:tcPr>
                </a:tc>
                <a:tc>
                  <a:txBody>
                    <a:bodyPr wrap="square"/>
                    <a:lstStyle/>
                    <a:p>
                      <a:pPr algn="ctr"/>
                      <a:r>
                        <a:rPr sz="1100" b="0">
                          <a:solidFill>
                            <a:srgbClr val="1B2430"/>
                          </a:solidFill>
                          <a:latin typeface="Calibri"/>
                        </a:rPr>
                        <a:t>0.875</a:t>
                      </a:r>
                    </a:p>
                  </a:txBody>
                  <a:tcPr marL="54864" marR="54864" marT="27432" marB="27432" anchor="ctr">
                    <a:solidFill>
                      <a:srgbClr val="F3ECDD"/>
                    </a:solidFill>
                  </a:tcPr>
                </a:tc>
                <a:tc>
                  <a:txBody>
                    <a:bodyPr wrap="square"/>
                    <a:lstStyle/>
                    <a:p>
                      <a:pPr algn="ctr"/>
                      <a:r>
                        <a:rPr sz="1100" b="0">
                          <a:solidFill>
                            <a:srgbClr val="1B2430"/>
                          </a:solidFill>
                          <a:latin typeface="Calibri"/>
                        </a:rPr>
                        <a:t>GREEN</a:t>
                      </a:r>
                    </a:p>
                  </a:txBody>
                  <a:tcPr marL="54864" marR="54864" marT="27432" marB="27432" anchor="ctr">
                    <a:solidFill>
                      <a:srgbClr val="2E7D46"/>
                    </a:solidFill>
                  </a:tcPr>
                </a:tc>
              </a:tr>
              <a:tr h="342900">
                <a:tc>
                  <a:txBody>
                    <a:bodyPr wrap="square"/>
                    <a:lstStyle/>
                    <a:p>
                      <a:pPr algn="ctr"/>
                      <a:r>
                        <a:rPr sz="1100" b="0">
                          <a:solidFill>
                            <a:srgbClr val="1B2430"/>
                          </a:solidFill>
                          <a:latin typeface="Calibri"/>
                        </a:rPr>
                        <a:t>SARIMA</a:t>
                      </a:r>
                    </a:p>
                  </a:txBody>
                  <a:tcPr marL="54864" marR="54864" marT="27432" marB="27432" anchor="ctr">
                    <a:solidFill>
                      <a:srgbClr val="FBF8F1"/>
                    </a:solidFill>
                  </a:tcPr>
                </a:tc>
                <a:tc>
                  <a:txBody>
                    <a:bodyPr wrap="square"/>
                    <a:lstStyle/>
                    <a:p>
                      <a:pPr algn="ctr"/>
                      <a:r>
                        <a:rPr sz="1100" b="0">
                          <a:solidFill>
                            <a:srgbClr val="1B2430"/>
                          </a:solidFill>
                          <a:latin typeface="Calibri"/>
                        </a:rPr>
                        <a:t>0.63%</a:t>
                      </a:r>
                    </a:p>
                  </a:txBody>
                  <a:tcPr marL="54864" marR="54864" marT="27432" marB="27432" anchor="ctr">
                    <a:solidFill>
                      <a:srgbClr val="FBF8F1"/>
                    </a:solidFill>
                  </a:tcPr>
                </a:tc>
                <a:tc>
                  <a:txBody>
                    <a:bodyPr wrap="square"/>
                    <a:lstStyle/>
                    <a:p>
                      <a:pPr algn="ctr"/>
                      <a:r>
                        <a:rPr sz="1100" b="0">
                          <a:solidFill>
                            <a:srgbClr val="1B2430"/>
                          </a:solidFill>
                          <a:latin typeface="Calibri"/>
                        </a:rPr>
                        <a:t>0.614</a:t>
                      </a:r>
                    </a:p>
                  </a:txBody>
                  <a:tcPr marL="54864" marR="54864" marT="27432" marB="27432" anchor="ctr">
                    <a:solidFill>
                      <a:srgbClr val="FBF8F1"/>
                    </a:solidFill>
                  </a:tcPr>
                </a:tc>
                <a:tc>
                  <a:txBody>
                    <a:bodyPr wrap="square"/>
                    <a:lstStyle/>
                    <a:p>
                      <a:pPr algn="ctr"/>
                      <a:r>
                        <a:rPr sz="1100" b="0">
                          <a:solidFill>
                            <a:srgbClr val="1B2430"/>
                          </a:solidFill>
                          <a:latin typeface="Calibri"/>
                        </a:rPr>
                        <a:t>0.875</a:t>
                      </a:r>
                    </a:p>
                  </a:txBody>
                  <a:tcPr marL="54864" marR="54864" marT="27432" marB="27432" anchor="ctr">
                    <a:solidFill>
                      <a:srgbClr val="FBF8F1"/>
                    </a:solidFill>
                  </a:tcPr>
                </a:tc>
                <a:tc>
                  <a:txBody>
                    <a:bodyPr wrap="square"/>
                    <a:lstStyle/>
                    <a:p>
                      <a:pPr algn="ctr"/>
                      <a:r>
                        <a:rPr sz="1100" b="0">
                          <a:solidFill>
                            <a:srgbClr val="1B2430"/>
                          </a:solidFill>
                          <a:latin typeface="Calibri"/>
                        </a:rPr>
                        <a:t>GREEN</a:t>
                      </a:r>
                    </a:p>
                  </a:txBody>
                  <a:tcPr marL="54864" marR="54864" marT="27432" marB="27432" anchor="ctr">
                    <a:solidFill>
                      <a:srgbClr val="2E7D46"/>
                    </a:solidFill>
                  </a:tcPr>
                </a:tc>
              </a:tr>
              <a:tr h="342900">
                <a:tc>
                  <a:txBody>
                    <a:bodyPr wrap="square"/>
                    <a:lstStyle/>
                    <a:p>
                      <a:pPr algn="ctr"/>
                      <a:r>
                        <a:rPr sz="1100" b="0">
                          <a:solidFill>
                            <a:srgbClr val="1B2430"/>
                          </a:solidFill>
                          <a:latin typeface="Calibri"/>
                        </a:rPr>
                        <a:t>GARCH</a:t>
                      </a:r>
                    </a:p>
                  </a:txBody>
                  <a:tcPr marL="54864" marR="54864" marT="27432" marB="27432" anchor="ctr">
                    <a:solidFill>
                      <a:srgbClr val="F3ECDD"/>
                    </a:solidFill>
                  </a:tcPr>
                </a:tc>
                <a:tc>
                  <a:txBody>
                    <a:bodyPr wrap="square"/>
                    <a:lstStyle/>
                    <a:p>
                      <a:pPr algn="ctr"/>
                      <a:r>
                        <a:rPr sz="1100" b="0">
                          <a:solidFill>
                            <a:srgbClr val="1B2430"/>
                          </a:solidFill>
                          <a:latin typeface="Calibri"/>
                        </a:rPr>
                        <a:t>1.26%</a:t>
                      </a:r>
                    </a:p>
                  </a:txBody>
                  <a:tcPr marL="54864" marR="54864" marT="27432" marB="27432" anchor="ctr">
                    <a:solidFill>
                      <a:srgbClr val="F3ECDD"/>
                    </a:solidFill>
                  </a:tcPr>
                </a:tc>
                <a:tc>
                  <a:txBody>
                    <a:bodyPr wrap="square"/>
                    <a:lstStyle/>
                    <a:p>
                      <a:pPr algn="ctr"/>
                      <a:r>
                        <a:rPr sz="1100" b="0">
                          <a:solidFill>
                            <a:srgbClr val="1B2430"/>
                          </a:solidFill>
                          <a:latin typeface="Calibri"/>
                        </a:rPr>
                        <a:t>0.753</a:t>
                      </a:r>
                    </a:p>
                  </a:txBody>
                  <a:tcPr marL="54864" marR="54864" marT="27432" marB="27432" anchor="ctr">
                    <a:solidFill>
                      <a:srgbClr val="F3ECDD"/>
                    </a:solidFill>
                  </a:tcPr>
                </a:tc>
                <a:tc>
                  <a:txBody>
                    <a:bodyPr wrap="square"/>
                    <a:lstStyle/>
                    <a:p>
                      <a:pPr algn="ctr"/>
                      <a:r>
                        <a:rPr sz="1100" b="0">
                          <a:solidFill>
                            <a:srgbClr val="1B2430"/>
                          </a:solidFill>
                          <a:latin typeface="Calibri"/>
                        </a:rPr>
                        <a:t>0.928</a:t>
                      </a:r>
                    </a:p>
                  </a:txBody>
                  <a:tcPr marL="54864" marR="54864" marT="27432" marB="27432" anchor="ctr">
                    <a:solidFill>
                      <a:srgbClr val="F3ECDD"/>
                    </a:solidFill>
                  </a:tcPr>
                </a:tc>
                <a:tc>
                  <a:txBody>
                    <a:bodyPr wrap="square"/>
                    <a:lstStyle/>
                    <a:p>
                      <a:pPr algn="ctr"/>
                      <a:r>
                        <a:rPr sz="1100" b="0">
                          <a:solidFill>
                            <a:srgbClr val="1B2430"/>
                          </a:solidFill>
                          <a:latin typeface="Calibri"/>
                        </a:rPr>
                        <a:t>GREEN</a:t>
                      </a:r>
                    </a:p>
                  </a:txBody>
                  <a:tcPr marL="54864" marR="54864" marT="27432" marB="27432" anchor="ctr">
                    <a:solidFill>
                      <a:srgbClr val="2E7D46"/>
                    </a:solidFill>
                  </a:tcPr>
                </a:tc>
              </a:tr>
              <a:tr h="342900">
                <a:tc>
                  <a:txBody>
                    <a:bodyPr wrap="square"/>
                    <a:lstStyle/>
                    <a:p>
                      <a:pPr algn="ctr"/>
                      <a:r>
                        <a:rPr sz="1100" b="0">
                          <a:solidFill>
                            <a:srgbClr val="1B2430"/>
                          </a:solidFill>
                          <a:latin typeface="Calibri"/>
                        </a:rPr>
                        <a:t>RF</a:t>
                      </a:r>
                    </a:p>
                  </a:txBody>
                  <a:tcPr marL="54864" marR="54864" marT="27432" marB="27432" anchor="ctr">
                    <a:solidFill>
                      <a:srgbClr val="FBF8F1"/>
                    </a:solidFill>
                  </a:tcPr>
                </a:tc>
                <a:tc>
                  <a:txBody>
                    <a:bodyPr wrap="square"/>
                    <a:lstStyle/>
                    <a:p>
                      <a:pPr algn="ctr"/>
                      <a:r>
                        <a:rPr sz="1100" b="0">
                          <a:solidFill>
                            <a:srgbClr val="1B2430"/>
                          </a:solidFill>
                          <a:latin typeface="Calibri"/>
                        </a:rPr>
                        <a:t>6.29%</a:t>
                      </a:r>
                    </a:p>
                  </a:txBody>
                  <a:tcPr marL="54864" marR="54864" marT="27432" marB="27432" anchor="ctr">
                    <a:solidFill>
                      <a:srgbClr val="FBF8F1"/>
                    </a:solidFill>
                  </a:tcPr>
                </a:tc>
                <a:tc>
                  <a:txBody>
                    <a:bodyPr wrap="square"/>
                    <a:lstStyle/>
                    <a:p>
                      <a:pPr algn="ctr"/>
                      <a:r>
                        <a:rPr sz="1100" b="0">
                          <a:solidFill>
                            <a:srgbClr val="1B2430"/>
                          </a:solidFill>
                          <a:latin typeface="Calibri"/>
                        </a:rPr>
                        <a:t>0.000</a:t>
                      </a:r>
                    </a:p>
                  </a:txBody>
                  <a:tcPr marL="54864" marR="54864" marT="27432" marB="27432" anchor="ctr">
                    <a:solidFill>
                      <a:srgbClr val="FBF8F1"/>
                    </a:solidFill>
                  </a:tcPr>
                </a:tc>
                <a:tc>
                  <a:txBody>
                    <a:bodyPr wrap="square"/>
                    <a:lstStyle/>
                    <a:p>
                      <a:pPr algn="ctr"/>
                      <a:r>
                        <a:rPr sz="1100" b="0">
                          <a:solidFill>
                            <a:srgbClr val="1B2430"/>
                          </a:solidFill>
                          <a:latin typeface="Calibri"/>
                        </a:rPr>
                        <a:t>0.000</a:t>
                      </a:r>
                    </a:p>
                  </a:txBody>
                  <a:tcPr marL="54864" marR="54864" marT="27432" marB="27432" anchor="ctr">
                    <a:solidFill>
                      <a:srgbClr val="FBF8F1"/>
                    </a:solidFill>
                  </a:tcPr>
                </a:tc>
                <a:tc>
                  <a:txBody>
                    <a:bodyPr wrap="square"/>
                    <a:lstStyle/>
                    <a:p>
                      <a:pPr algn="ctr"/>
                      <a:r>
                        <a:rPr sz="1100" b="0">
                          <a:solidFill>
                            <a:srgbClr val="1B2430"/>
                          </a:solidFill>
                          <a:latin typeface="Calibri"/>
                        </a:rPr>
                        <a:t>RED</a:t>
                      </a:r>
                    </a:p>
                  </a:txBody>
                  <a:tcPr marL="54864" marR="54864" marT="27432" marB="27432" anchor="ctr">
                    <a:solidFill>
                      <a:srgbClr val="AE392F"/>
                    </a:solidFill>
                  </a:tcPr>
                </a:tc>
              </a:tr>
              <a:tr h="342900">
                <a:tc>
                  <a:txBody>
                    <a:bodyPr wrap="square"/>
                    <a:lstStyle/>
                    <a:p>
                      <a:pPr algn="ctr"/>
                      <a:r>
                        <a:rPr sz="1100" b="0">
                          <a:solidFill>
                            <a:srgbClr val="1B2430"/>
                          </a:solidFill>
                          <a:latin typeface="Calibri"/>
                        </a:rPr>
                        <a:t>XGB</a:t>
                      </a:r>
                    </a:p>
                  </a:txBody>
                  <a:tcPr marL="54864" marR="54864" marT="27432" marB="27432" anchor="ctr">
                    <a:solidFill>
                      <a:srgbClr val="F3ECDD"/>
                    </a:solidFill>
                  </a:tcPr>
                </a:tc>
                <a:tc>
                  <a:txBody>
                    <a:bodyPr wrap="square"/>
                    <a:lstStyle/>
                    <a:p>
                      <a:pPr algn="ctr"/>
                      <a:r>
                        <a:rPr sz="1100" b="0">
                          <a:solidFill>
                            <a:srgbClr val="1B2430"/>
                          </a:solidFill>
                          <a:latin typeface="Calibri"/>
                        </a:rPr>
                        <a:t>1.89%</a:t>
                      </a:r>
                    </a:p>
                  </a:txBody>
                  <a:tcPr marL="54864" marR="54864" marT="27432" marB="27432" anchor="ctr">
                    <a:solidFill>
                      <a:srgbClr val="F3ECDD"/>
                    </a:solidFill>
                  </a:tcPr>
                </a:tc>
                <a:tc>
                  <a:txBody>
                    <a:bodyPr wrap="square"/>
                    <a:lstStyle/>
                    <a:p>
                      <a:pPr algn="ctr"/>
                      <a:r>
                        <a:rPr sz="1100" b="0">
                          <a:solidFill>
                            <a:srgbClr val="1B2430"/>
                          </a:solidFill>
                          <a:latin typeface="Calibri"/>
                        </a:rPr>
                        <a:t>0.317</a:t>
                      </a:r>
                    </a:p>
                  </a:txBody>
                  <a:tcPr marL="54864" marR="54864" marT="27432" marB="27432" anchor="ctr">
                    <a:solidFill>
                      <a:srgbClr val="F3ECDD"/>
                    </a:solidFill>
                  </a:tcPr>
                </a:tc>
                <a:tc>
                  <a:txBody>
                    <a:bodyPr wrap="square"/>
                    <a:lstStyle/>
                    <a:p>
                      <a:pPr algn="ctr"/>
                      <a:r>
                        <a:rPr sz="1100" b="0">
                          <a:solidFill>
                            <a:srgbClr val="1B2430"/>
                          </a:solidFill>
                          <a:latin typeface="Calibri"/>
                        </a:rPr>
                        <a:t>0.572</a:t>
                      </a:r>
                    </a:p>
                  </a:txBody>
                  <a:tcPr marL="54864" marR="54864" marT="27432" marB="27432" anchor="ctr">
                    <a:solidFill>
                      <a:srgbClr val="F3ECDD"/>
                    </a:solidFill>
                  </a:tcPr>
                </a:tc>
                <a:tc>
                  <a:txBody>
                    <a:bodyPr wrap="square"/>
                    <a:lstStyle/>
                    <a:p>
                      <a:pPr algn="ctr"/>
                      <a:r>
                        <a:rPr sz="1100" b="0">
                          <a:solidFill>
                            <a:srgbClr val="1B2430"/>
                          </a:solidFill>
                          <a:latin typeface="Calibri"/>
                        </a:rPr>
                        <a:t>YELLOW</a:t>
                      </a:r>
                    </a:p>
                  </a:txBody>
                  <a:tcPr marL="54864" marR="54864" marT="27432" marB="27432" anchor="ctr">
                    <a:solidFill>
                      <a:srgbClr val="C88A1E"/>
                    </a:solidFill>
                  </a:tcPr>
                </a:tc>
              </a:tr>
              <a:tr h="342900">
                <a:tc>
                  <a:txBody>
                    <a:bodyPr wrap="square"/>
                    <a:lstStyle/>
                    <a:p>
                      <a:pPr algn="ctr"/>
                      <a:r>
                        <a:rPr sz="1100" b="0">
                          <a:solidFill>
                            <a:srgbClr val="1B2430"/>
                          </a:solidFill>
                          <a:latin typeface="Calibri"/>
                        </a:rPr>
                        <a:t>ANN</a:t>
                      </a:r>
                    </a:p>
                  </a:txBody>
                  <a:tcPr marL="54864" marR="54864" marT="27432" marB="27432" anchor="ctr">
                    <a:solidFill>
                      <a:srgbClr val="FBF8F1"/>
                    </a:solidFill>
                  </a:tcPr>
                </a:tc>
                <a:tc>
                  <a:txBody>
                    <a:bodyPr wrap="square"/>
                    <a:lstStyle/>
                    <a:p>
                      <a:pPr algn="ctr"/>
                      <a:r>
                        <a:rPr sz="1100" b="0">
                          <a:solidFill>
                            <a:srgbClr val="1B2430"/>
                          </a:solidFill>
                          <a:latin typeface="Calibri"/>
                        </a:rPr>
                        <a:t>0.63%</a:t>
                      </a:r>
                    </a:p>
                  </a:txBody>
                  <a:tcPr marL="54864" marR="54864" marT="27432" marB="27432" anchor="ctr">
                    <a:solidFill>
                      <a:srgbClr val="FBF8F1"/>
                    </a:solidFill>
                  </a:tcPr>
                </a:tc>
                <a:tc>
                  <a:txBody>
                    <a:bodyPr wrap="square"/>
                    <a:lstStyle/>
                    <a:p>
                      <a:pPr algn="ctr"/>
                      <a:r>
                        <a:rPr sz="1100" b="0">
                          <a:solidFill>
                            <a:srgbClr val="1B2430"/>
                          </a:solidFill>
                          <a:latin typeface="Calibri"/>
                        </a:rPr>
                        <a:t>0.614</a:t>
                      </a:r>
                    </a:p>
                  </a:txBody>
                  <a:tcPr marL="54864" marR="54864" marT="27432" marB="27432" anchor="ctr">
                    <a:solidFill>
                      <a:srgbClr val="FBF8F1"/>
                    </a:solidFill>
                  </a:tcPr>
                </a:tc>
                <a:tc>
                  <a:txBody>
                    <a:bodyPr wrap="square"/>
                    <a:lstStyle/>
                    <a:p>
                      <a:pPr algn="ctr"/>
                      <a:r>
                        <a:rPr sz="1100" b="0">
                          <a:solidFill>
                            <a:srgbClr val="1B2430"/>
                          </a:solidFill>
                          <a:latin typeface="Calibri"/>
                        </a:rPr>
                        <a:t>0.875</a:t>
                      </a:r>
                    </a:p>
                  </a:txBody>
                  <a:tcPr marL="54864" marR="54864" marT="27432" marB="27432" anchor="ctr">
                    <a:solidFill>
                      <a:srgbClr val="FBF8F1"/>
                    </a:solidFill>
                  </a:tcPr>
                </a:tc>
                <a:tc>
                  <a:txBody>
                    <a:bodyPr wrap="square"/>
                    <a:lstStyle/>
                    <a:p>
                      <a:pPr algn="ctr"/>
                      <a:r>
                        <a:rPr sz="1100" b="0">
                          <a:solidFill>
                            <a:srgbClr val="1B2430"/>
                          </a:solidFill>
                          <a:latin typeface="Calibri"/>
                        </a:rPr>
                        <a:t>GREEN</a:t>
                      </a:r>
                    </a:p>
                  </a:txBody>
                  <a:tcPr marL="54864" marR="54864" marT="27432" marB="27432" anchor="ctr">
                    <a:solidFill>
                      <a:srgbClr val="2E7D46"/>
                    </a:solidFill>
                  </a:tcPr>
                </a:tc>
              </a:tr>
              <a:tr h="342900">
                <a:tc>
                  <a:txBody>
                    <a:bodyPr wrap="square"/>
                    <a:lstStyle/>
                    <a:p>
                      <a:pPr algn="ctr"/>
                      <a:r>
                        <a:rPr sz="1100" b="0">
                          <a:solidFill>
                            <a:srgbClr val="1B2430"/>
                          </a:solidFill>
                          <a:latin typeface="Calibri"/>
                        </a:rPr>
                        <a:t>LSTM</a:t>
                      </a:r>
                    </a:p>
                  </a:txBody>
                  <a:tcPr marL="54864" marR="54864" marT="27432" marB="27432" anchor="ctr">
                    <a:solidFill>
                      <a:srgbClr val="F3ECDD"/>
                    </a:solidFill>
                  </a:tcPr>
                </a:tc>
                <a:tc>
                  <a:txBody>
                    <a:bodyPr wrap="square"/>
                    <a:lstStyle/>
                    <a:p>
                      <a:pPr algn="ctr"/>
                      <a:r>
                        <a:rPr sz="1100" b="0">
                          <a:solidFill>
                            <a:srgbClr val="1B2430"/>
                          </a:solidFill>
                          <a:latin typeface="Calibri"/>
                        </a:rPr>
                        <a:t>0.63%</a:t>
                      </a:r>
                    </a:p>
                  </a:txBody>
                  <a:tcPr marL="54864" marR="54864" marT="27432" marB="27432" anchor="ctr">
                    <a:solidFill>
                      <a:srgbClr val="F3ECDD"/>
                    </a:solidFill>
                  </a:tcPr>
                </a:tc>
                <a:tc>
                  <a:txBody>
                    <a:bodyPr wrap="square"/>
                    <a:lstStyle/>
                    <a:p>
                      <a:pPr algn="ctr"/>
                      <a:r>
                        <a:rPr sz="1100" b="0">
                          <a:solidFill>
                            <a:srgbClr val="1B2430"/>
                          </a:solidFill>
                          <a:latin typeface="Calibri"/>
                        </a:rPr>
                        <a:t>0.614</a:t>
                      </a:r>
                    </a:p>
                  </a:txBody>
                  <a:tcPr marL="54864" marR="54864" marT="27432" marB="27432" anchor="ctr">
                    <a:solidFill>
                      <a:srgbClr val="F3ECDD"/>
                    </a:solidFill>
                  </a:tcPr>
                </a:tc>
                <a:tc>
                  <a:txBody>
                    <a:bodyPr wrap="square"/>
                    <a:lstStyle/>
                    <a:p>
                      <a:pPr algn="ctr"/>
                      <a:r>
                        <a:rPr sz="1100" b="0">
                          <a:solidFill>
                            <a:srgbClr val="1B2430"/>
                          </a:solidFill>
                          <a:latin typeface="Calibri"/>
                        </a:rPr>
                        <a:t>0.875</a:t>
                      </a:r>
                    </a:p>
                  </a:txBody>
                  <a:tcPr marL="54864" marR="54864" marT="27432" marB="27432" anchor="ctr">
                    <a:solidFill>
                      <a:srgbClr val="F3ECDD"/>
                    </a:solidFill>
                  </a:tcPr>
                </a:tc>
                <a:tc>
                  <a:txBody>
                    <a:bodyPr wrap="square"/>
                    <a:lstStyle/>
                    <a:p>
                      <a:pPr algn="ctr"/>
                      <a:r>
                        <a:rPr sz="1100" b="0">
                          <a:solidFill>
                            <a:srgbClr val="1B2430"/>
                          </a:solidFill>
                          <a:latin typeface="Calibri"/>
                        </a:rPr>
                        <a:t>GREEN</a:t>
                      </a:r>
                    </a:p>
                  </a:txBody>
                  <a:tcPr marL="54864" marR="54864" marT="27432" marB="27432" anchor="ctr">
                    <a:solidFill>
                      <a:srgbClr val="2E7D46"/>
                    </a:solidFill>
                  </a:tcPr>
                </a:tc>
              </a:tr>
            </a:tbl>
          </a:graphicData>
        </a:graphic>
      </p:graphicFrame>
      <p:sp>
        <p:nvSpPr>
          <p:cNvPr id="6" name="TextBox 5"/>
          <p:cNvSpPr txBox="1"/>
          <p:nvPr/>
        </p:nvSpPr>
        <p:spPr>
          <a:xfrm>
            <a:off x="548640" y="4663440"/>
            <a:ext cx="7498079" cy="1737360"/>
          </a:xfrm>
          <a:prstGeom prst="rect">
            <a:avLst/>
          </a:prstGeom>
          <a:noFill/>
        </p:spPr>
        <p:txBody>
          <a:bodyPr wrap="square" anchor="t" lIns="0" rIns="0" tIns="0" bIns="0">
            <a:spAutoFit/>
          </a:bodyPr>
          <a:lstStyle/>
          <a:p>
            <a:pPr algn="l">
              <a:lnSpc>
                <a:spcPct val="120000"/>
              </a:lnSpc>
            </a:pPr>
            <a:r>
              <a:rPr sz="1250" b="0" i="1">
                <a:solidFill>
                  <a:srgbClr val="0E2A3D"/>
                </a:solidFill>
                <a:latin typeface="Calibri"/>
              </a:rPr>
              <a:t>Random Forest : 7/8 combinaisons (indice x alpha) en zone ROUGE -- modèle systématiquement trop optimiste sur le risque de queue, à éviter tel quel pour la VaR.</a:t>
            </a:r>
          </a:p>
          <a:p>
            <a:pPr algn="l">
              <a:lnSpc>
                <a:spcPct val="120000"/>
              </a:lnSpc>
            </a:pPr>
            <a:r>
              <a:rPr sz="1250" b="0" i="1">
                <a:solidFill>
                  <a:srgbClr val="0E2A3D"/>
                </a:solidFill>
                <a:latin typeface="Calibri"/>
              </a:rPr>
              <a:t>ANN / LSTM : 8/8 et 8/8 combinaisons en zone VERTE respectivement -- bien calibrés, mais sans dominer nettement GARCH/ARIMA (voir tableau des gagnants).</a:t>
            </a:r>
          </a:p>
        </p:txBody>
      </p:sp>
      <p:sp>
        <p:nvSpPr>
          <p:cNvPr id="7" name="Rectangle 6"/>
          <p:cNvSpPr/>
          <p:nvPr/>
        </p:nvSpPr>
        <p:spPr>
          <a:xfrm>
            <a:off x="8138160" y="1600200"/>
            <a:ext cx="3474720" cy="4206240"/>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66760" y="1783080"/>
            <a:ext cx="3017520" cy="365760"/>
          </a:xfrm>
          <a:prstGeom prst="rect">
            <a:avLst/>
          </a:prstGeom>
          <a:noFill/>
        </p:spPr>
        <p:txBody>
          <a:bodyPr wrap="square" anchor="t" lIns="0" rIns="0" tIns="0" bIns="0">
            <a:spAutoFit/>
          </a:bodyPr>
          <a:lstStyle/>
          <a:p>
            <a:pPr algn="l">
              <a:lnSpc>
                <a:spcPct val="100000"/>
              </a:lnSpc>
            </a:pPr>
            <a:r>
              <a:rPr sz="1200" b="1" i="0">
                <a:solidFill>
                  <a:srgbClr val="E7C97E"/>
                </a:solidFill>
                <a:latin typeface="Calibri"/>
              </a:rPr>
              <a:t>À RETENIR</a:t>
            </a:r>
          </a:p>
        </p:txBody>
      </p:sp>
      <p:sp>
        <p:nvSpPr>
          <p:cNvPr id="9" name="TextBox 8"/>
          <p:cNvSpPr txBox="1"/>
          <p:nvPr/>
        </p:nvSpPr>
        <p:spPr>
          <a:xfrm>
            <a:off x="8366760" y="2194560"/>
            <a:ext cx="3017520" cy="3474720"/>
          </a:xfrm>
          <a:prstGeom prst="rect">
            <a:avLst/>
          </a:prstGeom>
          <a:noFill/>
        </p:spPr>
        <p:txBody>
          <a:bodyPr wrap="square" anchor="t" lIns="0" rIns="0" tIns="0" bIns="0">
            <a:spAutoFit/>
          </a:bodyPr>
          <a:lstStyle/>
          <a:p>
            <a:pPr>
              <a:lnSpc>
                <a:spcPct val="108000"/>
              </a:lnSpc>
              <a:spcAft>
                <a:spcPts val="800"/>
              </a:spcAft>
            </a:pPr>
            <a:r>
              <a:rPr sz="1250">
                <a:solidFill>
                  <a:srgbClr val="F3ECDD"/>
                </a:solidFill>
                <a:latin typeface="Calibri"/>
              </a:rPr>
              <a:t>›  GARCH/ARIMA : compromis simplicité-robustesse, gagnants sur 4/4 indices.</a:t>
            </a:r>
          </a:p>
          <a:p>
            <a:pPr>
              <a:lnSpc>
                <a:spcPct val="108000"/>
              </a:lnSpc>
              <a:spcAft>
                <a:spcPts val="800"/>
              </a:spcAft>
            </a:pPr>
            <a:r>
              <a:rPr sz="1250">
                <a:solidFill>
                  <a:srgbClr val="F3ECDD"/>
                </a:solidFill>
                <a:latin typeface="Calibri"/>
              </a:rPr>
              <a:t>›  ANN/LSTM : bien calibrés, compétitifs, mais pas dominants.</a:t>
            </a:r>
          </a:p>
          <a:p>
            <a:pPr>
              <a:lnSpc>
                <a:spcPct val="108000"/>
              </a:lnSpc>
              <a:spcAft>
                <a:spcPts val="800"/>
              </a:spcAft>
            </a:pPr>
            <a:r>
              <a:rPr sz="1250">
                <a:solidFill>
                  <a:srgbClr val="F3ECDD"/>
                </a:solidFill>
                <a:latin typeface="Calibri"/>
              </a:rPr>
              <a:t>›  RF : sur-viole systématiquement -- inadapté en l'état.</a:t>
            </a:r>
          </a:p>
          <a:p>
            <a:pPr>
              <a:lnSpc>
                <a:spcPct val="108000"/>
              </a:lnSpc>
              <a:spcAft>
                <a:spcPts val="800"/>
              </a:spcAft>
            </a:pPr>
            <a:r>
              <a:rPr sz="1250">
                <a:solidFill>
                  <a:srgbClr val="F3ECDD"/>
                </a:solidFill>
                <a:latin typeface="Calibri"/>
              </a:rPr>
              <a:t>›  XGB : meilleur que RF, sans dépasser les modèles statistiques.</a:t>
            </a:r>
          </a:p>
        </p:txBody>
      </p:sp>
      <p:sp>
        <p:nvSpPr>
          <p:cNvPr id="10" name="TextBox 9"/>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11" name="TextBox 10"/>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27/31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27</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DISCUSSION</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MENA vs marchés développés (CAC40 / S&amp;P 500)</a:t>
            </a:r>
          </a:p>
        </p:txBody>
      </p:sp>
      <p:sp>
        <p:nvSpPr>
          <p:cNvPr id="5" name="TextBox 4"/>
          <p:cNvSpPr txBox="1"/>
          <p:nvPr/>
        </p:nvSpPr>
        <p:spPr>
          <a:xfrm>
            <a:off x="548640" y="1600200"/>
            <a:ext cx="5760720" cy="4206240"/>
          </a:xfrm>
          <a:prstGeom prst="rect">
            <a:avLst/>
          </a:prstGeom>
          <a:noFill/>
        </p:spPr>
        <p:txBody>
          <a:bodyPr wrap="square" anchor="t" lIns="0" rIns="0" tIns="0" bIns="0">
            <a:spAutoFit/>
          </a:bodyPr>
          <a:lstStyle/>
          <a:p>
            <a:pPr>
              <a:lnSpc>
                <a:spcPct val="108000"/>
              </a:lnSpc>
              <a:spcAft>
                <a:spcPts val="800"/>
              </a:spcAft>
            </a:pPr>
            <a:r>
              <a:rPr sz="1400">
                <a:solidFill>
                  <a:srgbClr val="1B2430"/>
                </a:solidFill>
                <a:latin typeface="Calibri"/>
              </a:rPr>
              <a:t>—  Sur les marchés développés (CAC40, S&amp;P 500), la littérature montre un avantage plus net des modèles GARCH/Deep Learning face aux chocs de volatilité (crises 2008, 2011).</a:t>
            </a:r>
          </a:p>
          <a:p>
            <a:pPr>
              <a:lnSpc>
                <a:spcPct val="108000"/>
              </a:lnSpc>
              <a:spcAft>
                <a:spcPts val="800"/>
              </a:spcAft>
            </a:pPr>
            <a:r>
              <a:rPr sz="1400">
                <a:solidFill>
                  <a:srgbClr val="1B2430"/>
                </a:solidFill>
                <a:latin typeface="Calibri"/>
              </a:rPr>
              <a:t>—  Sur les indices MENA de cette étude, les modèles ANN/LSTM égalent GARCH/ARIMA en calibration (zone verte) mais ne les surpassent pas nettement -- écart moins marqué qu'attendu.</a:t>
            </a:r>
          </a:p>
          <a:p>
            <a:pPr>
              <a:lnSpc>
                <a:spcPct val="108000"/>
              </a:lnSpc>
              <a:spcAft>
                <a:spcPts val="800"/>
              </a:spcAft>
            </a:pPr>
            <a:r>
              <a:rPr sz="1400">
                <a:solidFill>
                  <a:srgbClr val="1B2430"/>
                </a:solidFill>
                <a:latin typeface="Calibri"/>
              </a:rPr>
              <a:t>—  Hypothèse explicative : séries MENA plus courtes en observations utiles de volatilité extrême, et micro-structure (liquidité, jours de fermeture spécifiques) qui peut limiter l'avantage informationnel du Deep Learning.</a:t>
            </a:r>
          </a:p>
          <a:p>
            <a:pPr>
              <a:lnSpc>
                <a:spcPct val="108000"/>
              </a:lnSpc>
              <a:spcAft>
                <a:spcPts val="800"/>
              </a:spcAft>
            </a:pPr>
            <a:r>
              <a:rPr sz="1400">
                <a:solidFill>
                  <a:srgbClr val="1B2430"/>
                </a:solidFill>
                <a:latin typeface="Calibri"/>
              </a:rPr>
              <a:t>—  GARCH, plus parcimonieux, reste compétitif -- cohérent avec des travaux montrant sa robustesse sur des marchés émergents à volatilité regroupée mais aux échantillons plus restreints.</a:t>
            </a:r>
          </a:p>
        </p:txBody>
      </p:sp>
      <p:sp>
        <p:nvSpPr>
          <p:cNvPr id="6" name="Rectangle 5"/>
          <p:cNvSpPr/>
          <p:nvPr/>
        </p:nvSpPr>
        <p:spPr>
          <a:xfrm>
            <a:off x="7772400" y="1600200"/>
            <a:ext cx="3840480" cy="3291840"/>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1783080"/>
            <a:ext cx="3383280" cy="365760"/>
          </a:xfrm>
          <a:prstGeom prst="rect">
            <a:avLst/>
          </a:prstGeom>
          <a:noFill/>
        </p:spPr>
        <p:txBody>
          <a:bodyPr wrap="square" anchor="t" lIns="0" rIns="0" tIns="0" bIns="0">
            <a:spAutoFit/>
          </a:bodyPr>
          <a:lstStyle/>
          <a:p>
            <a:pPr algn="l">
              <a:lnSpc>
                <a:spcPct val="100000"/>
              </a:lnSpc>
            </a:pPr>
            <a:r>
              <a:rPr sz="1200" b="1" i="0">
                <a:solidFill>
                  <a:srgbClr val="E7C97E"/>
                </a:solidFill>
                <a:latin typeface="Calibri"/>
              </a:rPr>
              <a:t>À RETENIR</a:t>
            </a:r>
          </a:p>
        </p:txBody>
      </p:sp>
      <p:sp>
        <p:nvSpPr>
          <p:cNvPr id="8" name="TextBox 7"/>
          <p:cNvSpPr txBox="1"/>
          <p:nvPr/>
        </p:nvSpPr>
        <p:spPr>
          <a:xfrm>
            <a:off x="8001000" y="2194560"/>
            <a:ext cx="3383280" cy="2468880"/>
          </a:xfrm>
          <a:prstGeom prst="rect">
            <a:avLst/>
          </a:prstGeom>
          <a:noFill/>
        </p:spPr>
        <p:txBody>
          <a:bodyPr wrap="square" anchor="ctr" lIns="0" rIns="0" tIns="0" bIns="0">
            <a:spAutoFit/>
          </a:bodyPr>
          <a:lstStyle/>
          <a:p>
            <a:pPr>
              <a:lnSpc>
                <a:spcPct val="108000"/>
              </a:lnSpc>
              <a:spcAft>
                <a:spcPts val="800"/>
              </a:spcAft>
            </a:pPr>
            <a:r>
              <a:rPr sz="1300">
                <a:solidFill>
                  <a:srgbClr val="F3ECDD"/>
                </a:solidFill>
                <a:latin typeface="Calibri"/>
              </a:rPr>
              <a:t>›  Pas de "solution unique" -- le meilleur modèle dépend de l'indice.</a:t>
            </a:r>
          </a:p>
          <a:p>
            <a:pPr>
              <a:lnSpc>
                <a:spcPct val="108000"/>
              </a:lnSpc>
              <a:spcAft>
                <a:spcPts val="800"/>
              </a:spcAft>
            </a:pPr>
            <a:r>
              <a:rPr sz="1300">
                <a:solidFill>
                  <a:srgbClr val="F3ECDD"/>
                </a:solidFill>
                <a:latin typeface="Calibri"/>
              </a:rPr>
              <a:t>›  GARCH : bon compromis simplicité / robustesse sur MENA.</a:t>
            </a:r>
          </a:p>
          <a:p>
            <a:pPr>
              <a:lnSpc>
                <a:spcPct val="108000"/>
              </a:lnSpc>
              <a:spcAft>
                <a:spcPts val="800"/>
              </a:spcAft>
            </a:pPr>
            <a:r>
              <a:rPr sz="1300">
                <a:solidFill>
                  <a:srgbClr val="F3ECDD"/>
                </a:solidFill>
                <a:latin typeface="Calibri"/>
              </a:rPr>
              <a:t>›  Deep Learning : compétitif mais pas dominant ici.</a:t>
            </a:r>
          </a:p>
          <a:p>
            <a:pPr>
              <a:lnSpc>
                <a:spcPct val="108000"/>
              </a:lnSpc>
              <a:spcAft>
                <a:spcPts val="800"/>
              </a:spcAft>
            </a:pPr>
            <a:r>
              <a:rPr sz="1300">
                <a:solidFill>
                  <a:srgbClr val="F3ECDD"/>
                </a:solidFill>
                <a:latin typeface="Calibri"/>
              </a:rPr>
              <a:t>›  RF/XGBoost : à éviter tels quels pour la VaR de marché.</a:t>
            </a:r>
          </a:p>
        </p:txBody>
      </p:sp>
      <p:sp>
        <p:nvSpPr>
          <p:cNvPr id="9" name="TextBox 8"/>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10" name="TextBox 9"/>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28/31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28</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VERDICT</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Vérification de l'hypothèse : le LSTM sur ADI</a:t>
            </a:r>
          </a:p>
        </p:txBody>
      </p:sp>
      <p:sp>
        <p:nvSpPr>
          <p:cNvPr id="5" name="TextBox 4"/>
          <p:cNvSpPr txBox="1"/>
          <p:nvPr/>
        </p:nvSpPr>
        <p:spPr>
          <a:xfrm>
            <a:off x="548640" y="1554480"/>
            <a:ext cx="11064240" cy="365760"/>
          </a:xfrm>
          <a:prstGeom prst="rect">
            <a:avLst/>
          </a:prstGeom>
          <a:noFill/>
        </p:spPr>
        <p:txBody>
          <a:bodyPr wrap="square" anchor="t" lIns="0" rIns="0" tIns="0" bIns="0">
            <a:spAutoFit/>
          </a:bodyPr>
          <a:lstStyle/>
          <a:p>
            <a:pPr algn="l">
              <a:lnSpc>
                <a:spcPct val="100000"/>
              </a:lnSpc>
            </a:pPr>
            <a:r>
              <a:rPr sz="1500" b="1" i="0">
                <a:solidFill>
                  <a:srgbClr val="0E2A3D"/>
                </a:solidFill>
                <a:latin typeface="Calibri"/>
              </a:rPr>
              <a:t>Hypothèse testée : « le LSTM surpasse les modèles classiques sur l'indice ADI »</a:t>
            </a:r>
          </a:p>
        </p:txBody>
      </p:sp>
      <p:pic>
        <p:nvPicPr>
          <p:cNvPr id="6" name="Picture 5" descr="deck_adi_garch_vs_lstm.png"/>
          <p:cNvPicPr>
            <a:picLocks noChangeAspect="1"/>
          </p:cNvPicPr>
          <p:nvPr/>
        </p:nvPicPr>
        <p:blipFill>
          <a:blip r:embed="rId2"/>
          <a:stretch>
            <a:fillRect/>
          </a:stretch>
        </p:blipFill>
        <p:spPr>
          <a:xfrm>
            <a:off x="548640" y="2011680"/>
            <a:ext cx="7680960" cy="2653423"/>
          </a:xfrm>
          <a:prstGeom prst="rect">
            <a:avLst/>
          </a:prstGeom>
          <a:ln w="12700">
            <a:solidFill>
              <a:srgbClr val="E7DCC3"/>
            </a:solidFill>
          </a:ln>
        </p:spPr>
      </p:pic>
      <p:sp>
        <p:nvSpPr>
          <p:cNvPr id="7" name="Rectangle 6"/>
          <p:cNvSpPr/>
          <p:nvPr/>
        </p:nvSpPr>
        <p:spPr>
          <a:xfrm>
            <a:off x="8275320" y="2011680"/>
            <a:ext cx="3337560" cy="4023360"/>
          </a:xfrm>
          <a:prstGeom prst="rect">
            <a:avLst/>
          </a:prstGeom>
          <a:solidFill>
            <a:srgbClr val="AE3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0" y="2194560"/>
            <a:ext cx="2926080" cy="457200"/>
          </a:xfrm>
          <a:prstGeom prst="rect">
            <a:avLst/>
          </a:prstGeom>
          <a:noFill/>
        </p:spPr>
        <p:txBody>
          <a:bodyPr wrap="square" anchor="t" lIns="0" rIns="0" tIns="0" bIns="0">
            <a:spAutoFit/>
          </a:bodyPr>
          <a:lstStyle/>
          <a:p>
            <a:pPr algn="l">
              <a:lnSpc>
                <a:spcPct val="100000"/>
              </a:lnSpc>
            </a:pPr>
            <a:r>
              <a:rPr sz="2000" b="1" i="0">
                <a:solidFill>
                  <a:srgbClr val="FFFFFF"/>
                </a:solidFill>
                <a:latin typeface="Cambria"/>
              </a:rPr>
              <a:t>NON CONFIRMÉE</a:t>
            </a:r>
          </a:p>
        </p:txBody>
      </p:sp>
      <p:sp>
        <p:nvSpPr>
          <p:cNvPr id="9" name="TextBox 8"/>
          <p:cNvSpPr txBox="1"/>
          <p:nvPr/>
        </p:nvSpPr>
        <p:spPr>
          <a:xfrm>
            <a:off x="8503920" y="2743200"/>
            <a:ext cx="2926080" cy="2651760"/>
          </a:xfrm>
          <a:prstGeom prst="rect">
            <a:avLst/>
          </a:prstGeom>
          <a:noFill/>
        </p:spPr>
        <p:txBody>
          <a:bodyPr wrap="square" anchor="t" lIns="0" rIns="0" tIns="0" bIns="0">
            <a:spAutoFit/>
          </a:bodyPr>
          <a:lstStyle/>
          <a:p>
            <a:pPr algn="l">
              <a:lnSpc>
                <a:spcPct val="115000"/>
              </a:lnSpc>
            </a:pPr>
            <a:r>
              <a:rPr sz="1200" b="0" i="0">
                <a:solidFill>
                  <a:srgbClr val="FFFFFF"/>
                </a:solidFill>
                <a:latin typeface="Calibri"/>
              </a:rPr>
              <a:t>LSTM @ 99% : 0.59% de violations, zone GREEN -- bien calibré.</a:t>
            </a:r>
          </a:p>
          <a:p>
            <a:pPr algn="l">
              <a:lnSpc>
                <a:spcPct val="115000"/>
              </a:lnSpc>
            </a:pPr>
            <a:r>
              <a:rPr sz="1200" b="0" i="0">
                <a:solidFill>
                  <a:srgbClr val="FFFFFF"/>
                </a:solidFill>
                <a:latin typeface="Calibri"/>
              </a:rPr>
              <a:t/>
            </a:r>
          </a:p>
          <a:p>
            <a:pPr algn="l">
              <a:lnSpc>
                <a:spcPct val="115000"/>
              </a:lnSpc>
            </a:pPr>
            <a:r>
              <a:rPr sz="1200" b="0" i="0">
                <a:solidFill>
                  <a:srgbClr val="FFFFFF"/>
                </a:solidFill>
                <a:latin typeface="Calibri"/>
              </a:rPr>
              <a:t>GARCH @ 99% : 1.18%, zone GREEN -- également bien calibré, et gagnant officiel sur ADI (Kupiec p=0.822 vs 0.559).</a:t>
            </a:r>
          </a:p>
          <a:p>
            <a:pPr algn="l">
              <a:lnSpc>
                <a:spcPct val="115000"/>
              </a:lnSpc>
            </a:pPr>
            <a:r>
              <a:rPr sz="1200" b="0" i="0">
                <a:solidFill>
                  <a:srgbClr val="FFFFFF"/>
                </a:solidFill>
                <a:latin typeface="Calibri"/>
              </a:rPr>
              <a:t/>
            </a:r>
          </a:p>
          <a:p>
            <a:pPr algn="l">
              <a:lnSpc>
                <a:spcPct val="115000"/>
              </a:lnSpc>
            </a:pPr>
            <a:r>
              <a:rPr sz="1200" b="0" i="0">
                <a:solidFill>
                  <a:srgbClr val="FFFFFF"/>
                </a:solidFill>
                <a:latin typeface="Calibri"/>
              </a:rPr>
              <a:t>Le LSTM est fiable sur ADI mais n'est PAS distinctement supérieur au GARCH : les deux sont en zone verte, GARCH a la meilleure p-value de Kupiec.</a:t>
            </a:r>
          </a:p>
        </p:txBody>
      </p:sp>
      <p:sp>
        <p:nvSpPr>
          <p:cNvPr id="10" name="TextBox 9"/>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11" name="TextBox 10"/>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29/31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3ECDD"/>
        </a:solidFill>
        <a:effectLst/>
      </p:bgPr>
    </p:bg>
    <p:spTree>
      <p:nvGrpSpPr>
        <p:cNvPr id="1" name=""/>
        <p:cNvGrpSpPr/>
        <p:nvPr/>
      </p:nvGrpSpPr>
      <p:grpSpPr/>
      <p:sp>
        <p:nvSpPr>
          <p:cNvPr id="2" name="Oval 1"/>
          <p:cNvSpPr/>
          <p:nvPr/>
        </p:nvSpPr>
        <p:spPr>
          <a:xfrm>
            <a:off x="548640" y="384048"/>
            <a:ext cx="502920" cy="502920"/>
          </a:xfrm>
          <a:prstGeom prst="ellipse">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81B28"/>
                </a:solidFill>
                <a:latin typeface="Cambria"/>
              </a:rPr>
              <a:t>29</a:t>
            </a:r>
          </a:p>
        </p:txBody>
      </p:sp>
      <p:sp>
        <p:nvSpPr>
          <p:cNvPr id="3" name="TextBox 2"/>
          <p:cNvSpPr txBox="1"/>
          <p:nvPr/>
        </p:nvSpPr>
        <p:spPr>
          <a:xfrm>
            <a:off x="1188720" y="402336"/>
            <a:ext cx="8229600" cy="27432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CONCLUSION</a:t>
            </a:r>
          </a:p>
        </p:txBody>
      </p:sp>
      <p:sp>
        <p:nvSpPr>
          <p:cNvPr id="4" name="TextBox 3"/>
          <p:cNvSpPr txBox="1"/>
          <p:nvPr/>
        </p:nvSpPr>
        <p:spPr>
          <a:xfrm>
            <a:off x="1188720" y="658368"/>
            <a:ext cx="10424160" cy="640080"/>
          </a:xfrm>
          <a:prstGeom prst="rect">
            <a:avLst/>
          </a:prstGeom>
          <a:noFill/>
        </p:spPr>
        <p:txBody>
          <a:bodyPr wrap="square" anchor="t" lIns="0" rIns="0" tIns="0" bIns="0">
            <a:spAutoFit/>
          </a:bodyPr>
          <a:lstStyle/>
          <a:p>
            <a:pPr algn="l">
              <a:lnSpc>
                <a:spcPct val="100000"/>
              </a:lnSpc>
            </a:pPr>
            <a:r>
              <a:rPr sz="3000" b="1" i="0">
                <a:solidFill>
                  <a:srgbClr val="0E2A3D"/>
                </a:solidFill>
                <a:latin typeface="Cambria"/>
              </a:rPr>
              <a:t>Conclusion et perspectives</a:t>
            </a:r>
          </a:p>
        </p:txBody>
      </p:sp>
      <p:sp>
        <p:nvSpPr>
          <p:cNvPr id="5" name="TextBox 4"/>
          <p:cNvSpPr txBox="1"/>
          <p:nvPr/>
        </p:nvSpPr>
        <p:spPr>
          <a:xfrm>
            <a:off x="548640" y="1600200"/>
            <a:ext cx="5760720" cy="4297680"/>
          </a:xfrm>
          <a:prstGeom prst="rect">
            <a:avLst/>
          </a:prstGeom>
          <a:noFill/>
        </p:spPr>
        <p:txBody>
          <a:bodyPr wrap="square" anchor="t" lIns="0" rIns="0" tIns="0" bIns="0">
            <a:spAutoFit/>
          </a:bodyPr>
          <a:lstStyle/>
          <a:p>
            <a:pPr>
              <a:lnSpc>
                <a:spcPct val="108000"/>
              </a:lnSpc>
              <a:spcAft>
                <a:spcPts val="800"/>
              </a:spcAft>
            </a:pPr>
            <a:r>
              <a:rPr sz="1450">
                <a:solidFill>
                  <a:srgbClr val="1B2430"/>
                </a:solidFill>
                <a:latin typeface="Calibri"/>
              </a:rPr>
              <a:t>—  GARCH est le modèle le plus robuste pour la VaR sur les indices MENA étudiés (3 indices gagnés sur 4).</a:t>
            </a:r>
          </a:p>
          <a:p>
            <a:pPr>
              <a:lnSpc>
                <a:spcPct val="108000"/>
              </a:lnSpc>
              <a:spcAft>
                <a:spcPts val="800"/>
              </a:spcAft>
            </a:pPr>
            <a:r>
              <a:rPr sz="1450">
                <a:solidFill>
                  <a:srgbClr val="1B2430"/>
                </a:solidFill>
                <a:latin typeface="Calibri"/>
              </a:rPr>
              <a:t>—  ARIMA reste compétitif et gagne sur TASI -- la simplicité n'est pas pénalisante ici.</a:t>
            </a:r>
          </a:p>
          <a:p>
            <a:pPr>
              <a:lnSpc>
                <a:spcPct val="108000"/>
              </a:lnSpc>
              <a:spcAft>
                <a:spcPts val="800"/>
              </a:spcAft>
            </a:pPr>
            <a:r>
              <a:rPr sz="1450">
                <a:solidFill>
                  <a:srgbClr val="1B2430"/>
                </a:solidFill>
                <a:latin typeface="Calibri"/>
              </a:rPr>
              <a:t>—  ANN/LSTM sont bien calibrés mais ne surpassent pas nettement les modèles classiques -- l'hypothèse LSTM &gt; classiques sur ADI n'est pas confirmée.</a:t>
            </a:r>
          </a:p>
          <a:p>
            <a:pPr>
              <a:lnSpc>
                <a:spcPct val="108000"/>
              </a:lnSpc>
              <a:spcAft>
                <a:spcPts val="800"/>
              </a:spcAft>
            </a:pPr>
            <a:r>
              <a:rPr sz="1450">
                <a:solidFill>
                  <a:srgbClr val="1B2430"/>
                </a:solidFill>
                <a:latin typeface="Calibri"/>
              </a:rPr>
              <a:t>—  Random Forest (et dans une moindre mesure XGBoost) est déconseillé pour la VaR de marché en l'état : sur-violations systématiques (zone rouge).</a:t>
            </a:r>
          </a:p>
          <a:p>
            <a:pPr>
              <a:lnSpc>
                <a:spcPct val="108000"/>
              </a:lnSpc>
              <a:spcAft>
                <a:spcPts val="800"/>
              </a:spcAft>
            </a:pPr>
            <a:r>
              <a:rPr sz="1450">
                <a:solidFill>
                  <a:srgbClr val="1B2430"/>
                </a:solidFill>
                <a:latin typeface="Calibri"/>
              </a:rPr>
              <a:t>—  Perspectives : élargir la fenêtre de test, tester GARCH asymétrique (EGARCH/GJR) et des architectures hybrides (GARCH-LSTM), et exploiter des données intra-journalières pour les marchés MENA les plus liquides.</a:t>
            </a:r>
          </a:p>
        </p:txBody>
      </p:sp>
      <p:sp>
        <p:nvSpPr>
          <p:cNvPr id="6" name="Rectangle 5"/>
          <p:cNvSpPr/>
          <p:nvPr/>
        </p:nvSpPr>
        <p:spPr>
          <a:xfrm>
            <a:off x="7772400" y="1600200"/>
            <a:ext cx="3840480" cy="3108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1783080"/>
            <a:ext cx="3383280" cy="365760"/>
          </a:xfrm>
          <a:prstGeom prst="rect">
            <a:avLst/>
          </a:prstGeom>
          <a:noFill/>
        </p:spPr>
        <p:txBody>
          <a:bodyPr wrap="square" anchor="t" lIns="0" rIns="0" tIns="0" bIns="0">
            <a:spAutoFit/>
          </a:bodyPr>
          <a:lstStyle/>
          <a:p>
            <a:pPr algn="l">
              <a:lnSpc>
                <a:spcPct val="100000"/>
              </a:lnSpc>
            </a:pPr>
            <a:r>
              <a:rPr sz="1200" b="1" i="0">
                <a:solidFill>
                  <a:srgbClr val="C9982D"/>
                </a:solidFill>
                <a:latin typeface="Calibri"/>
              </a:rPr>
              <a:t>PIPELINE &amp; CODE</a:t>
            </a:r>
          </a:p>
        </p:txBody>
      </p:sp>
      <p:sp>
        <p:nvSpPr>
          <p:cNvPr id="8" name="TextBox 7"/>
          <p:cNvSpPr txBox="1"/>
          <p:nvPr/>
        </p:nvSpPr>
        <p:spPr>
          <a:xfrm>
            <a:off x="8001000" y="2194560"/>
            <a:ext cx="3383280" cy="2286000"/>
          </a:xfrm>
          <a:prstGeom prst="rect">
            <a:avLst/>
          </a:prstGeom>
          <a:noFill/>
        </p:spPr>
        <p:txBody>
          <a:bodyPr wrap="square" anchor="ctr" lIns="0" rIns="0" tIns="0" bIns="0">
            <a:spAutoFit/>
          </a:bodyPr>
          <a:lstStyle/>
          <a:p>
            <a:pPr>
              <a:lnSpc>
                <a:spcPct val="108000"/>
              </a:lnSpc>
              <a:spcAft>
                <a:spcPts val="800"/>
              </a:spcAft>
            </a:pPr>
            <a:r>
              <a:rPr sz="1300">
                <a:solidFill>
                  <a:srgbClr val="1B2430"/>
                </a:solidFill>
                <a:latin typeface="Calibri"/>
              </a:rPr>
              <a:t>›  Package tsvar (Python) : data, classical, volatility, ml, deep, var, backtest, run, plots.</a:t>
            </a:r>
          </a:p>
          <a:p>
            <a:pPr>
              <a:lnSpc>
                <a:spcPct val="108000"/>
              </a:lnSpc>
              <a:spcAft>
                <a:spcPts val="800"/>
              </a:spcAft>
            </a:pPr>
            <a:r>
              <a:rPr sz="1300">
                <a:solidFill>
                  <a:srgbClr val="1B2430"/>
                </a:solidFill>
                <a:latin typeface="Calibri"/>
              </a:rPr>
              <a:t>›  22 tests unitaires (pytest) couvrant chaque étage du pipeline.</a:t>
            </a:r>
          </a:p>
          <a:p>
            <a:pPr>
              <a:lnSpc>
                <a:spcPct val="108000"/>
              </a:lnSpc>
              <a:spcAft>
                <a:spcPts val="800"/>
              </a:spcAft>
            </a:pPr>
            <a:r>
              <a:rPr sz="1300">
                <a:solidFill>
                  <a:srgbClr val="1B2430"/>
                </a:solidFill>
                <a:latin typeface="Calibri"/>
              </a:rPr>
              <a:t>›  Résultats reproductibles : outputs/results.csv (7 modèles x 4 indices x 2 alpha).</a:t>
            </a:r>
          </a:p>
        </p:txBody>
      </p:sp>
      <p:sp>
        <p:nvSpPr>
          <p:cNvPr id="9" name="TextBox 8"/>
          <p:cNvSpPr txBox="1"/>
          <p:nvPr/>
        </p:nvSpPr>
        <p:spPr>
          <a:xfrm>
            <a:off x="548640" y="6528816"/>
            <a:ext cx="9601200" cy="274320"/>
          </a:xfrm>
          <a:prstGeom prst="rect">
            <a:avLst/>
          </a:prstGeom>
          <a:noFill/>
        </p:spPr>
        <p:txBody>
          <a:bodyPr wrap="square" anchor="t" lIns="0" rIns="0" tIns="0" bIns="0">
            <a:spAutoFit/>
          </a:bodyPr>
          <a:lstStyle/>
          <a:p>
            <a:pPr algn="l">
              <a:lnSpc>
                <a:spcPct val="100000"/>
              </a:lnSpc>
            </a:pPr>
            <a:r>
              <a:rPr sz="900" b="0" i="1">
                <a:solidFill>
                  <a:srgbClr val="5A6B78"/>
                </a:solidFill>
                <a:latin typeface="Calibri"/>
              </a:rPr>
              <a:t>Projet VaR MENA -- Deep Learning vs modèles statistiques</a:t>
            </a:r>
          </a:p>
        </p:txBody>
      </p:sp>
      <p:sp>
        <p:nvSpPr>
          <p:cNvPr id="10" name="TextBox 9"/>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900" b="0" i="0">
                <a:solidFill>
                  <a:srgbClr val="5A6B78"/>
                </a:solidFill>
                <a:latin typeface="Calibri"/>
              </a:rPr>
              <a:t>30/31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E2A3D"/>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C99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468880"/>
            <a:ext cx="10332720" cy="1097280"/>
          </a:xfrm>
          <a:prstGeom prst="rect">
            <a:avLst/>
          </a:prstGeom>
          <a:noFill/>
        </p:spPr>
        <p:txBody>
          <a:bodyPr wrap="square" anchor="t" lIns="0" rIns="0" tIns="0" bIns="0">
            <a:spAutoFit/>
          </a:bodyPr>
          <a:lstStyle/>
          <a:p>
            <a:pPr algn="l">
              <a:lnSpc>
                <a:spcPct val="100000"/>
              </a:lnSpc>
            </a:pPr>
            <a:r>
              <a:rPr sz="5400" b="1" i="0">
                <a:solidFill>
                  <a:srgbClr val="FFFFFF"/>
                </a:solidFill>
                <a:latin typeface="Cambria"/>
              </a:rPr>
              <a:t>Merci</a:t>
            </a:r>
          </a:p>
        </p:txBody>
      </p:sp>
      <p:sp>
        <p:nvSpPr>
          <p:cNvPr id="4" name="TextBox 3"/>
          <p:cNvSpPr txBox="1"/>
          <p:nvPr/>
        </p:nvSpPr>
        <p:spPr>
          <a:xfrm>
            <a:off x="914400" y="3566160"/>
            <a:ext cx="10058400" cy="548640"/>
          </a:xfrm>
          <a:prstGeom prst="rect">
            <a:avLst/>
          </a:prstGeom>
          <a:noFill/>
        </p:spPr>
        <p:txBody>
          <a:bodyPr wrap="square" anchor="t" lIns="0" rIns="0" tIns="0" bIns="0">
            <a:spAutoFit/>
          </a:bodyPr>
          <a:lstStyle/>
          <a:p>
            <a:pPr algn="l">
              <a:lnSpc>
                <a:spcPct val="100000"/>
              </a:lnSpc>
            </a:pPr>
            <a:r>
              <a:rPr sz="1600" b="0" i="0">
                <a:solidFill>
                  <a:srgbClr val="E7C97E"/>
                </a:solidFill>
                <a:latin typeface="Calibri"/>
              </a:rPr>
              <a:t>Projet VaR MENA -- Deep Learning vs modèles statistiques</a:t>
            </a:r>
          </a:p>
        </p:txBody>
      </p:sp>
      <p:sp>
        <p:nvSpPr>
          <p:cNvPr id="5" name="TextBox 4"/>
          <p:cNvSpPr txBox="1"/>
          <p:nvPr/>
        </p:nvSpPr>
        <p:spPr>
          <a:xfrm>
            <a:off x="914400" y="4114800"/>
            <a:ext cx="10058400" cy="457200"/>
          </a:xfrm>
          <a:prstGeom prst="rect">
            <a:avLst/>
          </a:prstGeom>
          <a:noFill/>
        </p:spPr>
        <p:txBody>
          <a:bodyPr wrap="square" anchor="t" lIns="0" rIns="0" tIns="0" bIns="0">
            <a:spAutoFit/>
          </a:bodyPr>
          <a:lstStyle/>
          <a:p>
            <a:pPr algn="l">
              <a:lnSpc>
                <a:spcPct val="100000"/>
              </a:lnSpc>
            </a:pPr>
            <a:r>
              <a:rPr sz="1300" b="0" i="0">
                <a:solidFill>
                  <a:srgbClr val="F3ECDD"/>
                </a:solidFill>
                <a:latin typeface="Calibri"/>
              </a:rPr>
              <a:t>Questions bienvenues -- code, données et résultats disponibles dans le dépôt du projet.</a:t>
            </a:r>
          </a:p>
        </p:txBody>
      </p:sp>
      <p:sp>
        <p:nvSpPr>
          <p:cNvPr id="6" name="TextBox 5"/>
          <p:cNvSpPr txBox="1"/>
          <p:nvPr/>
        </p:nvSpPr>
        <p:spPr>
          <a:xfrm>
            <a:off x="914400" y="6172200"/>
            <a:ext cx="7315200" cy="365760"/>
          </a:xfrm>
          <a:prstGeom prst="rect">
            <a:avLst/>
          </a:prstGeom>
          <a:noFill/>
        </p:spPr>
        <p:txBody>
          <a:bodyPr wrap="square" anchor="t" lIns="0" rIns="0" tIns="0" bIns="0">
            <a:spAutoFit/>
          </a:bodyPr>
          <a:lstStyle/>
          <a:p>
            <a:pPr algn="l">
              <a:lnSpc>
                <a:spcPct val="100000"/>
              </a:lnSpc>
            </a:pPr>
            <a:r>
              <a:rPr sz="1200" b="0" i="0">
                <a:solidFill>
                  <a:srgbClr val="F3ECDD"/>
                </a:solidFill>
                <a:latin typeface="Calibri"/>
              </a:rPr>
              <a:t>ahmedbenarfa.1992@gmail.com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