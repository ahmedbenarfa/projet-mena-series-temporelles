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81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6596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7C97E"/>
                </a:solidFill>
                <a:latin typeface="Calibri"/>
              </a:rPr>
              <a:t>PROJET DE SÉRIES TEMPORELLES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10332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Cambria"/>
              </a:rPr>
              <a:t>La Value-at-Risk sur les marchés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Cambria"/>
              </a:rPr>
              <a:t>boursiers MENA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3ECDD"/>
                </a:solidFill>
                <a:latin typeface="Calibri"/>
              </a:rPr>
              <a:t>Deep Learning vs modèles statistiques -- ARIMA/SARIMA, GARCH, Random Forest / XGBoost, ANN / LSTM</a:t>
            </a:r>
          </a:p>
        </p:txBody>
      </p:sp>
      <p:sp>
        <p:nvSpPr>
          <p:cNvPr id="6" name="Oval 5"/>
          <p:cNvSpPr/>
          <p:nvPr/>
        </p:nvSpPr>
        <p:spPr>
          <a:xfrm>
            <a:off x="9692640" y="640080"/>
            <a:ext cx="1737360" cy="173736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800" b="1">
                <a:solidFill>
                  <a:srgbClr val="081B28"/>
                </a:solidFill>
                <a:latin typeface="Cambria"/>
              </a:rPr>
              <a:t>VaR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1722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3ECDD"/>
                </a:solidFill>
                <a:latin typeface="Calibri"/>
              </a:rPr>
              <a:t>Tunindex - ADI - MASI - TASI  |  repères : CAC40, S&amp;P 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17220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E7C97E"/>
                </a:solidFill>
                <a:latin typeface="Calibri"/>
              </a:rPr>
              <a:t>jensbenarfa@gmail.com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81B28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982D"/>
                </a:solidFill>
                <a:latin typeface="Calibri"/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658368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E2A3D"/>
                </a:solidFill>
                <a:latin typeface="Cambria"/>
              </a:rPr>
              <a:t>Contexte et problématique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61264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550">
                <a:solidFill>
                  <a:srgbClr val="1B2430"/>
                </a:solidFill>
                <a:latin typeface="Calibri"/>
              </a:rPr>
              <a:t>—  La Value-at-Risk (VaR) mesure la perte potentielle maximale d'un actif à un horizon et un niveau de confiance donnés (95% ou 99%).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550">
                <a:solidFill>
                  <a:srgbClr val="1B2430"/>
                </a:solidFill>
                <a:latin typeface="Calibri"/>
              </a:rPr>
              <a:t>—  Les indices boursiers MENA (Tunisie, Émirats, Maroc, Arabie Saoudite) présentent des dynamiques propres : liquidité plus faible, chocs politiques régionaux, calendriers de cotation spécifiques.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550">
                <a:solidFill>
                  <a:srgbClr val="1B2430"/>
                </a:solidFill>
                <a:latin typeface="Calibri"/>
              </a:rPr>
              <a:t>—  Question de recherche : les modèles de Deep Learning (ANN, LSTM) surpassent-ils les approches statistiques classiques (ARIMA, GARCH) et le Machine Learning (RF, XGBoost) pour l'estimation de la VaR sur ces marchés ?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550">
                <a:solidFill>
                  <a:srgbClr val="1B2430"/>
                </a:solidFill>
                <a:latin typeface="Calibri"/>
              </a:rPr>
              <a:t>—  Hypothèse testée : le LSTM surpasse les modèles classiques sur l'indice ADI (Abu Dhabi).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554480"/>
            <a:ext cx="4206240" cy="2834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7373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982D"/>
                </a:solidFill>
                <a:latin typeface="Calibri"/>
              </a:rPr>
              <a:t>POURQUOI LA VaR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148840"/>
            <a:ext cx="365760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>
                <a:solidFill>
                  <a:srgbClr val="1B2430"/>
                </a:solidFill>
                <a:latin typeface="Calibri"/>
              </a:rPr>
              <a:t>›  Exigence réglementaire (Bâle II/III) pour les banques et gestionnaires d'actifs.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>
                <a:solidFill>
                  <a:srgbClr val="1B2430"/>
                </a:solidFill>
                <a:latin typeface="Calibri"/>
              </a:rPr>
              <a:t>›  Outil de pilotage du risque de marché au quotidien.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>
                <a:solidFill>
                  <a:srgbClr val="1B2430"/>
                </a:solidFill>
                <a:latin typeface="Calibri"/>
              </a:rPr>
              <a:t>›  Le backtesting (Kupiec, Christoffersen, zones de Bâle) valide -- ou invalide -- un modèle de VaR a posteriori.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B78"/>
                </a:solidFill>
                <a:latin typeface="Calibri"/>
              </a:rPr>
              <a:t>Projet VaR MENA -- Deep Learning vs modèles statistiques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B78"/>
                </a:solidFill>
                <a:latin typeface="Calibri"/>
              </a:rPr>
              <a:t>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81B28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982D"/>
                </a:solidFill>
                <a:latin typeface="Calibri"/>
              </a:rPr>
              <a:t>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658368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E2A3D"/>
                </a:solidFill>
                <a:latin typeface="Cambria"/>
              </a:rPr>
              <a:t>Données et indices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78638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  <a:gridCol w="2194560"/>
                <a:gridCol w="2194560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Indice</a:t>
                      </a:r>
                    </a:p>
                  </a:txBody>
                  <a:tcPr marL="54864" marR="54864" marT="27432" marB="27432" anchor="ctr">
                    <a:solidFill>
                      <a:srgbClr val="0E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Pays / place</a:t>
                      </a:r>
                    </a:p>
                  </a:txBody>
                  <a:tcPr marL="54864" marR="54864" marT="27432" marB="27432" anchor="ctr">
                    <a:solidFill>
                      <a:srgbClr val="0E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Période (train)</a:t>
                      </a:r>
                    </a:p>
                  </a:txBody>
                  <a:tcPr marL="54864" marR="54864" marT="27432" marB="27432" anchor="ctr">
                    <a:solidFill>
                      <a:srgbClr val="0E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Période (test)</a:t>
                      </a:r>
                    </a:p>
                  </a:txBody>
                  <a:tcPr marL="54864" marR="54864" marT="27432" marB="27432" anchor="ctr">
                    <a:solidFill>
                      <a:srgbClr val="0E2A3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Tunindex</a:t>
                      </a:r>
                    </a:p>
                  </a:txBody>
                  <a:tcPr marL="54864" marR="54864" marT="27432" marB="27432" anchor="ctr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Tunisie</a:t>
                      </a:r>
                    </a:p>
                  </a:txBody>
                  <a:tcPr marL="54864" marR="54864" marT="27432" marB="27432" anchor="ctr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2005-01-03 -&gt; 2014-12-31</a:t>
                      </a:r>
                    </a:p>
                  </a:txBody>
                  <a:tcPr marL="54864" marR="54864" marT="27432" marB="27432" anchor="ctr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2014-12-31 -&gt; 2015-08-20</a:t>
                      </a:r>
                    </a:p>
                  </a:txBody>
                  <a:tcPr marL="54864" marR="54864" marT="27432" marB="27432" anchor="ctr">
                    <a:solidFill>
                      <a:srgbClr val="F3ECD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ADI</a:t>
                      </a:r>
                    </a:p>
                  </a:txBody>
                  <a:tcPr marL="54864" marR="54864" marT="27432" marB="27432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Abu Dhabi (EAU)</a:t>
                      </a:r>
                    </a:p>
                  </a:txBody>
                  <a:tcPr marL="54864" marR="54864" marT="27432" marB="27432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2005-01-03 -&gt; 2014-12-31</a:t>
                      </a:r>
                    </a:p>
                  </a:txBody>
                  <a:tcPr marL="54864" marR="54864" marT="27432" marB="27432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2014-12-31 -&gt; 2015-08-31</a:t>
                      </a:r>
                    </a:p>
                  </a:txBody>
                  <a:tcPr marL="54864" marR="54864" marT="27432" marB="27432" anchor="ctr">
                    <a:solidFill>
                      <a:srgbClr val="FBF8F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MASI</a:t>
                      </a:r>
                    </a:p>
                  </a:txBody>
                  <a:tcPr marL="54864" marR="54864" marT="27432" marB="27432" anchor="ctr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Maroc</a:t>
                      </a:r>
                    </a:p>
                  </a:txBody>
                  <a:tcPr marL="54864" marR="54864" marT="27432" marB="27432" anchor="ctr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2005-01-03 -&gt; 2014-12-31</a:t>
                      </a:r>
                    </a:p>
                  </a:txBody>
                  <a:tcPr marL="54864" marR="54864" marT="27432" marB="27432" anchor="ctr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2014-12-31 -&gt; 2015-08-19</a:t>
                      </a:r>
                    </a:p>
                  </a:txBody>
                  <a:tcPr marL="54864" marR="54864" marT="27432" marB="27432" anchor="ctr">
                    <a:solidFill>
                      <a:srgbClr val="F3ECD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TASI</a:t>
                      </a:r>
                    </a:p>
                  </a:txBody>
                  <a:tcPr marL="54864" marR="54864" marT="27432" marB="27432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Arabie Saoudite</a:t>
                      </a:r>
                    </a:p>
                  </a:txBody>
                  <a:tcPr marL="54864" marR="54864" marT="27432" marB="27432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2005-01-03 -&gt; 2014-12-31</a:t>
                      </a:r>
                    </a:p>
                  </a:txBody>
                  <a:tcPr marL="54864" marR="54864" marT="27432" marB="27432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2014-12-31 -&gt; 2015-08-30</a:t>
                      </a:r>
                    </a:p>
                  </a:txBody>
                  <a:tcPr marL="54864" marR="54864" marT="27432" marB="27432" anchor="ctr">
                    <a:solidFill>
                      <a:srgbClr val="FBF8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77639"/>
            <a:ext cx="7863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2A3D"/>
                </a:solidFill>
                <a:latin typeface="Calibri"/>
              </a:rPr>
              <a:t>Repères marchés développés (comparaison, hors entraînement des modèles MENA) 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7863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>
                <a:solidFill>
                  <a:srgbClr val="1B2430"/>
                </a:solidFill>
                <a:latin typeface="Calibri"/>
              </a:rPr>
              <a:t>—  CAC40 (France) -- 2560 séances, 2005-2014.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>
                <a:solidFill>
                  <a:srgbClr val="1B2430"/>
                </a:solidFill>
                <a:latin typeface="Calibri"/>
              </a:rPr>
              <a:t>—  S&amp;P 500 (États-Unis) -- 2536 séances, 2005-2014.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>
                <a:solidFill>
                  <a:srgbClr val="1B2430"/>
                </a:solidFill>
                <a:latin typeface="Calibri"/>
              </a:rPr>
              <a:t>—  Rendements calculés en log-rendements journaliers (%), base commune pour toutes les places.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1600200"/>
            <a:ext cx="256032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0" y="17830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982D"/>
                </a:solidFill>
                <a:latin typeface="Calibri"/>
              </a:rPr>
              <a:t>TAILLE DES SÉRIES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2194560"/>
            <a:ext cx="219456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E2A3D"/>
                </a:solidFill>
                <a:latin typeface="Calibri"/>
              </a:rPr>
              <a:t>~2 470 à 2 585</a:t>
            </a:r>
          </a:p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E2A3D"/>
                </a:solidFill>
                <a:latin typeface="Calibri"/>
              </a:rPr>
              <a:t>séances d'entraînement</a:t>
            </a:r>
          </a:p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E2A3D"/>
                </a:solidFill>
                <a:latin typeface="Calibri"/>
              </a:rPr>
              <a:t>par indice MENA</a:t>
            </a:r>
          </a:p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E2A3D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E2A3D"/>
                </a:solidFill>
                <a:latin typeface="Calibri"/>
              </a:rPr>
              <a:t>+ 160 à 171</a:t>
            </a:r>
          </a:p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E2A3D"/>
                </a:solidFill>
                <a:latin typeface="Calibri"/>
              </a:rPr>
              <a:t>séances de test</a:t>
            </a:r>
          </a:p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E2A3D"/>
                </a:solidFill>
                <a:latin typeface="Calibri"/>
              </a:rPr>
              <a:t>(walk-forward)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B78"/>
                </a:solidFill>
                <a:latin typeface="Calibri"/>
              </a:rPr>
              <a:t>Projet VaR MENA -- Deep Learning vs modèles statistiques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B78"/>
                </a:solidFill>
                <a:latin typeface="Calibri"/>
              </a:rPr>
              <a:t>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81B28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982D"/>
                </a:solidFill>
                <a:latin typeface="Calibri"/>
              </a:rPr>
              <a:t>MÉTHODOLOGIE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658368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E2A3D"/>
                </a:solidFill>
                <a:latin typeface="Cambria"/>
              </a:rPr>
              <a:t>Pipeline unifié : train-once / walk-forward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606040" cy="3383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13232" y="1874519"/>
            <a:ext cx="457200" cy="45720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1800">
                <a:solidFill>
                  <a:srgbClr val="081B28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68880"/>
            <a:ext cx="22768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2A3D"/>
                </a:solidFill>
                <a:latin typeface="Cambria"/>
              </a:rPr>
              <a:t>Entraînement unique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017520"/>
            <a:ext cx="2276856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6B78"/>
                </a:solidFill>
                <a:latin typeface="Calibri"/>
              </a:rPr>
              <a:t>Chaque modèle est ajusté UNE seule fois sur la période train (aucun ré-entraînement).</a:t>
            </a:r>
          </a:p>
        </p:txBody>
      </p:sp>
      <p:sp>
        <p:nvSpPr>
          <p:cNvPr id="9" name="Chevron 8"/>
          <p:cNvSpPr/>
          <p:nvPr/>
        </p:nvSpPr>
        <p:spPr>
          <a:xfrm>
            <a:off x="3172968" y="3200400"/>
            <a:ext cx="128016" cy="548640"/>
          </a:xfrm>
          <a:prstGeom prst="chevron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19272" y="1691640"/>
            <a:ext cx="2606040" cy="3383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483864" y="1874519"/>
            <a:ext cx="457200" cy="45720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1800">
                <a:solidFill>
                  <a:srgbClr val="081B28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3864" y="2468880"/>
            <a:ext cx="22768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2A3D"/>
                </a:solidFill>
                <a:latin typeface="Cambria"/>
              </a:rPr>
              <a:t>Walk-forward J+1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3017520"/>
            <a:ext cx="2276856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6B78"/>
                </a:solidFill>
                <a:latin typeface="Calibri"/>
              </a:rPr>
              <a:t>Prévision un jour à l'avance sur le test ; les états (résidus, variance) sont mis à jour avec la valeur réalisée, pas les paramètres.</a:t>
            </a:r>
          </a:p>
        </p:txBody>
      </p:sp>
      <p:sp>
        <p:nvSpPr>
          <p:cNvPr id="14" name="Chevron 13"/>
          <p:cNvSpPr/>
          <p:nvPr/>
        </p:nvSpPr>
        <p:spPr>
          <a:xfrm>
            <a:off x="5943600" y="3200400"/>
            <a:ext cx="128016" cy="548640"/>
          </a:xfrm>
          <a:prstGeom prst="chevron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89904" y="1691640"/>
            <a:ext cx="2606040" cy="3383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54496" y="1874519"/>
            <a:ext cx="457200" cy="45720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1800">
                <a:solidFill>
                  <a:srgbClr val="081B28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2468880"/>
            <a:ext cx="22768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2A3D"/>
                </a:solidFill>
                <a:latin typeface="Cambria"/>
              </a:rPr>
              <a:t>VaR par BHS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3017520"/>
            <a:ext cx="2276856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6B78"/>
                </a:solidFill>
                <a:latin typeface="Calibri"/>
              </a:rPr>
              <a:t>mu, sigma prédits + pool de résidus standardisés bootstrappés -&gt; quantile alpha (VaR).</a:t>
            </a:r>
          </a:p>
        </p:txBody>
      </p:sp>
      <p:sp>
        <p:nvSpPr>
          <p:cNvPr id="19" name="Chevron 18"/>
          <p:cNvSpPr/>
          <p:nvPr/>
        </p:nvSpPr>
        <p:spPr>
          <a:xfrm>
            <a:off x="8714232" y="3200400"/>
            <a:ext cx="128016" cy="548640"/>
          </a:xfrm>
          <a:prstGeom prst="chevron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60536" y="1691640"/>
            <a:ext cx="2606040" cy="3383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025128" y="1874519"/>
            <a:ext cx="457200" cy="45720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1800">
                <a:solidFill>
                  <a:srgbClr val="081B28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2468880"/>
            <a:ext cx="22768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2A3D"/>
                </a:solidFill>
                <a:latin typeface="Cambria"/>
              </a:rPr>
              <a:t>Backtesting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5128" y="3017520"/>
            <a:ext cx="2276856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6B78"/>
                </a:solidFill>
                <a:latin typeface="Calibri"/>
              </a:rPr>
              <a:t>Comparaison VaR vs rendement réalisé : Kupiec, Christoffersen, zones de Bâle.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49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0E2A3D"/>
                </a:solidFill>
                <a:latin typeface="Calibri"/>
              </a:rPr>
              <a:t>Contrainte de conception : aucun modèle n'est ré-estimé sur le test -- seule l'information disponible à J est utilisée pour prédire J+1 (walk-forward one-step-ahead), pour les 7 modèles comme pour le GARCH (FHS).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B78"/>
                </a:solidFill>
                <a:latin typeface="Calibri"/>
              </a:rPr>
              <a:t>Projet VaR MENA -- Deep Learning vs modèles statistiques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B78"/>
                </a:solidFill>
                <a:latin typeface="Calibri"/>
              </a:rPr>
              <a:t>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81B28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982D"/>
                </a:solidFill>
                <a:latin typeface="Calibri"/>
              </a:rPr>
              <a:t>PRÉTRAITEMENT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658368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E2A3D"/>
                </a:solidFill>
                <a:latin typeface="Cambria"/>
              </a:rPr>
              <a:t>Prétraitement et rendements logarithmiques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1206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550">
                <a:solidFill>
                  <a:srgbClr val="1B2430"/>
                </a:solidFill>
                <a:latin typeface="Calibri"/>
              </a:rPr>
              <a:t>—  Prix nettoyés (virgules, unités M/K du volume) puis convertis en rendements log : r_t = 100 x ln(P_t / P_{t-1}).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550">
                <a:solidFill>
                  <a:srgbClr val="1B2430"/>
                </a:solidFill>
                <a:latin typeface="Calibri"/>
              </a:rPr>
              <a:t>—  Les rendements log stabilisent la variance et rendent les séries approximativement stationnaires en moyenne.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550">
                <a:solidFill>
                  <a:srgbClr val="1B2430"/>
                </a:solidFill>
                <a:latin typeface="Calibri"/>
              </a:rPr>
              <a:t>—  On observe un regroupement de volatilité (volatility clustering) : périodes calmes et périodes agitées s'enchaînent -- justifie l'usage du GARCH.</a:t>
            </a:r>
          </a:p>
        </p:txBody>
      </p:sp>
      <p:pic>
        <p:nvPicPr>
          <p:cNvPr id="6" name="Picture 5" descr="deck_returns_clus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5303520" cy="1909267"/>
          </a:xfrm>
          <a:prstGeom prst="rect">
            <a:avLst/>
          </a:prstGeom>
          <a:ln w="12700">
            <a:solidFill>
              <a:srgbClr val="E7DCC3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B78"/>
                </a:solidFill>
                <a:latin typeface="Calibri"/>
              </a:rPr>
              <a:t>Projet VaR MENA -- Deep Learning vs modèles statistiques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B78"/>
                </a:solidFill>
                <a:latin typeface="Calibri"/>
              </a:rPr>
              <a:t>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81B28"/>
                </a:solidFill>
                <a:latin typeface="Cambria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982D"/>
                </a:solidFill>
                <a:latin typeface="Calibri"/>
              </a:rPr>
              <a:t>STATIONNARITÉ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658368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E2A3D"/>
                </a:solidFill>
                <a:latin typeface="Cambria"/>
              </a:rPr>
              <a:t>Stationnarité (ADF / KPSS) et décomposition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486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1B2430"/>
                </a:solidFill>
                <a:latin typeface="Calibri"/>
              </a:rPr>
              <a:t>—  Test ADF (racine unitaire) : H0 = série non-stationnaire. p &lt; 0.05 -&gt; on rejette H0 -&gt; série stationnaire.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1B2430"/>
                </a:solidFill>
                <a:latin typeface="Calibri"/>
              </a:rPr>
              <a:t>—  Test KPSS : H0 = série stationnaire. p &gt; 0.05 -&gt; on ne rejette pas H0 -&gt; cohérent avec la stationnarité.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1B2430"/>
                </a:solidFill>
                <a:latin typeface="Calibri"/>
              </a:rPr>
              <a:t>—  Sur les niveaux de prix : ADF ne rejette pas H0 (non-stationnaire), comportement typique d'une marche aléatoire.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1B2430"/>
                </a:solidFill>
                <a:latin typeface="Calibri"/>
              </a:rPr>
              <a:t>—  Sur les rendements log : ADF rejette H0 et KPSS ne le rejette pas -- les deux tests concordent, la série est stationnaire.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1B2430"/>
                </a:solidFill>
                <a:latin typeface="Calibri"/>
              </a:rPr>
              <a:t>—  La décomposition (tendance / saisonnalité / résidu) confirme l'absence de tendance forte sur les rendements, contrairement aux prix.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0" y="1600200"/>
            <a:ext cx="402336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783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982D"/>
                </a:solidFill>
                <a:latin typeface="Calibri"/>
              </a:rPr>
              <a:t>LECTURE ADF / KPSS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194560"/>
            <a:ext cx="35661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1B2430"/>
                </a:solidFill>
                <a:latin typeface="Calibri"/>
              </a:rPr>
              <a:t>›  Prix : ADF p élevé, KPSS p faible -&gt; non stationnaire.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1B2430"/>
                </a:solidFill>
                <a:latin typeface="Calibri"/>
              </a:rPr>
              <a:t>›  Rendements : ADF p faible, KPSS p élevé -&gt; stationnaire.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1B2430"/>
                </a:solidFill>
                <a:latin typeface="Calibri"/>
              </a:rPr>
              <a:t>›  -&gt; les modèles (ARIMA d=0 sur rendements, GARCH) sont appliqués sur des séries stationnaires, condition nécessaire à leur validité.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B78"/>
                </a:solidFill>
                <a:latin typeface="Calibri"/>
              </a:rPr>
              <a:t>Projet VaR MENA -- Deep Learning vs modèles statistiques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B78"/>
                </a:solidFill>
                <a:latin typeface="Calibri"/>
              </a:rPr>
              <a:t>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81B28"/>
                </a:solidFill>
                <a:latin typeface="Cambria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982D"/>
                </a:solidFill>
                <a:latin typeface="Calibri"/>
              </a:rPr>
              <a:t>MODÈLES STATISTIQUES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658368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E2A3D"/>
                </a:solidFill>
                <a:latin typeface="Cambria"/>
              </a:rPr>
              <a:t>ARIMA et SARIMA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5778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1B2430"/>
                </a:solidFill>
                <a:latin typeface="Calibri"/>
              </a:rPr>
              <a:t>—  ARIMA(p,d,q) modélise la moyenne conditionnelle des rendements à partir de leurs valeurs passées et des erreurs passées.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1B2430"/>
                </a:solidFill>
                <a:latin typeface="Calibri"/>
              </a:rPr>
              <a:t>—  SARIMA ajoute une composante saisonnière (ici m=5, cycle hebdomadaire de séances de bourse).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1B2430"/>
                </a:solidFill>
                <a:latin typeface="Calibri"/>
              </a:rPr>
              <a:t>—  Les deux modèles sont ajustés UNE fois sur le train, puis utilisés en walk-forward one-step-ahead sur le test.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1B2430"/>
                </a:solidFill>
                <a:latin typeface="Calibri"/>
              </a:rPr>
              <a:t>—  La VaR est ensuite calculée par BHS à partir de mu (prévision ARIMA/SARIMA) et sigma (écart-type des résidus).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1B2430"/>
                </a:solidFill>
                <a:latin typeface="Calibri"/>
              </a:rPr>
              <a:t>—  Résultat empirique : ARIMA est le modèle GAGNANT sur TASI (Arabie Saoudite) à 99%.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600200"/>
            <a:ext cx="3840480" cy="4206240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7C97E"/>
                </a:solidFill>
                <a:latin typeface="Calibri"/>
              </a:rPr>
              <a:t>TASI -- ARIMA @ 99%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33172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0.60%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324612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3ECDD"/>
                </a:solidFill>
                <a:latin typeface="Calibri"/>
              </a:rPr>
              <a:t>taux de violation observé (cible 1%)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379476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7C97E"/>
                </a:solidFill>
                <a:latin typeface="Calibri"/>
              </a:rPr>
              <a:t>Kupiec p = 0.573   |   zone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4297680"/>
            <a:ext cx="3383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F3ECDD"/>
                </a:solidFill>
                <a:latin typeface="Calibri"/>
              </a:rPr>
              <a:t>Zone verte Bâle : le modèle n'est pas rejeté, le nombre de violations est cohérent avec le seuil attendu.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B78"/>
                </a:solidFill>
                <a:latin typeface="Calibri"/>
              </a:rPr>
              <a:t>Projet VaR MENA -- Deep Learning vs modèles statistiques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B78"/>
                </a:solidFill>
                <a:latin typeface="Calibri"/>
              </a:rPr>
              <a:t>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81B28"/>
                </a:solidFill>
                <a:latin typeface="Cambria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982D"/>
                </a:solidFill>
                <a:latin typeface="Calibri"/>
              </a:rPr>
              <a:t>VOLATILITÉ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658368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E2A3D"/>
                </a:solidFill>
                <a:latin typeface="Cambria"/>
              </a:rPr>
              <a:t>Volatilité GARCH et simulation historique filtrée (FHS)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>
                <a:solidFill>
                  <a:srgbClr val="1B2430"/>
                </a:solidFill>
                <a:latin typeface="Calibri"/>
              </a:rPr>
              <a:t>—  GARCH(1,1) à moyenne constante, ajusté UNE fois sur le train ; la variance conditionnelle est ensuite propagée jour par jour sur le test avec les paramètres figés (omega, alpha, beta).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>
                <a:solidFill>
                  <a:srgbClr val="1B2430"/>
                </a:solidFill>
                <a:latin typeface="Calibri"/>
              </a:rPr>
              <a:t>—  FHS (Filtered Historical Simulation) : on combine sigma_t (dynamique, GARCH) avec le pool de résidus standardisés du train, rééchantillonné pour la VaR (BHS).</a:t>
            </a:r>
          </a:p>
        </p:txBody>
      </p:sp>
      <p:pic>
        <p:nvPicPr>
          <p:cNvPr id="6" name="Picture 5" descr="deck_garch_var_tun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880360"/>
            <a:ext cx="9235440" cy="2686673"/>
          </a:xfrm>
          <a:prstGeom prst="rect">
            <a:avLst/>
          </a:prstGeom>
          <a:ln w="12700">
            <a:solidFill>
              <a:srgbClr val="E7DCC3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463040" y="5704193"/>
            <a:ext cx="9235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E2A3D"/>
                </a:solidFill>
                <a:latin typeface="Calibri"/>
              </a:rPr>
              <a:t>Tunindex, 99% : 2 violations observées sur la période test (1.3%) -- GARCH est le modèle gagnant sur Tunindex, ADI et MASI (3/4 indices MENA).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B78"/>
                </a:solidFill>
                <a:latin typeface="Calibri"/>
              </a:rPr>
              <a:t>Projet VaR MENA -- Deep Learning vs modèles statistiques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B78"/>
                </a:solidFill>
                <a:latin typeface="Calibri"/>
              </a:rPr>
              <a:t>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81B28"/>
                </a:solidFill>
                <a:latin typeface="Cambria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982D"/>
                </a:solidFill>
                <a:latin typeface="Calibri"/>
              </a:rPr>
              <a:t>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658368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E2A3D"/>
                </a:solidFill>
                <a:latin typeface="Cambria"/>
              </a:rPr>
              <a:t>Random Forest et XGBoost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6692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00">
                <a:solidFill>
                  <a:srgbClr val="1B2430"/>
                </a:solidFill>
                <a:latin typeface="Calibri"/>
              </a:rPr>
              <a:t>—  Les rendements passés (fenêtre glissante de lags) forment les variables explicatives (approche supervisée).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00">
                <a:solidFill>
                  <a:srgbClr val="1B2430"/>
                </a:solidFill>
                <a:latin typeface="Calibri"/>
              </a:rPr>
              <a:t>—  RF et XGBoost sont entraînés UNE fois sur le train, puis prédisent J+1 en walk-forward sur le test.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00">
                <a:solidFill>
                  <a:srgbClr val="1B2430"/>
                </a:solidFill>
                <a:latin typeface="Calibri"/>
              </a:rPr>
              <a:t>—  sigma est estimé à partir de l'écart-type des résidus d'entraînement (constant), combiné à mu (prévision de l'arbre) pour la VaR BHS.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00">
                <a:solidFill>
                  <a:srgbClr val="1B2430"/>
                </a:solidFill>
                <a:latin typeface="Calibri"/>
              </a:rPr>
              <a:t>—  Résultat empirique -- Random Forest est le modèle le plus faible du panel pour la VaR : il sur-viole systématiquement le seuil attendu (zone ROUGE Bâle sur les 4 indices MENA à 95%, et sur Tunindex/MASI/TASI à 99%).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00">
                <a:solidFill>
                  <a:srgbClr val="1B2430"/>
                </a:solidFill>
                <a:latin typeface="Calibri"/>
              </a:rPr>
              <a:t>—  XGBoost se comporte mieux que RF mais reste en général derrière ARIMA/GARCH/ANN (zones vertes/jaunes selon l'indice).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160020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3D"/>
                </a:solidFill>
                <a:latin typeface="Calibri"/>
              </a:rPr>
              <a:t>RF @ 99% -- taux de violation observé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80960" y="1965960"/>
          <a:ext cx="3931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371600"/>
                <a:gridCol w="100584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Indice</a:t>
                      </a:r>
                    </a:p>
                  </a:txBody>
                  <a:tcPr marL="54864" marR="54864" marT="27432" marB="27432" anchor="ctr">
                    <a:solidFill>
                      <a:srgbClr val="0E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Taux observé</a:t>
                      </a:r>
                    </a:p>
                  </a:txBody>
                  <a:tcPr marL="54864" marR="54864" marT="27432" marB="27432" anchor="ctr">
                    <a:solidFill>
                      <a:srgbClr val="0E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Zone Bâle</a:t>
                      </a:r>
                    </a:p>
                  </a:txBody>
                  <a:tcPr marL="54864" marR="54864" marT="27432" marB="27432" anchor="ctr">
                    <a:solidFill>
                      <a:srgbClr val="0E2A3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Tunindex</a:t>
                      </a:r>
                    </a:p>
                  </a:txBody>
                  <a:tcPr marL="54864" marR="54864" marT="27432" marB="27432" anchor="ctr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6.29%</a:t>
                      </a:r>
                    </a:p>
                  </a:txBody>
                  <a:tcPr marL="54864" marR="54864" marT="27432" marB="27432" anchor="ctr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 marL="54864" marR="54864" marT="27432" marB="27432" anchor="ctr">
                    <a:solidFill>
                      <a:srgbClr val="AE392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ADI</a:t>
                      </a:r>
                    </a:p>
                  </a:txBody>
                  <a:tcPr marL="54864" marR="54864" marT="27432" marB="27432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3.53%</a:t>
                      </a:r>
                    </a:p>
                  </a:txBody>
                  <a:tcPr marL="54864" marR="54864" marT="27432" marB="27432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YELLOW</a:t>
                      </a:r>
                    </a:p>
                  </a:txBody>
                  <a:tcPr marL="54864" marR="54864" marT="27432" marB="27432" anchor="ctr">
                    <a:solidFill>
                      <a:srgbClr val="C88A1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MASI</a:t>
                      </a:r>
                    </a:p>
                  </a:txBody>
                  <a:tcPr marL="54864" marR="54864" marT="27432" marB="27432" anchor="ctr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4.40%</a:t>
                      </a:r>
                    </a:p>
                  </a:txBody>
                  <a:tcPr marL="54864" marR="54864" marT="27432" marB="27432" anchor="ctr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 marL="54864" marR="54864" marT="27432" marB="27432" anchor="ctr">
                    <a:solidFill>
                      <a:srgbClr val="AE392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TASI</a:t>
                      </a:r>
                    </a:p>
                  </a:txBody>
                  <a:tcPr marL="54864" marR="54864" marT="27432" marB="27432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4.79%</a:t>
                      </a:r>
                    </a:p>
                  </a:txBody>
                  <a:tcPr marL="54864" marR="54864" marT="27432" marB="27432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 marL="54864" marR="54864" marT="27432" marB="27432" anchor="ctr">
                    <a:solidFill>
                      <a:srgbClr val="AE392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80960" y="4206240"/>
            <a:ext cx="3931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AE392F"/>
                </a:solidFill>
                <a:latin typeface="Calibri"/>
              </a:rPr>
              <a:t>Cible attendue : ~1%. Les taux observés (3.5-6.3%, et jusqu'à 22% à 95%) sont très supérieurs -- Random Forest sous-estime largement le risque de queue.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B78"/>
                </a:solidFill>
                <a:latin typeface="Calibri"/>
              </a:rPr>
              <a:t>Projet VaR MENA -- Deep Learning vs modèles statistiques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B78"/>
                </a:solidFill>
                <a:latin typeface="Calibri"/>
              </a:rPr>
              <a:t>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81B28"/>
                </a:solidFill>
                <a:latin typeface="Cambria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982D"/>
                </a:solidFill>
                <a:latin typeface="Calibri"/>
              </a:rPr>
              <a:t>DEEP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658368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E2A3D"/>
                </a:solidFill>
                <a:latin typeface="Cambria"/>
              </a:rPr>
              <a:t>Réseaux de neurones : ANN et LSTM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76072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>
                <a:solidFill>
                  <a:srgbClr val="1B2430"/>
                </a:solidFill>
                <a:latin typeface="Calibri"/>
              </a:rPr>
              <a:t>—  ANN (perceptron multicouche) et LSTM (mémoire court/long terme) sont entraînés UNE fois sur des séquences standardisées du train (fenêtre de 10 rendements).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>
                <a:solidFill>
                  <a:srgbClr val="1B2430"/>
                </a:solidFill>
                <a:latin typeface="Calibri"/>
              </a:rPr>
              <a:t>—  En walk-forward, le réseau reçoit la fenêtre de rendements réalisés (pas re-simulés) et prédit le rendement du jour suivant ; les poids ne sont jamais mis à jour sur le test.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>
                <a:solidFill>
                  <a:srgbClr val="1B2430"/>
                </a:solidFill>
                <a:latin typeface="Calibri"/>
              </a:rPr>
              <a:t>—  sigma est l'écart-type des résidus d'entraînement ; la VaR est calculée par BHS comme pour les autres modèles (comparabilité stricte entre les 7 approches).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>
                <a:solidFill>
                  <a:srgbClr val="1B2430"/>
                </a:solidFill>
                <a:latin typeface="Calibri"/>
              </a:rPr>
              <a:t>—  Résultat empirique : ANN et LSTM sont bien calibrés (zone verte) sur la quasi-totalité des couples indice/alpha, avec des MAE/RMSE proches, voire légèrement meilleurs, que ceux d'ARIMA/GARCH.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>
                <a:solidFill>
                  <a:srgbClr val="1B2430"/>
                </a:solidFill>
                <a:latin typeface="Calibri"/>
              </a:rPr>
              <a:t>—  Mais ils ne dominent pas nettement GARCH ou ARIMA en zone de Bâle -- aucun des deux réseaux ne remporte le titre de meilleur modèle sur un indice MENA (voir résultats, slide 13).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600200"/>
            <a:ext cx="384048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7830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982D"/>
                </a:solidFill>
                <a:latin typeface="Calibri"/>
              </a:rPr>
              <a:t>ADI -- LSTM @ 99%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19456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0E2A3D"/>
                </a:solidFill>
                <a:latin typeface="Cambria"/>
              </a:rPr>
              <a:t>0.59%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971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B78"/>
                </a:solidFill>
                <a:latin typeface="Calibri"/>
              </a:rPr>
              <a:t>taux de violation observé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34290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7D46"/>
                </a:solidFill>
                <a:latin typeface="Calibri"/>
              </a:rPr>
              <a:t>zone GREEN  |  Kupiec p=0.559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977639"/>
            <a:ext cx="3383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E2A3D"/>
                </a:solidFill>
                <a:latin typeface="Calibri"/>
              </a:rPr>
              <a:t>Bien calibré, comparable à GARCH sur ADI -- mais pas distinctement supérieur (voir slide 15, vérification de l'hypothèse).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B78"/>
                </a:solidFill>
                <a:latin typeface="Calibri"/>
              </a:rPr>
              <a:t>Projet VaR MENA -- Deep Learning vs modèles statistiques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B78"/>
                </a:solidFill>
                <a:latin typeface="Calibri"/>
              </a:rPr>
              <a:t>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81B28"/>
                </a:solidFill>
                <a:latin typeface="Cambria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7C97E"/>
                </a:solidFill>
                <a:latin typeface="Calibri"/>
              </a:rPr>
              <a:t>MÉTHODE DE CALCUL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658368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Le calcul de la VaR par BHS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3040" y="1920240"/>
            <a:ext cx="9235440" cy="1737360"/>
          </a:xfrm>
          <a:prstGeom prst="rect">
            <a:avLst/>
          </a:prstGeom>
          <a:solidFill>
            <a:srgbClr val="081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148840"/>
            <a:ext cx="9235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E7C97E"/>
                </a:solidFill>
                <a:latin typeface="Cambria"/>
              </a:rPr>
              <a:t>VaR_alpha(t) = mu_t + sigma_t . Q_alpha( résidus standardisés bootstrappés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931920"/>
            <a:ext cx="9235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00">
                <a:solidFill>
                  <a:srgbClr val="F3ECDD"/>
                </a:solidFill>
                <a:latin typeface="Calibri"/>
              </a:rPr>
              <a:t>—  mu_t, sigma_t : moyenne et écart-type prédits par le modèle (ARIMA, GARCH, RF/XGB, ANN/LSTM) pour le jour 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00">
                <a:solidFill>
                  <a:srgbClr val="F3ECDD"/>
                </a:solidFill>
                <a:latin typeface="Calibri"/>
              </a:rPr>
              <a:t>—  résidus standardisés : pool des résidus (z-scores) estimés UNE fois sur la période d'entraînement.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00">
                <a:solidFill>
                  <a:srgbClr val="F3ECDD"/>
                </a:solidFill>
                <a:latin typeface="Calibri"/>
              </a:rPr>
              <a:t>—  Bootstrap : n_boot=10 000 tirages avec remise dans ce pool -&gt; quantile empirique Q_alpha (alpha=5% ou 1%).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00">
                <a:solidFill>
                  <a:srgbClr val="F3ECDD"/>
                </a:solidFill>
                <a:latin typeface="Calibri"/>
              </a:rPr>
              <a:t>—  BHS (Bootstrap Historical Simulation) ne suppose pas la normalité des résidus : la distribution empirique (asymétrie, queues épaisses) est préservée -- adapté aux marchés MENA, souvent non-gaussiens.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9FB3C2"/>
                </a:solidFill>
                <a:latin typeface="Calibri"/>
              </a:rPr>
              <a:t>Projet VaR MENA -- Deep Learning vs modèles statistiques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FB3C2"/>
                </a:solidFill>
                <a:latin typeface="Calibri"/>
              </a:rPr>
              <a:t>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81B28"/>
                </a:solidFill>
                <a:latin typeface="Cambria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982D"/>
                </a:solidFill>
                <a:latin typeface="Calibri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658368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E2A3D"/>
                </a:solidFill>
                <a:latin typeface="Cambria"/>
              </a:rPr>
              <a:t>Backtesting : Kupiec, Christoffersen, Bâle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611880" cy="2697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E2A3D"/>
                </a:solidFill>
                <a:latin typeface="Cambria"/>
              </a:rPr>
              <a:t>Kupiec (POF)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32461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A6B78"/>
                </a:solidFill>
                <a:latin typeface="Calibri"/>
              </a:rPr>
              <a:t>Teste si le TAUX de violations observé est cohérent avec alpha attendu. p &gt; 0.05 -&gt; modèle non rejeté.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645920"/>
            <a:ext cx="3611880" cy="2697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E2A3D"/>
                </a:solidFill>
                <a:latin typeface="Cambria"/>
              </a:rPr>
              <a:t>Christoffersen (indépendance + couverture)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651760"/>
            <a:ext cx="32461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A6B78"/>
                </a:solidFill>
                <a:latin typeface="Calibri"/>
              </a:rPr>
              <a:t>Teste en plus si les violations sont indépendantes dans le temps (pas de clusters de violations). p_cc &gt; 0.05 -&gt; modèle non rejeté.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645920"/>
            <a:ext cx="3611880" cy="2697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82880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E2A3D"/>
                </a:solidFill>
                <a:latin typeface="Cambria"/>
              </a:rPr>
              <a:t>Zones de Bâle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651760"/>
            <a:ext cx="32461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A6B78"/>
                </a:solidFill>
                <a:latin typeface="Calibri"/>
              </a:rPr>
              <a:t>Classe le modèle en vert / jaune / rouge selon le nombre de violations normalisé sur 250 séances -- grille réglementaire standard.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63440"/>
            <a:ext cx="274320" cy="27432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63600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E2A3D"/>
                </a:solidFill>
                <a:latin typeface="Calibri"/>
              </a:rPr>
              <a:t>Vert -- modèle non rejeté, risque bien capté</a:t>
            </a:r>
          </a:p>
        </p:txBody>
      </p:sp>
      <p:sp>
        <p:nvSpPr>
          <p:cNvPr id="16" name="Oval 15"/>
          <p:cNvSpPr/>
          <p:nvPr/>
        </p:nvSpPr>
        <p:spPr>
          <a:xfrm>
            <a:off x="4297679" y="4663440"/>
            <a:ext cx="274320" cy="274320"/>
          </a:xfrm>
          <a:prstGeom prst="ellipse">
            <a:avLst/>
          </a:prstGeom>
          <a:solidFill>
            <a:srgbClr val="C8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39" y="463600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E2A3D"/>
                </a:solidFill>
                <a:latin typeface="Calibri"/>
              </a:rPr>
              <a:t>Jaune -- zone de surveillance</a:t>
            </a:r>
          </a:p>
        </p:txBody>
      </p:sp>
      <p:sp>
        <p:nvSpPr>
          <p:cNvPr id="18" name="Oval 17"/>
          <p:cNvSpPr/>
          <p:nvPr/>
        </p:nvSpPr>
        <p:spPr>
          <a:xfrm>
            <a:off x="8046719" y="4663440"/>
            <a:ext cx="274320" cy="274320"/>
          </a:xfrm>
          <a:prstGeom prst="ellipse">
            <a:avLst/>
          </a:prstGeom>
          <a:solidFill>
            <a:srgbClr val="AE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9" y="463600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E2A3D"/>
                </a:solidFill>
                <a:latin typeface="Calibri"/>
              </a:rPr>
              <a:t>Rouge -- modèle rejeté, sous-estime le risque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B78"/>
                </a:solidFill>
                <a:latin typeface="Calibri"/>
              </a:rPr>
              <a:t>Projet VaR MENA -- Deep Learning vs modèles statistiques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B78"/>
                </a:solidFill>
                <a:latin typeface="Calibri"/>
              </a:rPr>
              <a:t>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81B28"/>
                </a:solidFill>
                <a:latin typeface="Cambria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982D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658368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E2A3D"/>
                </a:solidFill>
                <a:latin typeface="Cambria"/>
              </a:rPr>
              <a:t>Résultats par indice -- le tableau des gagnants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7223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737360"/>
                <a:gridCol w="1737360"/>
                <a:gridCol w="1188720"/>
                <a:gridCol w="1005840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Indice</a:t>
                      </a:r>
                    </a:p>
                  </a:txBody>
                  <a:tcPr marL="54864" marR="54864" marT="27432" marB="27432" anchor="ctr">
                    <a:solidFill>
                      <a:srgbClr val="0E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Modèle gagnant</a:t>
                      </a:r>
                    </a:p>
                  </a:txBody>
                  <a:tcPr marL="54864" marR="54864" marT="27432" marB="27432" anchor="ctr">
                    <a:solidFill>
                      <a:srgbClr val="0E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Taux observé (99%)</a:t>
                      </a:r>
                    </a:p>
                  </a:txBody>
                  <a:tcPr marL="54864" marR="54864" marT="27432" marB="27432" anchor="ctr">
                    <a:solidFill>
                      <a:srgbClr val="0E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Kupiec p</a:t>
                      </a:r>
                    </a:p>
                  </a:txBody>
                  <a:tcPr marL="54864" marR="54864" marT="27432" marB="27432" anchor="ctr">
                    <a:solidFill>
                      <a:srgbClr val="0E2A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Zone Bâle</a:t>
                      </a:r>
                    </a:p>
                  </a:txBody>
                  <a:tcPr marL="54864" marR="54864" marT="27432" marB="27432" anchor="ctr">
                    <a:solidFill>
                      <a:srgbClr val="0E2A3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ADI</a:t>
                      </a:r>
                    </a:p>
                  </a:txBody>
                  <a:tcPr marL="54864" marR="54864" marT="27432" marB="27432" anchor="ctr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GARCH</a:t>
                      </a:r>
                    </a:p>
                  </a:txBody>
                  <a:tcPr marL="54864" marR="54864" marT="27432" marB="27432" anchor="ctr">
                    <a:solidFill>
                      <a:srgbClr val="E7C9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1.18%</a:t>
                      </a:r>
                    </a:p>
                  </a:txBody>
                  <a:tcPr marL="54864" marR="54864" marT="27432" marB="27432" anchor="ctr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0.822</a:t>
                      </a:r>
                    </a:p>
                  </a:txBody>
                  <a:tcPr marL="54864" marR="54864" marT="27432" marB="27432" anchor="ctr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 marL="54864" marR="54864" marT="27432" marB="27432" anchor="ctr">
                    <a:solidFill>
                      <a:srgbClr val="2E7D4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MASI</a:t>
                      </a:r>
                    </a:p>
                  </a:txBody>
                  <a:tcPr marL="54864" marR="54864" marT="27432" marB="27432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GARCH</a:t>
                      </a:r>
                    </a:p>
                  </a:txBody>
                  <a:tcPr marL="54864" marR="54864" marT="27432" marB="27432" anchor="ctr">
                    <a:solidFill>
                      <a:srgbClr val="E7C9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0.63%</a:t>
                      </a:r>
                    </a:p>
                  </a:txBody>
                  <a:tcPr marL="54864" marR="54864" marT="27432" marB="27432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0.614</a:t>
                      </a:r>
                    </a:p>
                  </a:txBody>
                  <a:tcPr marL="54864" marR="54864" marT="27432" marB="27432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 marL="54864" marR="54864" marT="27432" marB="27432" anchor="ctr">
                    <a:solidFill>
                      <a:srgbClr val="2E7D4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TASI</a:t>
                      </a:r>
                    </a:p>
                  </a:txBody>
                  <a:tcPr marL="54864" marR="54864" marT="27432" marB="27432" anchor="ctr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ARIMA</a:t>
                      </a:r>
                    </a:p>
                  </a:txBody>
                  <a:tcPr marL="54864" marR="54864" marT="27432" marB="27432" anchor="ctr">
                    <a:solidFill>
                      <a:srgbClr val="E7C9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0.60%</a:t>
                      </a:r>
                    </a:p>
                  </a:txBody>
                  <a:tcPr marL="54864" marR="54864" marT="27432" marB="27432" anchor="ctr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0.573</a:t>
                      </a:r>
                    </a:p>
                  </a:txBody>
                  <a:tcPr marL="54864" marR="54864" marT="27432" marB="27432" anchor="ctr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 marL="54864" marR="54864" marT="27432" marB="27432" anchor="ctr">
                    <a:solidFill>
                      <a:srgbClr val="2E7D4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Tunindex</a:t>
                      </a:r>
                    </a:p>
                  </a:txBody>
                  <a:tcPr marL="54864" marR="54864" marT="27432" marB="27432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GARCH</a:t>
                      </a:r>
                    </a:p>
                  </a:txBody>
                  <a:tcPr marL="54864" marR="54864" marT="27432" marB="27432" anchor="ctr">
                    <a:solidFill>
                      <a:srgbClr val="E7C9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1.26%</a:t>
                      </a:r>
                    </a:p>
                  </a:txBody>
                  <a:tcPr marL="54864" marR="54864" marT="27432" marB="27432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 marL="54864" marR="54864" marT="27432" marB="27432" anchor="ctr">
                    <a:solidFill>
                      <a:srgbClr val="FBF8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43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 marL="54864" marR="54864" marT="27432" marB="27432" anchor="ctr">
                    <a:solidFill>
                      <a:srgbClr val="2E7D4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31920"/>
            <a:ext cx="7223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0E2A3D"/>
                </a:solidFill>
                <a:latin typeface="Calibri"/>
              </a:rPr>
              <a:t>GARCH est le modèle globalement le plus performant : il remporte 3 indices MENA sur 4 (Tunindex, ADI, MASI). ARIMA remporte TASI. Classement établi selon la p-value de Kupiec la plus élevée à alpha=1% (meilleure adéquation entre taux observé et taux attendu).</a:t>
            </a:r>
          </a:p>
        </p:txBody>
      </p:sp>
      <p:pic>
        <p:nvPicPr>
          <p:cNvPr id="7" name="Picture 6" descr="deck_winne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600200"/>
            <a:ext cx="3794760" cy="1662466"/>
          </a:xfrm>
          <a:prstGeom prst="rect">
            <a:avLst/>
          </a:prstGeom>
          <a:ln w="12700">
            <a:solidFill>
              <a:srgbClr val="E7DCC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B78"/>
                </a:solidFill>
                <a:latin typeface="Calibri"/>
              </a:rPr>
              <a:t>Projet VaR MENA -- Deep Learning vs modèles statistiques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B78"/>
                </a:solidFill>
                <a:latin typeface="Calibri"/>
              </a:rPr>
              <a:t>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81B28"/>
                </a:solidFill>
                <a:latin typeface="Cambria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982D"/>
                </a:solidFill>
                <a:latin typeface="Calibri"/>
              </a:rP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658368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E2A3D"/>
                </a:solidFill>
                <a:latin typeface="Cambria"/>
              </a:rPr>
              <a:t>MENA vs marchés développés (CAC40 / S&amp;P 500)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7607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00">
                <a:solidFill>
                  <a:srgbClr val="1B2430"/>
                </a:solidFill>
                <a:latin typeface="Calibri"/>
              </a:rPr>
              <a:t>—  Sur les marchés développés (CAC40, S&amp;P 500), la littérature montre un avantage plus net des modèles GARCH/Deep Learning face aux chocs de volatilité (crises 2008, 2011).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00">
                <a:solidFill>
                  <a:srgbClr val="1B2430"/>
                </a:solidFill>
                <a:latin typeface="Calibri"/>
              </a:rPr>
              <a:t>—  Sur les indices MENA de cette étude, les modèles ANN/LSTM égalent GARCH/ARIMA en calibration (zone verte) mais ne les surpassent pas nettement -- écart moins marqué qu'attendu.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00">
                <a:solidFill>
                  <a:srgbClr val="1B2430"/>
                </a:solidFill>
                <a:latin typeface="Calibri"/>
              </a:rPr>
              <a:t>—  Hypothèse explicative : séries MENA plus courtes en observations utiles de volatilité extrême, et micro-structure (liquidité, jours de fermeture spécifiques) qui peut limiter l'avantage informationnel du Deep Learning.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00">
                <a:solidFill>
                  <a:srgbClr val="1B2430"/>
                </a:solidFill>
                <a:latin typeface="Calibri"/>
              </a:rPr>
              <a:t>—  GARCH, plus parcimonieux, reste compétitif -- cohérent avec des travaux montrant sa robustesse sur des marchés émergents à volatilité regroupée mais aux échantillons plus restreints.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600200"/>
            <a:ext cx="3840480" cy="3291840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7830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7C97E"/>
                </a:solidFill>
                <a:latin typeface="Calibri"/>
              </a:rPr>
              <a:t>À RETENIR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194560"/>
            <a:ext cx="3383280" cy="2468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F3ECDD"/>
                </a:solidFill>
                <a:latin typeface="Calibri"/>
              </a:rPr>
              <a:t>›  Pas de "solution unique" -- le meilleur modèle dépend de l'indice.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F3ECDD"/>
                </a:solidFill>
                <a:latin typeface="Calibri"/>
              </a:rPr>
              <a:t>›  GARCH : bon compromis simplicité / robustesse sur MENA.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F3ECDD"/>
                </a:solidFill>
                <a:latin typeface="Calibri"/>
              </a:rPr>
              <a:t>›  Deep Learning : compétitif mais pas dominant ici.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F3ECDD"/>
                </a:solidFill>
                <a:latin typeface="Calibri"/>
              </a:rPr>
              <a:t>›  RF/XGBoost : à éviter tels quels pour la VaR de marché.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B78"/>
                </a:solidFill>
                <a:latin typeface="Calibri"/>
              </a:rPr>
              <a:t>Projet VaR MENA -- Deep Learning vs modèles statistiques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B78"/>
                </a:solidFill>
                <a:latin typeface="Calibri"/>
              </a:rPr>
              <a:t>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81B28"/>
                </a:solidFill>
                <a:latin typeface="Cambria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982D"/>
                </a:solidFill>
                <a:latin typeface="Calibri"/>
              </a:rPr>
              <a:t>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658368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E2A3D"/>
                </a:solidFill>
                <a:latin typeface="Cambria"/>
              </a:rPr>
              <a:t>Vérification de l'hypothèse : le LSTM sur 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2A3D"/>
                </a:solidFill>
                <a:latin typeface="Calibri"/>
              </a:rPr>
              <a:t>Hypothèse testée : « le LSTM surpasse les modèles classiques sur l'indice ADI »</a:t>
            </a:r>
          </a:p>
        </p:txBody>
      </p:sp>
      <p:pic>
        <p:nvPicPr>
          <p:cNvPr id="6" name="Picture 5" descr="deck_adi_garch_vs_ls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7680960" cy="2653423"/>
          </a:xfrm>
          <a:prstGeom prst="rect">
            <a:avLst/>
          </a:prstGeom>
          <a:ln w="12700">
            <a:solidFill>
              <a:srgbClr val="E7DCC3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8275320" y="2011680"/>
            <a:ext cx="3337560" cy="4023360"/>
          </a:xfrm>
          <a:prstGeom prst="rect">
            <a:avLst/>
          </a:prstGeom>
          <a:solidFill>
            <a:srgbClr val="AE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219456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mbria"/>
              </a:rPr>
              <a:t>NON CONFIRMÉE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743200"/>
            <a:ext cx="29260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LSTM @ 99% : 0.59% de violations, zone GREEN -- bien calibré.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GARCH @ 99% : 1.18%, zone GREEN -- également bien calibré, et gagnant officiel sur ADI (Kupiec p=0.822 vs 0.559).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Le LSTM est fiable sur ADI mais n'est PAS distinctement supérieur au GARCH : les deux sont en zone verte, GARCH a la meilleure p-value de Kupiec.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B78"/>
                </a:solidFill>
                <a:latin typeface="Calibri"/>
              </a:rPr>
              <a:t>Projet VaR MENA -- Deep Learning vs modèles statistiques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B78"/>
                </a:solidFill>
                <a:latin typeface="Calibri"/>
              </a:rPr>
              <a:t>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81B28"/>
                </a:solidFill>
                <a:latin typeface="Cambria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982D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658368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E2A3D"/>
                </a:solidFill>
                <a:latin typeface="Cambria"/>
              </a:rPr>
              <a:t>Conclusion et perspectives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76072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1B2430"/>
                </a:solidFill>
                <a:latin typeface="Calibri"/>
              </a:rPr>
              <a:t>—  GARCH est le modèle le plus robuste pour la VaR sur les indices MENA étudiés (3 indices gagnés sur 4).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1B2430"/>
                </a:solidFill>
                <a:latin typeface="Calibri"/>
              </a:rPr>
              <a:t>—  ARIMA reste compétitif et gagne sur TASI -- la simplicité n'est pas pénalisante ici.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1B2430"/>
                </a:solidFill>
                <a:latin typeface="Calibri"/>
              </a:rPr>
              <a:t>—  ANN/LSTM sont bien calibrés mais ne surpassent pas nettement les modèles classiques -- l'hypothèse LSTM &gt; classiques sur ADI n'est pas confirmée.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1B2430"/>
                </a:solidFill>
                <a:latin typeface="Calibri"/>
              </a:rPr>
              <a:t>—  Random Forest (et dans une moindre mesure XGBoost) est déconseillé pour la VaR de marché en l'état : sur-violations systématiques (zone rouge).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1B2430"/>
                </a:solidFill>
                <a:latin typeface="Calibri"/>
              </a:rPr>
              <a:t>—  Perspectives : élargir la fenêtre de test, tester GARCH asymétrique (EGARCH/GJR) et des architectures hybrides (GARCH-LSTM), et exploiter des données intra-journalières pour les marchés MENA les plus liquides.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600200"/>
            <a:ext cx="38404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7830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982D"/>
                </a:solidFill>
                <a:latin typeface="Calibri"/>
              </a:rPr>
              <a:t>PIPELINE &amp;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194560"/>
            <a:ext cx="338328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1B2430"/>
                </a:solidFill>
                <a:latin typeface="Calibri"/>
              </a:rPr>
              <a:t>›  Package tsvar (Python) : data, classical, volatility, ml, deep, var, backtest, run, plots.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1B2430"/>
                </a:solidFill>
                <a:latin typeface="Calibri"/>
              </a:rPr>
              <a:t>›  22 tests unitaires (pytest) couvrant chaque étage du pipeline.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1B2430"/>
                </a:solidFill>
                <a:latin typeface="Calibri"/>
              </a:rPr>
              <a:t>›  Résultats reproductibles : outputs/results.csv (7 modèles x 4 indices x 2 alpha).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B78"/>
                </a:solidFill>
                <a:latin typeface="Calibri"/>
              </a:rPr>
              <a:t>Projet VaR MENA -- Deep Learning vs modèles statistiques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B78"/>
                </a:solidFill>
                <a:latin typeface="Calibri"/>
              </a:rPr>
              <a:t>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99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mbria"/>
              </a:rPr>
              <a:t>Merci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7C97E"/>
                </a:solidFill>
                <a:latin typeface="Calibri"/>
              </a:rPr>
              <a:t>Projet VaR MENA -- Deep Learning vs modèles statistiques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3ECDD"/>
                </a:solidFill>
                <a:latin typeface="Calibri"/>
              </a:rPr>
              <a:t>Questions bienvenues -- code, données et résultats disponibles dans le dépôt du projet.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722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3ECDD"/>
                </a:solidFill>
                <a:latin typeface="Calibri"/>
              </a:rPr>
              <a:t>jensbenarfa@gmail.com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